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  <Relationship Id="rId28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各位同道，今天和大家分享的题目是儿童急性呼吸困难的诊疗思路。呼吸困难是儿科急诊最常见的就诊原因之一，也是病情可以在几分钟内急转直下的信号。这堂课我们沿着定义、分类、发生机制、病因和处理的顺序，把这条思路完整走一遍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用一页把全文的骨架交代清楚。儿童急性呼吸困难病因复杂，病情进展快，处理上强调先稳定生命体征、再明确病因。全文从定义与发生机制讲起，按呼吸系统的不同部位梳理病因和临床特点，再给出分度、评估和四步病因诊断思路，最后落到治疗原则，并提出“呼吸障碍”这一涵盖快速型与缓慢型的概念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整堂课分为七个部分。第一部分是引言，说明为什么呼吸困难值得单独讲。第二部分讲定义、分类和发生机制。第三部分按肺源性、心源性、中毒性与血液性、神经精神性四条线索讲病因和表现。第四部分讲分度与评估。第五部分讲病因诊断的四步法。第六部分讲治疗原则。第七部分回到一个容易被忽略的问题，缓慢型呼吸障碍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看三个事实。第一，呼吸困难是儿科急诊最常见的就诊原因之一，病因复杂、病情进展快。第二，它可以是呼吸系统疾病的首发表现，也可以是全身性疾病在呼吸系统的集中体现。第三，早期识别和正确处理直接决定预后。而这三者之间，往往只隔着一小段时间：呼吸困难可以很快走向呼吸衰竭，再走向心跳骤停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什么是呼吸困难？它是患者主观上感到空气不足、呼吸费力的不适感，客观上表现为呼吸频率、深度和节律的改变，严重时出现张口呼吸、鼻翼扇动、端坐呼吸和发绀。需要强调的是，它既是症状，也是体征：孩子说不清，医生就要看得见。当主观感受与客观表现不一致时，以客观体征和生命体征为准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分类是为了在床旁快速定位。按病程分为急性与慢性，本课聚焦急性；按病因分为肺源性、心源性、中毒性、血液性和神经精神性五类；按时相分为吸气性、呼气性和混合性。请记住，这三条轴不是三套知识，而是同一个患儿身上同时成立的三个坐标，后面的四步法就是把它们串起来用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呼吸的调节是一条反射弧：外周化学感受器感知低氧，中枢化学感受器感知二氧化碳和氢离子变化，信号汇入呼吸中枢，再由传出神经驱动呼吸肌，最终表现为通气的改变。这条链上任何一个环节出问题，都可能表现为呼吸困难。理解这条链，也就理解了为什么同一症状背后可以是肺、是心、是血、是脑，也可以是药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具体落到机制上，有四条通路。一是通气需求增加，比如发热、剧烈活动、代谢亢进。二是通气阻力增加，包括上气道梗阻和小气道痉挛。三是弥散障碍与通气血流比例失调，常见于肺炎、肺水肿、肺间质病变。四是呼吸驱动减弱或呼吸肌疲劳，见于中枢抑制、神经肌肉疾病和长时间用力呼吸之后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肺源性是儿科最常见的一大类，可以按解剖部位再分层。上气道梗阻表现为吸气性呼吸困难，有喉鸣和三凹征，常见于喉炎、喉软化、气道异物。下气道病变以呼气性呼吸困难为主，有哮鸣音，常见于毛细支气管炎、喘息性支气管炎和支气管哮喘。肺实质与胸膜病变则多为混合性呼吸困难，比如重症肺炎、胸腔积液和气胸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心源性呼吸困难在婴幼儿身上常常不典型。它的机制是肺淤血和肺水肿导致肺顺应性下降、通气做功增加。特点上要注意几点：呼吸快而浅，活动或吃奶后加重，喜欢被竖抱，夜间或平卧时加重，可伴有心率快、心音低、奔马律、肝脏增大。遇到反复喘息、按哮喘治疗效果不好的婴幼儿，一定要想到心源性，及时做心脏超声和脑钠肽检查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中毒性呼吸困难有明确的毒物接触史。代谢性酸中毒时呼吸深大，比如糖尿病酮症酸中毒；有机磷中毒时呼吸浅慢、分泌物增多、瞳孔缩小、肌纤维颤动；一氧化碳中毒则皮肤黏膜呈樱桃红色。血液性呼吸困难的根本问题是携氧能力下降，比如重度贫血、高铁血红蛋白血症，患儿呼吸频率可以很快，但吸氧后改善有限，这一点对判断很重要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神经精神性要分成两类看。中枢性的属于器质性病变，脑炎、脑出血、肿瘤导致颅内压增高，脑干受压或缺血，呼吸节律的产生和传导被破坏，于是出现潮式呼吸、抽泣样呼吸甚至间停呼吸，这类患儿往往病情危重。精神性的则相反，呼吸快而浅，但没有呼吸困难的客观表现，肺部查体阴性，主诉多、症状重，常因过度通气出现呼吸性碱中毒、口唇和肢体麻木、手足搐搦。前者看节律，后者看主诉与体征是否匹配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分度决定处理级别。轻度只有呼吸频率加快，活动、哭闹或吃奶后出现轻度发绀。中度呼吸明显加快，有呼吸做功增加和辅助呼吸肌参与，出现三凹征、鼻翼扇动、点头样呼吸，烦躁发绀，吸氧后可以改善。重度则进一步加重，出现明显紫绀、呼吸节律不规则或呼吸暂停，可伴有昏迷和循环功能不全。判断分度不要只盯频率数字，做功增加、发绀、节律和意识的改变才是关键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评估要在几分钟内完成，用 ABCDE 五步。A 看气道是否通畅，有无异物、喉鸣、喘鸣。B 看呼吸频率、做功、呼吸音和体位。C 看心率、血压、肤色、有无发绀或花纹。D 看意识与反应。E 暴露全身，问病史、查皮疹、水肿和外伤。评估之后要做一个定位判断：是上气道还是下气道，是肺实质还是胸膜，是心源性还是其他原因。这个定位直接决定下一步的处理顺序。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病因诊断可以拆成四步。第一步，区分吸气性还是呼气性，判断病变在胸外大气道还是胸内小气道。第二步，区分喘息性疾病与呼吸急促，看有没有呼气相喘鸣音。第三步，识别混合性呼吸困难，区分肺源性与心源性。第四步，注意缓慢型呼吸困难，识别神经、肌肉、药物导致的通气不足。四步走完，绝大多数患儿的病因范围就收窄了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一步的关键是时相。吸气性呼吸困难病变在胸外大气道，也就是喉、声门下和气管，表现为吸气费力、三凹征和吸气性喉鸣，见于急性喉炎、喉软化、气道异物。呼气性呼吸困难病变在胸内小气道，比如支气管哮喘、毛细支气管炎。第二步再往下分：有典型哮鸣音，提示支气管痉挛或狭窄，多为毛细支气管炎、喘息性支气管炎、哮喘；没有哮鸣音、只是呼吸急促，则要考虑肺间质或肺血管病变，并警惕中毒性、血源性、精神性等肺外原因。判断依据是病史、临床表现和血气等辅助检查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三步是混合性呼吸困难。患儿既没有典型的三凹征，也没有典型的哮鸣音，而是全程呼吸急促、费力，常见于重症肺炎肺实变、大量胸腔积液、心功能不全和急性呼吸窘迫综合征。这一层要区分肺源性和心源性，心源性的线索是心音低、奔马律、肝大、脑钠肽升高、左室射血分数降低。第四步最容易被漏掉：缓慢型呼吸困难。呼吸浅慢、节律不规整、幅度降低，而不是增快，提示神经系统或呼吸肌受累，常见于颅内感染或出血所致颅高压、镇痛镇静药物、吉兰-巴雷综合征和重症肌无力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治疗的第一句话是：先救命，后治病。所有呼吸困难患儿都要先做严重度评估，然后按顺序推进：开放气道保持通畅，心电和氧饱和度监护，建立静脉通路，立即给予呼吸支持。氧疗方式按严重程度选择，鼻导管、面罩、经鼻高流量氧疗或无创通气，目标是纠正低氧血症。出现意识改变、严重低氧血症、二氧化碳进行性升高或呼吸肌疲劳时，要及时启动有创机械通气，避免持续的低氧和高碳酸血症把患儿推向昏迷甚至呼吸心跳骤停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生命体征稳定之后，治疗要落到病因上。喉头水肿，给予肾上腺素和糖皮质激素。气道异物，立即行支气管镜取出。大量胸腔积液，行胸腔穿刺减压。重症肺炎，尽快经验性抗感染治疗。心源性呼吸困难，强调利尿、扩血管、强心。同一句话总结：稳定生命体征的同时，快速明确病因，两条线并行，而不是等病因清楚了再处理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提出一个概念。按定义，呼吸困难既包括呼吸急促和窘迫，也包括呼吸浅慢、呼吸肌麻痹所致空气不够用的窒息感。但临床上普遍把呼吸困难等同于呼吸急促，对“慢、浅、弱”的那一类容易忽视。所以本文参照心律失常分为快速型和缓慢型，提出“呼吸障碍”这一名词，涵盖快速型和缓慢型两个类型。这样分类，是为了让那些安静的、不吵不闹的危重患儿也能被看见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缓慢型呼吸障碍以呼吸频率减慢、通气不足为特征，患儿常表现为安静、少动、咳声低微、吸吮无力，很容易被误认为“很乖”。病因主要是神经肌肉疾病、电解质紊乱和药物因素，比如麻醉手术中阿片类或镇静药物的应用。随着临床操作和新技术应用的增多，这一类可能会更加常见。提出这个概念，是提醒大家加强认识和重视，避免遗漏而酿成原本不难挽回的后果。带走三句话：先看危重，再定时相，别漏慢型。谢谢大家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ediatric-acute-dyspnea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ediatric-acute-dyspnea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8763000" y="0"/>
            <a:ext cx="3429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609600" y="533400"/>
            <a:ext cx="596951" cy="6124956"/>
            <a:chOff x="609600" y="533400"/>
            <a:chExt cx="596951" cy="6124956"/>
          </a:xfrm>
        </p:grpSpPr>
        <p:sp>
          <p:nvSpPr>
            <p:cNvPr id="3" name="Line 3"/>
            <p:cNvSpPr/>
            <p:nvPr/>
          </p:nvSpPr>
          <p:spPr>
            <a:xfrm>
              <a:off x="609600" y="533400"/>
              <a:ext cx="9525" cy="5791200"/>
            </a:xfrm>
            <a:custGeom>
              <a:avLst/>
              <a:gdLst/>
              <a:ahLst/>
              <a:cxnLst/>
              <a:rect l="l" t="t" r="r" b="b"/>
              <a:pathLst>
                <a:path w="9525" h="5791200">
                  <a:moveTo>
                    <a:pt x="0" y="0"/>
                  </a:moveTo>
                  <a:lnTo>
                    <a:pt x="0" y="57912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609600" y="11430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609600" y="190500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09600" y="266700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" y="342900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09600" y="419100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09600" y="495300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609600" y="571500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2554" y="6423660"/>
              <a:ext cx="5839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B6A6B"/>
                  </a:solidFill>
                  <a:latin typeface="+mj-lt"/>
                  <a:ea typeface="+mj-ea"/>
                  <a:cs typeface="+mj-cs"/>
                </a:rPr>
                <a:t>01 — 07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23950" y="1070610"/>
            <a:ext cx="6686550" cy="3304413"/>
            <a:chOff x="1123950" y="1070610"/>
            <a:chExt cx="6686550" cy="3304413"/>
          </a:xfrm>
        </p:grpSpPr>
        <p:sp>
          <p:nvSpPr>
            <p:cNvPr id="13" name="TextBox 13"/>
            <p:cNvSpPr txBox="1"/>
            <p:nvPr/>
          </p:nvSpPr>
          <p:spPr>
            <a:xfrm>
              <a:off x="1136904" y="1070610"/>
              <a:ext cx="17661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儿科急诊 · 临床教学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23950" y="2015490"/>
              <a:ext cx="5798820" cy="16573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5700"/>
                </a:lnSpc>
              </a:pPr>
              <a:r>
                <a:rPr lang="zh-CN" sz="4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儿童急性呼吸困难的诊疗思路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143000" y="3638550"/>
              <a:ext cx="6667500" cy="9525"/>
            </a:xfrm>
            <a:custGeom>
              <a:avLst/>
              <a:gdLst/>
              <a:ahLst/>
              <a:cxnLst/>
              <a:rect l="l" t="t" r="r" b="b"/>
              <a:pathLst>
                <a:path w="6667500" h="9525">
                  <a:moveTo>
                    <a:pt x="0" y="0"/>
                  </a:moveTo>
                  <a:lnTo>
                    <a:pt x="66675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32332" y="3964305"/>
              <a:ext cx="48272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从危重识别到病因定位的完整临床路径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32332" y="4650105"/>
            <a:ext cx="3331070" cy="410718"/>
            <a:chOff x="1132332" y="4650105"/>
            <a:chExt cx="3331070" cy="410718"/>
          </a:xfrm>
        </p:grpSpPr>
        <p:sp>
          <p:nvSpPr>
            <p:cNvPr id="18" name="TextBox 18"/>
            <p:cNvSpPr txBox="1"/>
            <p:nvPr/>
          </p:nvSpPr>
          <p:spPr>
            <a:xfrm>
              <a:off x="1132332" y="4650105"/>
              <a:ext cx="33310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呼吸困难 ≠ 只是呼吸急促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137904" y="1318260"/>
            <a:ext cx="2387346" cy="3689985"/>
            <a:chOff x="9137904" y="1318260"/>
            <a:chExt cx="2387346" cy="3689985"/>
          </a:xfrm>
        </p:grpSpPr>
        <p:sp>
          <p:nvSpPr>
            <p:cNvPr id="20" name="TextBox 20"/>
            <p:cNvSpPr txBox="1"/>
            <p:nvPr/>
          </p:nvSpPr>
          <p:spPr>
            <a:xfrm>
              <a:off x="9137904" y="1318260"/>
              <a:ext cx="7815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22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全文结构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9144000" y="1676400"/>
              <a:ext cx="2381250" cy="9525"/>
            </a:xfrm>
            <a:custGeom>
              <a:avLst/>
              <a:gdLst/>
              <a:ahLst/>
              <a:cxnLst/>
              <a:rect l="l" t="t" r="r" b="b"/>
              <a:pathLst>
                <a:path w="2381250" h="9525">
                  <a:moveTo>
                    <a:pt x="0" y="0"/>
                  </a:moveTo>
                  <a:lnTo>
                    <a:pt x="23812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137904" y="19945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55480" y="19716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定义与分类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137904" y="24517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555480" y="24288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机制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137904" y="29089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555480" y="28860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病因与表现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137904" y="33661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555480" y="33432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分度与评估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137904" y="38233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555480" y="38004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四步诊断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137904" y="42805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555480" y="42576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治疗原则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137904" y="47377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555480" y="47148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呼吸障碍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135380" y="5829300"/>
            <a:ext cx="7246620" cy="455295"/>
            <a:chOff x="1135380" y="5829300"/>
            <a:chExt cx="7246620" cy="455295"/>
          </a:xfrm>
        </p:grpSpPr>
        <p:sp>
          <p:nvSpPr>
            <p:cNvPr id="37" name="Line 37"/>
            <p:cNvSpPr/>
            <p:nvPr/>
          </p:nvSpPr>
          <p:spPr>
            <a:xfrm>
              <a:off x="1143000" y="58293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135380" y="5991225"/>
              <a:ext cx="44677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儿科急诊与病房医师 ｜ 科室业务学习 ｜ 2026.10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7784" y="670560"/>
            <a:ext cx="11062716" cy="766191"/>
            <a:chOff x="557784" y="670560"/>
            <a:chExt cx="11062716" cy="766191"/>
          </a:xfrm>
        </p:grpSpPr>
        <p:sp>
          <p:nvSpPr>
            <p:cNvPr id="2" name="TextBox 2"/>
            <p:cNvSpPr txBox="1"/>
            <p:nvPr/>
          </p:nvSpPr>
          <p:spPr>
            <a:xfrm>
              <a:off x="565404" y="670560"/>
              <a:ext cx="8542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00 / 摘要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7784" y="908685"/>
              <a:ext cx="486643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摘要：六个方面，一条主线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352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63880" y="1680210"/>
            <a:ext cx="5158740" cy="2737485"/>
            <a:chOff x="563880" y="1680210"/>
            <a:chExt cx="5158740" cy="2737485"/>
          </a:xfrm>
        </p:grpSpPr>
        <p:sp>
          <p:nvSpPr>
            <p:cNvPr id="6" name="TextBox 6"/>
            <p:cNvSpPr txBox="1"/>
            <p:nvPr/>
          </p:nvSpPr>
          <p:spPr>
            <a:xfrm>
              <a:off x="565404" y="1680210"/>
              <a:ext cx="7512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摘要原文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63880" y="2066925"/>
              <a:ext cx="5158740" cy="23507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急性呼吸困难是儿童最常见的急诊就诊原因之一，正确判断病因是合理治疗的关键。然而，儿童急性呼吸困难涉及的病因构成了一个连续的疾病谱系，虽然已有多种检查手段，但病史、临床表现及体征仍然是快速判断病因的主要依据。文章从呼吸困难的定义及分类、机制、病因及表现、分度与评估、病因诊断思路、治疗原则等 6 个方面进行阐述，以期为儿科医生规范而有效地处理急性呼吸困难提供参考。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810500" y="1600200"/>
            <a:ext cx="3810000" cy="4229100"/>
            <a:chOff x="7810500" y="1600200"/>
            <a:chExt cx="3810000" cy="4229100"/>
          </a:xfrm>
        </p:grpSpPr>
        <p:sp>
          <p:nvSpPr>
            <p:cNvPr id="9" name="Rectangle 9"/>
            <p:cNvSpPr/>
            <p:nvPr/>
          </p:nvSpPr>
          <p:spPr>
            <a:xfrm>
              <a:off x="7810500" y="1600200"/>
              <a:ext cx="3810000" cy="4229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09204" y="1889760"/>
              <a:ext cx="5614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关键词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107680" y="220027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儿童；呼吸困难；诊疗思路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8115300" y="2647950"/>
              <a:ext cx="3200400" cy="9525"/>
            </a:xfrm>
            <a:custGeom>
              <a:avLst/>
              <a:gdLst/>
              <a:ahLst/>
              <a:cxnLst/>
              <a:rect l="l" t="t" r="r" b="b"/>
              <a:pathLst>
                <a:path w="3200400" h="9525">
                  <a:moveTo>
                    <a:pt x="0" y="0"/>
                  </a:moveTo>
                  <a:lnTo>
                    <a:pt x="320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109204" y="2880360"/>
              <a:ext cx="14854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7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全文覆盖 6 个方面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08442" y="3264218"/>
              <a:ext cx="1402461" cy="18832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　定义及分类02　机制03　病因及表现04　分度与评估05　病因诊断思路06　治疗原则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65404" y="6438900"/>
            <a:ext cx="11061192" cy="333756"/>
            <a:chOff x="565404" y="6438900"/>
            <a:chExt cx="11061192" cy="333756"/>
          </a:xfrm>
        </p:grpSpPr>
        <p:sp>
          <p:nvSpPr>
            <p:cNvPr id="16" name="Line 16"/>
            <p:cNvSpPr/>
            <p:nvPr/>
          </p:nvSpPr>
          <p:spPr>
            <a:xfrm>
              <a:off x="571500" y="64389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5404" y="6537960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儿童急性呼吸困难 · 诊疗思路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0732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02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2"/>
          <p:cNvGrpSpPr/>
          <p:nvPr/>
        </p:nvGrpSpPr>
        <p:grpSpPr>
          <a:xfrm>
            <a:off x="557784" y="670560"/>
            <a:ext cx="11062716" cy="766191"/>
            <a:chOff x="557784" y="670560"/>
            <a:chExt cx="11062716" cy="766191"/>
          </a:xfrm>
        </p:grpSpPr>
        <p:sp>
          <p:nvSpPr>
            <p:cNvPr id="2" name="TextBox 2"/>
            <p:cNvSpPr txBox="1"/>
            <p:nvPr/>
          </p:nvSpPr>
          <p:spPr>
            <a:xfrm>
              <a:off x="565404" y="670560"/>
              <a:ext cx="1657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目录 / CONTENTS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7784" y="908685"/>
              <a:ext cx="16404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全篇结构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352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1161871" y="713899"/>
              <a:ext cx="172879" cy="151924"/>
              <a:chOff x="11161871" y="713899"/>
              <a:chExt cx="172879" cy="151924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11161871" y="713899"/>
                <a:ext cx="41910" cy="26194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26194">
                    <a:moveTo>
                      <a:pt x="0" y="10477"/>
                    </a:moveTo>
                    <a:lnTo>
                      <a:pt x="15716" y="26194"/>
                    </a:lnTo>
                    <a:lnTo>
                      <a:pt x="41910" y="0"/>
                    </a:lnTo>
                  </a:path>
                </a:pathLst>
              </a:custGeom>
              <a:noFill/>
              <a:ln w="20955" cap="rnd">
                <a:solidFill>
                  <a:schemeClr val="accent3"/>
                </a:solidFill>
                <a:round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1161871" y="776764"/>
                <a:ext cx="41910" cy="26194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26194">
                    <a:moveTo>
                      <a:pt x="0" y="10478"/>
                    </a:moveTo>
                    <a:lnTo>
                      <a:pt x="15716" y="26194"/>
                    </a:lnTo>
                    <a:lnTo>
                      <a:pt x="41910" y="0"/>
                    </a:lnTo>
                  </a:path>
                </a:pathLst>
              </a:custGeom>
              <a:noFill/>
              <a:ln w="20955" cap="rnd">
                <a:solidFill>
                  <a:schemeClr val="accent3"/>
                </a:solidFill>
                <a:round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1161871" y="839629"/>
                <a:ext cx="41910" cy="26194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26194">
                    <a:moveTo>
                      <a:pt x="0" y="10477"/>
                    </a:moveTo>
                    <a:lnTo>
                      <a:pt x="15716" y="26194"/>
                    </a:lnTo>
                    <a:lnTo>
                      <a:pt x="41910" y="0"/>
                    </a:lnTo>
                  </a:path>
                </a:pathLst>
              </a:custGeom>
              <a:noFill/>
              <a:ln w="20955" cap="rnd">
                <a:solidFill>
                  <a:schemeClr val="accent3"/>
                </a:solidFill>
                <a:round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1240452" y="729615"/>
                <a:ext cx="9429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4298" h="9525">
                    <a:moveTo>
                      <a:pt x="0" y="0"/>
                    </a:moveTo>
                    <a:lnTo>
                      <a:pt x="94298" y="0"/>
                    </a:lnTo>
                  </a:path>
                </a:pathLst>
              </a:custGeom>
              <a:noFill/>
              <a:ln w="20955" cap="rnd">
                <a:solidFill>
                  <a:schemeClr val="accent3"/>
                </a:solidFill>
                <a:round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1240452" y="792480"/>
                <a:ext cx="9429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4298" h="9525">
                    <a:moveTo>
                      <a:pt x="0" y="0"/>
                    </a:moveTo>
                    <a:lnTo>
                      <a:pt x="94298" y="0"/>
                    </a:lnTo>
                  </a:path>
                </a:pathLst>
              </a:custGeom>
              <a:noFill/>
              <a:ln w="20955" cap="rnd">
                <a:solidFill>
                  <a:schemeClr val="accent3"/>
                </a:solidFill>
                <a:round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1240452" y="855345"/>
                <a:ext cx="9429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4298" h="9525">
                    <a:moveTo>
                      <a:pt x="0" y="0"/>
                    </a:moveTo>
                    <a:lnTo>
                      <a:pt x="94298" y="0"/>
                    </a:lnTo>
                  </a:path>
                </a:pathLst>
              </a:custGeom>
              <a:noFill/>
              <a:ln w="20955" cap="rnd">
                <a:solidFill>
                  <a:schemeClr val="accent3"/>
                </a:solidFill>
                <a:round/>
              </a:ln>
            </p:spPr>
          </p:sp>
        </p:grpSp>
      </p:grpSp>
      <p:grpSp>
        <p:nvGrpSpPr>
          <p:cNvPr id="28" name="Group 28"/>
          <p:cNvGrpSpPr/>
          <p:nvPr/>
        </p:nvGrpSpPr>
        <p:grpSpPr>
          <a:xfrm>
            <a:off x="560832" y="1983105"/>
            <a:ext cx="4773168" cy="3837051"/>
            <a:chOff x="560832" y="1983105"/>
            <a:chExt cx="4773168" cy="3837051"/>
          </a:xfrm>
        </p:grpSpPr>
        <p:sp>
          <p:nvSpPr>
            <p:cNvPr id="13" name="TextBox 13"/>
            <p:cNvSpPr txBox="1"/>
            <p:nvPr/>
          </p:nvSpPr>
          <p:spPr>
            <a:xfrm>
              <a:off x="560832" y="1983105"/>
              <a:ext cx="3499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00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70432" y="1983105"/>
              <a:ext cx="378500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引言：为什么建立规范思路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75004" y="23850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呼吸困难为什么必须被当作急症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571500" y="270510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0832" y="3049905"/>
              <a:ext cx="3499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70432" y="3049905"/>
              <a:ext cx="158953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定义及分类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75004" y="345186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主观体验、客观体征与三种分类轴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571500" y="377190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60832" y="4116705"/>
              <a:ext cx="3499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70432" y="411670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机制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75004" y="451866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正常反射弧与四个致病环节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571500" y="483870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60832" y="5183505"/>
              <a:ext cx="3499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70432" y="5183505"/>
              <a:ext cx="158953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病因及表现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75004" y="55854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肺、心、中毒、血源、神经精神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275832" y="1983105"/>
            <a:ext cx="4773168" cy="3837051"/>
            <a:chOff x="6275832" y="1983105"/>
            <a:chExt cx="4773168" cy="3837051"/>
          </a:xfrm>
        </p:grpSpPr>
        <p:sp>
          <p:nvSpPr>
            <p:cNvPr id="29" name="TextBox 29"/>
            <p:cNvSpPr txBox="1"/>
            <p:nvPr/>
          </p:nvSpPr>
          <p:spPr>
            <a:xfrm>
              <a:off x="6275832" y="1983105"/>
              <a:ext cx="3499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04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85432" y="1983105"/>
              <a:ext cx="158953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分度与评估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90004" y="2385060"/>
              <a:ext cx="19495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轻中重三档与 ABCDE 五步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6286500" y="270510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75832" y="3049905"/>
              <a:ext cx="3499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05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85432" y="3049905"/>
              <a:ext cx="190317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病因诊断思路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90004" y="34518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时相、哮鸣音、混合性、缓慢型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6286500" y="377190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275832" y="4116705"/>
              <a:ext cx="3499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06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85432" y="4116705"/>
              <a:ext cx="127589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治疗原则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90004" y="45186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先救命后治病，再按病因处理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6286500" y="483870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275832" y="5183505"/>
              <a:ext cx="3499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07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85432" y="5183505"/>
              <a:ext cx="127589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呼吸障碍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890004" y="55854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快速型与缓慢型两类呼吸障碍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65404" y="6438900"/>
            <a:ext cx="11061192" cy="333756"/>
            <a:chOff x="565404" y="6438900"/>
            <a:chExt cx="11061192" cy="333756"/>
          </a:xfrm>
        </p:grpSpPr>
        <p:sp>
          <p:nvSpPr>
            <p:cNvPr id="45" name="Line 45"/>
            <p:cNvSpPr/>
            <p:nvPr/>
          </p:nvSpPr>
          <p:spPr>
            <a:xfrm>
              <a:off x="571500" y="64389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65404" y="6537960"/>
              <a:ext cx="15549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共 21 页 · 约 35 分钟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0732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03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7784" y="670560"/>
            <a:ext cx="11062716" cy="766191"/>
            <a:chOff x="557784" y="670560"/>
            <a:chExt cx="11062716" cy="766191"/>
          </a:xfrm>
        </p:grpSpPr>
        <p:sp>
          <p:nvSpPr>
            <p:cNvPr id="2" name="TextBox 2"/>
            <p:cNvSpPr txBox="1"/>
            <p:nvPr/>
          </p:nvSpPr>
          <p:spPr>
            <a:xfrm>
              <a:off x="565404" y="670560"/>
              <a:ext cx="8542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/ 引言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7784" y="908685"/>
              <a:ext cx="56729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为什么必须建立规范的诊疗思路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352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71500" y="1838325"/>
            <a:ext cx="5456110" cy="2122170"/>
            <a:chOff x="571500" y="1838325"/>
            <a:chExt cx="5456110" cy="2122170"/>
          </a:xfrm>
        </p:grpSpPr>
        <p:sp>
          <p:nvSpPr>
            <p:cNvPr id="6" name="Rectangle 6"/>
            <p:cNvSpPr/>
            <p:nvPr/>
          </p:nvSpPr>
          <p:spPr>
            <a:xfrm>
              <a:off x="571500" y="1838325"/>
              <a:ext cx="38100" cy="228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92480" y="1857375"/>
              <a:ext cx="52351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呼吸困难（dyspnea）是儿童急诊最常见的就诊原因之一。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71500" y="2333625"/>
              <a:ext cx="38100" cy="228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92480" y="235267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儿童尤其是婴幼儿，呼吸道管径细小、气道阻力高。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71500" y="2828925"/>
              <a:ext cx="38100" cy="228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92480" y="284797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呼吸功能储备低，而氧代谢需求高。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71500" y="3324225"/>
              <a:ext cx="38100" cy="5524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92480" y="3343275"/>
              <a:ext cx="4587240" cy="617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各种肺内外疾病易导致儿童呼吸困难，甚至发展为呼吸衰竭、心跳骤停等严重后果。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899654" y="1661160"/>
            <a:ext cx="2863596" cy="3073146"/>
            <a:chOff x="7899654" y="1661160"/>
            <a:chExt cx="2863596" cy="3073146"/>
          </a:xfrm>
        </p:grpSpPr>
        <p:sp>
          <p:nvSpPr>
            <p:cNvPr id="15" name="TextBox 15"/>
            <p:cNvSpPr txBox="1"/>
            <p:nvPr/>
          </p:nvSpPr>
          <p:spPr>
            <a:xfrm>
              <a:off x="7899654" y="1661160"/>
              <a:ext cx="13206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可能的进展路径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905750" y="1981200"/>
              <a:ext cx="2857500" cy="590550"/>
            </a:xfrm>
            <a:prstGeom prst="rect">
              <a:avLst/>
            </a:prstGeom>
            <a:solidFill>
              <a:schemeClr val="accent5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902827" y="22002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呼吸困难</a:t>
              </a:r>
            </a:p>
          </p:txBody>
        </p:sp>
        <p:sp>
          <p:nvSpPr>
            <p:cNvPr id="18" name="Polygon 18"/>
            <p:cNvSpPr/>
            <p:nvPr/>
          </p:nvSpPr>
          <p:spPr>
            <a:xfrm>
              <a:off x="9277350" y="26479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0" y="0"/>
                  </a:moveTo>
                  <a:lnTo>
                    <a:pt x="114300" y="0"/>
                  </a:lnTo>
                  <a:lnTo>
                    <a:pt x="57150" y="952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905750" y="2819400"/>
              <a:ext cx="2857500" cy="590550"/>
            </a:xfrm>
            <a:prstGeom prst="rect">
              <a:avLst/>
            </a:prstGeom>
            <a:solidFill>
              <a:schemeClr val="accent5"/>
            </a:solidFill>
            <a:ln w="9525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902827" y="30384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呼吸衰竭</a:t>
              </a:r>
            </a:p>
          </p:txBody>
        </p:sp>
        <p:sp>
          <p:nvSpPr>
            <p:cNvPr id="21" name="Polygon 21"/>
            <p:cNvSpPr/>
            <p:nvPr/>
          </p:nvSpPr>
          <p:spPr>
            <a:xfrm>
              <a:off x="9277350" y="34861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0" y="0"/>
                  </a:moveTo>
                  <a:lnTo>
                    <a:pt x="114300" y="0"/>
                  </a:lnTo>
                  <a:lnTo>
                    <a:pt x="57150" y="952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905750" y="3657600"/>
              <a:ext cx="2857500" cy="590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902827" y="38766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BF9F4"/>
                  </a:solidFill>
                  <a:latin typeface="+mn-lt"/>
                  <a:ea typeface="+mn-ea"/>
                  <a:cs typeface="+mn-cs"/>
                </a:rPr>
                <a:t>心跳骤停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99654" y="449961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儿童代偿窗口短，进展可以很快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71500" y="5143500"/>
            <a:ext cx="11049000" cy="1181100"/>
            <a:chOff x="571500" y="5143500"/>
            <a:chExt cx="11049000" cy="1181100"/>
          </a:xfrm>
        </p:grpSpPr>
        <p:sp>
          <p:nvSpPr>
            <p:cNvPr id="26" name="Rectangle 26"/>
            <p:cNvSpPr/>
            <p:nvPr/>
          </p:nvSpPr>
          <p:spPr>
            <a:xfrm>
              <a:off x="571500" y="5143500"/>
              <a:ext cx="11049000" cy="1181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67156" y="5444490"/>
              <a:ext cx="573328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rgbClr val="FBF9F4"/>
                  </a:solidFill>
                  <a:latin typeface="+mn-lt"/>
                  <a:ea typeface="+mn-ea"/>
                  <a:cs typeface="+mn-cs"/>
                </a:rPr>
                <a:t>因此，建立系统、规范的呼吸困难诊疗思路，对提高呼吸困难患儿的救治成功率、改善患儿预后至关重要。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65404" y="6438900"/>
            <a:ext cx="11061192" cy="333756"/>
            <a:chOff x="565404" y="6438900"/>
            <a:chExt cx="11061192" cy="333756"/>
          </a:xfrm>
        </p:grpSpPr>
        <p:sp>
          <p:nvSpPr>
            <p:cNvPr id="29" name="Line 29"/>
            <p:cNvSpPr/>
            <p:nvPr/>
          </p:nvSpPr>
          <p:spPr>
            <a:xfrm>
              <a:off x="571500" y="64389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65404" y="6537960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儿童急性呼吸困难 · 诊疗思路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0732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04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7784" y="670560"/>
            <a:ext cx="11062716" cy="766191"/>
            <a:chOff x="557784" y="670560"/>
            <a:chExt cx="11062716" cy="766191"/>
          </a:xfrm>
        </p:grpSpPr>
        <p:sp>
          <p:nvSpPr>
            <p:cNvPr id="2" name="TextBox 2"/>
            <p:cNvSpPr txBox="1"/>
            <p:nvPr/>
          </p:nvSpPr>
          <p:spPr>
            <a:xfrm>
              <a:off x="565404" y="670560"/>
              <a:ext cx="8542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/ 定义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7784" y="908685"/>
              <a:ext cx="492692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定义：主观体验 + 客观体征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352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63880" y="1676400"/>
            <a:ext cx="10111740" cy="1466850"/>
            <a:chOff x="563880" y="1676400"/>
            <a:chExt cx="10111740" cy="1466850"/>
          </a:xfrm>
        </p:grpSpPr>
        <p:sp>
          <p:nvSpPr>
            <p:cNvPr id="6" name="TextBox 6"/>
            <p:cNvSpPr txBox="1"/>
            <p:nvPr/>
          </p:nvSpPr>
          <p:spPr>
            <a:xfrm>
              <a:off x="565404" y="1737360"/>
              <a:ext cx="20100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主观体验 / SYMPTOM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63880" y="2124075"/>
              <a:ext cx="4206240" cy="617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呼吸困难指患者自觉空气不足、呼吸费力或窒息等呼吸不适的主观体验。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5905500" y="1676400"/>
              <a:ext cx="9525" cy="1466850"/>
            </a:xfrm>
            <a:custGeom>
              <a:avLst/>
              <a:gdLst/>
              <a:ahLst/>
              <a:cxnLst/>
              <a:rect l="l" t="t" r="r" b="b"/>
              <a:pathLst>
                <a:path w="9525" h="1466850">
                  <a:moveTo>
                    <a:pt x="0" y="0"/>
                  </a:moveTo>
                  <a:lnTo>
                    <a:pt x="0" y="146685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80404" y="1737360"/>
              <a:ext cx="14980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客观表现 / SIGN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78880" y="2124075"/>
              <a:ext cx="4396740" cy="617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伴或不伴呼吸费力的客观表现：张口呼吸、点头呼吸、呻吟、鼻翼扇动、三凹征等。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1500" y="3352800"/>
            <a:ext cx="4668317" cy="950595"/>
            <a:chOff x="571500" y="3352800"/>
            <a:chExt cx="4668317" cy="950595"/>
          </a:xfrm>
        </p:grpSpPr>
        <p:sp>
          <p:nvSpPr>
            <p:cNvPr id="12" name="Rectangle 12"/>
            <p:cNvSpPr/>
            <p:nvPr/>
          </p:nvSpPr>
          <p:spPr>
            <a:xfrm>
              <a:off x="571500" y="3352800"/>
              <a:ext cx="38100" cy="419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27532" y="3449955"/>
              <a:ext cx="441228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呼吸困难既是症状，也是体征。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0580" y="401002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并可有呼吸频率、深度与节律的改变。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71500" y="4610100"/>
            <a:ext cx="11049000" cy="1123950"/>
            <a:chOff x="571500" y="4610100"/>
            <a:chExt cx="11049000" cy="1123950"/>
          </a:xfrm>
        </p:grpSpPr>
        <p:sp>
          <p:nvSpPr>
            <p:cNvPr id="16" name="Rectangle 16"/>
            <p:cNvSpPr/>
            <p:nvPr/>
          </p:nvSpPr>
          <p:spPr>
            <a:xfrm>
              <a:off x="571500" y="4610100"/>
              <a:ext cx="11049000" cy="11239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71500" y="4610100"/>
              <a:ext cx="57150" cy="11239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857351" y="4884431"/>
              <a:ext cx="201720" cy="173304"/>
              <a:chOff x="857351" y="4884431"/>
              <a:chExt cx="201720" cy="173304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958215" y="4947761"/>
                <a:ext cx="9525" cy="4000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0005">
                    <a:moveTo>
                      <a:pt x="0" y="0"/>
                    </a:moveTo>
                    <a:lnTo>
                      <a:pt x="0" y="40005"/>
                    </a:lnTo>
                  </a:path>
                </a:pathLst>
              </a:custGeom>
              <a:noFill/>
              <a:ln w="20002" cap="rnd">
                <a:solidFill>
                  <a:schemeClr val="accent2"/>
                </a:solidFill>
                <a:round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57351" y="4884431"/>
                <a:ext cx="201720" cy="173304"/>
              </a:xfrm>
              <a:custGeom>
                <a:avLst/>
                <a:gdLst/>
                <a:ahLst/>
                <a:cxnLst/>
                <a:rect l="l" t="t" r="r" b="b"/>
                <a:pathLst>
                  <a:path w="201720" h="173304">
                    <a:moveTo>
                      <a:pt x="84492" y="9233"/>
                    </a:moveTo>
                    <a:lnTo>
                      <a:pt x="3422" y="144590"/>
                    </a:lnTo>
                    <a:cubicBezTo>
                      <a:pt x="21" y="150480"/>
                      <a:pt x="0" y="157731"/>
                      <a:pt x="3367" y="163640"/>
                    </a:cubicBezTo>
                    <a:cubicBezTo>
                      <a:pt x="6734" y="169549"/>
                      <a:pt x="12983" y="173227"/>
                      <a:pt x="19784" y="173304"/>
                    </a:cubicBezTo>
                    <a:lnTo>
                      <a:pt x="181944" y="173304"/>
                    </a:lnTo>
                    <a:cubicBezTo>
                      <a:pt x="188741" y="173225"/>
                      <a:pt x="194987" y="169548"/>
                      <a:pt x="198353" y="163643"/>
                    </a:cubicBezTo>
                    <a:cubicBezTo>
                      <a:pt x="201720" y="157737"/>
                      <a:pt x="201702" y="150489"/>
                      <a:pt x="198306" y="144600"/>
                    </a:cubicBezTo>
                    <a:lnTo>
                      <a:pt x="117236" y="9223"/>
                    </a:lnTo>
                    <a:cubicBezTo>
                      <a:pt x="113767" y="3498"/>
                      <a:pt x="107558" y="0"/>
                      <a:pt x="100864" y="0"/>
                    </a:cubicBezTo>
                    <a:cubicBezTo>
                      <a:pt x="94169" y="0"/>
                      <a:pt x="87961" y="3498"/>
                      <a:pt x="84492" y="9223"/>
                    </a:cubicBezTo>
                  </a:path>
                </a:pathLst>
              </a:custGeom>
              <a:noFill/>
              <a:ln w="20002" cap="rnd">
                <a:solidFill>
                  <a:schemeClr val="accent2"/>
                </a:solidFill>
                <a:round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958215" y="50177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00" y="0"/>
                    </a:lnTo>
                  </a:path>
                </a:pathLst>
              </a:custGeom>
              <a:noFill/>
              <a:ln w="20002" cap="rnd">
                <a:solidFill>
                  <a:schemeClr val="accent2"/>
                </a:solidFill>
                <a:round/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232154" y="4842510"/>
              <a:ext cx="15105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婴幼儿的判断依据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30630" y="5191125"/>
              <a:ext cx="89001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婴幼儿因年龄、语言及社会心理等因素的影响，不能准确描述呼吸困难，主要根据客观体征来判断。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65404" y="6438900"/>
            <a:ext cx="11061192" cy="333756"/>
            <a:chOff x="565404" y="6438900"/>
            <a:chExt cx="11061192" cy="333756"/>
          </a:xfrm>
        </p:grpSpPr>
        <p:sp>
          <p:nvSpPr>
            <p:cNvPr id="25" name="Line 25"/>
            <p:cNvSpPr/>
            <p:nvPr/>
          </p:nvSpPr>
          <p:spPr>
            <a:xfrm>
              <a:off x="571500" y="64389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65404" y="6537960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儿童急性呼吸困难 · 诊疗思路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0732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05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7784" y="670560"/>
            <a:ext cx="11062716" cy="766191"/>
            <a:chOff x="557784" y="670560"/>
            <a:chExt cx="11062716" cy="766191"/>
          </a:xfrm>
        </p:grpSpPr>
        <p:sp>
          <p:nvSpPr>
            <p:cNvPr id="2" name="TextBox 2"/>
            <p:cNvSpPr txBox="1"/>
            <p:nvPr/>
          </p:nvSpPr>
          <p:spPr>
            <a:xfrm>
              <a:off x="565404" y="670560"/>
              <a:ext cx="8542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/ 分类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7784" y="908685"/>
              <a:ext cx="486643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三种分类轴，决定问诊方向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352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60832" y="1583055"/>
            <a:ext cx="3058668" cy="1672590"/>
            <a:chOff x="560832" y="1583055"/>
            <a:chExt cx="3058668" cy="1672590"/>
          </a:xfrm>
        </p:grpSpPr>
        <p:sp>
          <p:nvSpPr>
            <p:cNvPr id="6" name="TextBox 6"/>
            <p:cNvSpPr txBox="1"/>
            <p:nvPr/>
          </p:nvSpPr>
          <p:spPr>
            <a:xfrm>
              <a:off x="560832" y="1583055"/>
              <a:ext cx="3499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65404" y="2004060"/>
              <a:ext cx="5614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按病程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571500" y="22669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63880" y="2543175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急性呼吸困难（≤3 周）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3880" y="2962275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慢性呼吸困难（&gt;3 周）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227957" y="1583055"/>
            <a:ext cx="3058668" cy="2929890"/>
            <a:chOff x="4227957" y="1583055"/>
            <a:chExt cx="3058668" cy="2929890"/>
          </a:xfrm>
        </p:grpSpPr>
        <p:sp>
          <p:nvSpPr>
            <p:cNvPr id="12" name="TextBox 12"/>
            <p:cNvSpPr txBox="1"/>
            <p:nvPr/>
          </p:nvSpPr>
          <p:spPr>
            <a:xfrm>
              <a:off x="4227957" y="1583055"/>
              <a:ext cx="3499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232529" y="2004060"/>
              <a:ext cx="5614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按病因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238625" y="22669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231005" y="25431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肺源性呼吸困难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231005" y="29622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心源性呼吸困难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231005" y="33813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中毒性呼吸困难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31005" y="38004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血源性呼吸困难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231005" y="42195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神经精神性呼吸困难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895082" y="1583055"/>
            <a:ext cx="3344418" cy="2091690"/>
            <a:chOff x="7895082" y="1583055"/>
            <a:chExt cx="3344418" cy="2091690"/>
          </a:xfrm>
        </p:grpSpPr>
        <p:sp>
          <p:nvSpPr>
            <p:cNvPr id="21" name="TextBox 21"/>
            <p:cNvSpPr txBox="1"/>
            <p:nvPr/>
          </p:nvSpPr>
          <p:spPr>
            <a:xfrm>
              <a:off x="7895082" y="1583055"/>
              <a:ext cx="3499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99654" y="2004060"/>
              <a:ext cx="941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按发生时相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7905750" y="226695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898130" y="25431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吸气性呼吸困难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98130" y="29622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呼气性呼吸困难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98130" y="33813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混合性呼吸困难</a:t>
              </a:r>
            </a:p>
          </p:txBody>
        </p:sp>
      </p:grpSp>
      <p:sp>
        <p:nvSpPr>
          <p:cNvPr id="28" name="Line 28"/>
          <p:cNvSpPr/>
          <p:nvPr/>
        </p:nvSpPr>
        <p:spPr>
          <a:xfrm>
            <a:off x="3924300" y="1676400"/>
            <a:ext cx="9525" cy="2952750"/>
          </a:xfrm>
          <a:custGeom>
            <a:avLst/>
            <a:gdLst/>
            <a:ahLst/>
            <a:cxnLst/>
            <a:rect l="l" t="t" r="r" b="b"/>
            <a:pathLst>
              <a:path w="9525" h="2952750">
                <a:moveTo>
                  <a:pt x="0" y="0"/>
                </a:moveTo>
                <a:lnTo>
                  <a:pt x="0" y="295275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29" name="Line 29"/>
          <p:cNvSpPr/>
          <p:nvPr/>
        </p:nvSpPr>
        <p:spPr>
          <a:xfrm>
            <a:off x="7591425" y="1676400"/>
            <a:ext cx="9525" cy="2952750"/>
          </a:xfrm>
          <a:custGeom>
            <a:avLst/>
            <a:gdLst/>
            <a:ahLst/>
            <a:cxnLst/>
            <a:rect l="l" t="t" r="r" b="b"/>
            <a:pathLst>
              <a:path w="9525" h="2952750">
                <a:moveTo>
                  <a:pt x="0" y="0"/>
                </a:moveTo>
                <a:lnTo>
                  <a:pt x="0" y="295275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grpSp>
        <p:nvGrpSpPr>
          <p:cNvPr id="38" name="Group 38"/>
          <p:cNvGrpSpPr/>
          <p:nvPr/>
        </p:nvGrpSpPr>
        <p:grpSpPr>
          <a:xfrm>
            <a:off x="571500" y="5048250"/>
            <a:ext cx="11049000" cy="952500"/>
            <a:chOff x="571500" y="5048250"/>
            <a:chExt cx="11049000" cy="952500"/>
          </a:xfrm>
        </p:grpSpPr>
        <p:sp>
          <p:nvSpPr>
            <p:cNvPr id="30" name="Rectangle 30"/>
            <p:cNvSpPr/>
            <p:nvPr/>
          </p:nvSpPr>
          <p:spPr>
            <a:xfrm>
              <a:off x="571500" y="5048250"/>
              <a:ext cx="11049000" cy="952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71500" y="5048250"/>
              <a:ext cx="57150" cy="952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857351" y="5322581"/>
              <a:ext cx="201720" cy="173304"/>
              <a:chOff x="857351" y="5322581"/>
              <a:chExt cx="201720" cy="173304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958215" y="5385911"/>
                <a:ext cx="9525" cy="4000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0005">
                    <a:moveTo>
                      <a:pt x="0" y="0"/>
                    </a:moveTo>
                    <a:lnTo>
                      <a:pt x="0" y="40005"/>
                    </a:lnTo>
                  </a:path>
                </a:pathLst>
              </a:custGeom>
              <a:noFill/>
              <a:ln w="20002" cap="rnd">
                <a:solidFill>
                  <a:schemeClr val="accent2"/>
                </a:solidFill>
                <a:round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57351" y="5322581"/>
                <a:ext cx="201720" cy="173304"/>
              </a:xfrm>
              <a:custGeom>
                <a:avLst/>
                <a:gdLst/>
                <a:ahLst/>
                <a:cxnLst/>
                <a:rect l="l" t="t" r="r" b="b"/>
                <a:pathLst>
                  <a:path w="201720" h="173304">
                    <a:moveTo>
                      <a:pt x="84492" y="9233"/>
                    </a:moveTo>
                    <a:lnTo>
                      <a:pt x="3422" y="144590"/>
                    </a:lnTo>
                    <a:cubicBezTo>
                      <a:pt x="21" y="150480"/>
                      <a:pt x="0" y="157731"/>
                      <a:pt x="3367" y="163640"/>
                    </a:cubicBezTo>
                    <a:cubicBezTo>
                      <a:pt x="6734" y="169549"/>
                      <a:pt x="12983" y="173227"/>
                      <a:pt x="19784" y="173304"/>
                    </a:cubicBezTo>
                    <a:lnTo>
                      <a:pt x="181944" y="173304"/>
                    </a:lnTo>
                    <a:cubicBezTo>
                      <a:pt x="188741" y="173225"/>
                      <a:pt x="194987" y="169548"/>
                      <a:pt x="198353" y="163643"/>
                    </a:cubicBezTo>
                    <a:cubicBezTo>
                      <a:pt x="201720" y="157737"/>
                      <a:pt x="201702" y="150489"/>
                      <a:pt x="198306" y="144600"/>
                    </a:cubicBezTo>
                    <a:lnTo>
                      <a:pt x="117236" y="9223"/>
                    </a:lnTo>
                    <a:cubicBezTo>
                      <a:pt x="113767" y="3498"/>
                      <a:pt x="107558" y="0"/>
                      <a:pt x="100864" y="0"/>
                    </a:cubicBezTo>
                    <a:cubicBezTo>
                      <a:pt x="94169" y="0"/>
                      <a:pt x="87961" y="3498"/>
                      <a:pt x="84492" y="9223"/>
                    </a:cubicBezTo>
                  </a:path>
                </a:pathLst>
              </a:custGeom>
              <a:noFill/>
              <a:ln w="20002" cap="rnd">
                <a:solidFill>
                  <a:schemeClr val="accent2"/>
                </a:solidFill>
                <a:round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58215" y="54559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00" y="0"/>
                    </a:lnTo>
                  </a:path>
                </a:pathLst>
              </a:custGeom>
              <a:noFill/>
              <a:ln w="20002" cap="rnd">
                <a:solidFill>
                  <a:schemeClr val="accent2"/>
                </a:solidFill>
                <a:round/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232154" y="5299710"/>
              <a:ext cx="7512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临床判断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230630" y="5629275"/>
              <a:ext cx="70827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小儿以急性呼吸困难多见，进展快，可迅速危及生命，需紧急明确病因并处理。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65404" y="6438900"/>
            <a:ext cx="11061192" cy="333756"/>
            <a:chOff x="565404" y="6438900"/>
            <a:chExt cx="11061192" cy="333756"/>
          </a:xfrm>
        </p:grpSpPr>
        <p:sp>
          <p:nvSpPr>
            <p:cNvPr id="39" name="Line 39"/>
            <p:cNvSpPr/>
            <p:nvPr/>
          </p:nvSpPr>
          <p:spPr>
            <a:xfrm>
              <a:off x="571500" y="64389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65404" y="6537960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儿童急性呼吸困难 · 诊疗思路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0732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06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557784" y="670560"/>
            <a:ext cx="11062716" cy="766191"/>
            <a:chOff x="557784" y="670560"/>
            <a:chExt cx="11062716" cy="766191"/>
          </a:xfrm>
        </p:grpSpPr>
        <p:sp>
          <p:nvSpPr>
            <p:cNvPr id="2" name="TextBox 2"/>
            <p:cNvSpPr txBox="1"/>
            <p:nvPr/>
          </p:nvSpPr>
          <p:spPr>
            <a:xfrm>
              <a:off x="565404" y="670560"/>
              <a:ext cx="8542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机制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7784" y="908685"/>
              <a:ext cx="607618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正常呼吸：一条经典的神经反射弧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352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8" name="Group 8"/>
            <p:cNvGrpSpPr/>
            <p:nvPr/>
          </p:nvGrpSpPr>
          <p:grpSpPr>
            <a:xfrm>
              <a:off x="11155204" y="713692"/>
              <a:ext cx="181796" cy="184246"/>
              <a:chOff x="11155204" y="713692"/>
              <a:chExt cx="181796" cy="184246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11175206" y="713692"/>
                <a:ext cx="111787" cy="52365"/>
              </a:xfrm>
              <a:custGeom>
                <a:avLst/>
                <a:gdLst/>
                <a:ahLst/>
                <a:cxnLst/>
                <a:rect l="l" t="t" r="r" b="b"/>
                <a:pathLst>
                  <a:path w="111787" h="52365">
                    <a:moveTo>
                      <a:pt x="0" y="52118"/>
                    </a:moveTo>
                    <a:lnTo>
                      <a:pt x="85011" y="52118"/>
                    </a:lnTo>
                    <a:cubicBezTo>
                      <a:pt x="97909" y="52365"/>
                      <a:pt x="108878" y="42757"/>
                      <a:pt x="110333" y="29939"/>
                    </a:cubicBezTo>
                    <a:cubicBezTo>
                      <a:pt x="111787" y="17120"/>
                      <a:pt x="103250" y="5299"/>
                      <a:pt x="90624" y="2649"/>
                    </a:cubicBezTo>
                    <a:cubicBezTo>
                      <a:pt x="77998" y="0"/>
                      <a:pt x="65429" y="7392"/>
                      <a:pt x="61608" y="19714"/>
                    </a:cubicBezTo>
                  </a:path>
                </a:pathLst>
              </a:custGeom>
              <a:noFill/>
              <a:ln w="20002" cap="rnd">
                <a:solidFill>
                  <a:schemeClr val="accent3"/>
                </a:solidFill>
                <a:round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1155204" y="805568"/>
                <a:ext cx="181796" cy="52365"/>
              </a:xfrm>
              <a:custGeom>
                <a:avLst/>
                <a:gdLst/>
                <a:ahLst/>
                <a:cxnLst/>
                <a:rect l="l" t="t" r="r" b="b"/>
                <a:pathLst>
                  <a:path w="181796" h="52365">
                    <a:moveTo>
                      <a:pt x="0" y="247"/>
                    </a:moveTo>
                    <a:lnTo>
                      <a:pt x="155019" y="247"/>
                    </a:lnTo>
                    <a:cubicBezTo>
                      <a:pt x="167918" y="0"/>
                      <a:pt x="178887" y="9608"/>
                      <a:pt x="180341" y="22426"/>
                    </a:cubicBezTo>
                    <a:cubicBezTo>
                      <a:pt x="181796" y="35245"/>
                      <a:pt x="173259" y="47066"/>
                      <a:pt x="160633" y="49716"/>
                    </a:cubicBezTo>
                    <a:cubicBezTo>
                      <a:pt x="148006" y="52365"/>
                      <a:pt x="135438" y="44973"/>
                      <a:pt x="131616" y="32651"/>
                    </a:cubicBezTo>
                  </a:path>
                </a:pathLst>
              </a:custGeom>
              <a:noFill/>
              <a:ln w="20002" cap="rnd">
                <a:solidFill>
                  <a:schemeClr val="accent3"/>
                </a:solidFill>
                <a:round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1165205" y="845573"/>
                <a:ext cx="81783" cy="52365"/>
              </a:xfrm>
              <a:custGeom>
                <a:avLst/>
                <a:gdLst/>
                <a:ahLst/>
                <a:cxnLst/>
                <a:rect l="l" t="t" r="r" b="b"/>
                <a:pathLst>
                  <a:path w="81783" h="52365">
                    <a:moveTo>
                      <a:pt x="0" y="247"/>
                    </a:moveTo>
                    <a:lnTo>
                      <a:pt x="55007" y="247"/>
                    </a:lnTo>
                    <a:cubicBezTo>
                      <a:pt x="67906" y="0"/>
                      <a:pt x="78874" y="9608"/>
                      <a:pt x="80329" y="22426"/>
                    </a:cubicBezTo>
                    <a:cubicBezTo>
                      <a:pt x="81783" y="35245"/>
                      <a:pt x="73246" y="47066"/>
                      <a:pt x="60620" y="49716"/>
                    </a:cubicBezTo>
                    <a:cubicBezTo>
                      <a:pt x="47994" y="52365"/>
                      <a:pt x="35425" y="44973"/>
                      <a:pt x="31604" y="32651"/>
                    </a:cubicBezTo>
                  </a:path>
                </a:pathLst>
              </a:custGeom>
              <a:noFill/>
              <a:ln w="20002" cap="rnd">
                <a:solidFill>
                  <a:schemeClr val="accent3"/>
                </a:solidFill>
                <a:round/>
              </a:ln>
            </p:spPr>
          </p:sp>
        </p:grpSp>
      </p:grpSp>
      <p:grpSp>
        <p:nvGrpSpPr>
          <p:cNvPr id="31" name="Group 31"/>
          <p:cNvGrpSpPr/>
          <p:nvPr/>
        </p:nvGrpSpPr>
        <p:grpSpPr>
          <a:xfrm>
            <a:off x="819150" y="1752600"/>
            <a:ext cx="8546402" cy="4076700"/>
            <a:chOff x="819150" y="1752600"/>
            <a:chExt cx="8546402" cy="4076700"/>
          </a:xfrm>
        </p:grpSpPr>
        <p:sp>
          <p:nvSpPr>
            <p:cNvPr id="10" name="Line 10"/>
            <p:cNvSpPr/>
            <p:nvPr/>
          </p:nvSpPr>
          <p:spPr>
            <a:xfrm>
              <a:off x="1047750" y="20574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819150" y="1752600"/>
              <a:ext cx="457200" cy="4572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8362" y="19088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16380" y="1895475"/>
              <a:ext cx="651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感受器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73630" y="1895475"/>
              <a:ext cx="69919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中枢/外周化学感受器或机械感受器，感知机体内环境和肺部机械张力的变化。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819150" y="2667000"/>
              <a:ext cx="457200" cy="4572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8362" y="28232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16380" y="2809875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传入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373630" y="280987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信号经迷走神经、舌咽神经传入脑干呼吸中枢。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819150" y="3581400"/>
              <a:ext cx="457200" cy="4572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8362" y="3737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16380" y="3724275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中枢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73630" y="37242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脑干呼吸中枢整合信号。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819150" y="4495800"/>
              <a:ext cx="457200" cy="4572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8362" y="46520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16380" y="4638675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传出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373630" y="4638675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经膈神经和肋间神经将指令传至膈肌和肋间外肌。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819150" y="5372100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48362" y="55283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BF9F4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516380" y="5514975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效应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373630" y="5514975"/>
              <a:ext cx="52654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产生呼吸动力，驱动空气经气道进入肺泡，完成通气过程。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65404" y="6438900"/>
            <a:ext cx="11061192" cy="333756"/>
            <a:chOff x="565404" y="6438900"/>
            <a:chExt cx="11061192" cy="333756"/>
          </a:xfrm>
        </p:grpSpPr>
        <p:sp>
          <p:nvSpPr>
            <p:cNvPr id="32" name="Line 32"/>
            <p:cNvSpPr/>
            <p:nvPr/>
          </p:nvSpPr>
          <p:spPr>
            <a:xfrm>
              <a:off x="571500" y="64389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65404" y="6537960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儿童急性呼吸困难 · 诊疗思路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0732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07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7784" y="670560"/>
            <a:ext cx="11062716" cy="766191"/>
            <a:chOff x="557784" y="670560"/>
            <a:chExt cx="11062716" cy="766191"/>
          </a:xfrm>
        </p:grpSpPr>
        <p:sp>
          <p:nvSpPr>
            <p:cNvPr id="2" name="TextBox 2"/>
            <p:cNvSpPr txBox="1"/>
            <p:nvPr/>
          </p:nvSpPr>
          <p:spPr>
            <a:xfrm>
              <a:off x="565404" y="670560"/>
              <a:ext cx="8542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机制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7784" y="908685"/>
              <a:ext cx="688268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四个环节出问题，都会表现为呼吸困难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352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563880" y="1514475"/>
            <a:ext cx="11056620" cy="4772025"/>
            <a:chOff x="563880" y="1514475"/>
            <a:chExt cx="11056620" cy="4772025"/>
          </a:xfrm>
        </p:grpSpPr>
        <p:sp>
          <p:nvSpPr>
            <p:cNvPr id="6" name="TextBox 6"/>
            <p:cNvSpPr txBox="1"/>
            <p:nvPr/>
          </p:nvSpPr>
          <p:spPr>
            <a:xfrm>
              <a:off x="563880" y="1514475"/>
              <a:ext cx="78905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一切导致感受器内环境变化、气道不畅、中枢及神经肌肉异常的因素均会导致呼吸困难。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905500" y="1905000"/>
              <a:ext cx="9525" cy="4381500"/>
            </a:xfrm>
            <a:custGeom>
              <a:avLst/>
              <a:gdLst/>
              <a:ahLst/>
              <a:cxnLst/>
              <a:rect l="l" t="t" r="r" b="b"/>
              <a:pathLst>
                <a:path w="9525" h="4381500">
                  <a:moveTo>
                    <a:pt x="0" y="0"/>
                  </a:moveTo>
                  <a:lnTo>
                    <a:pt x="0" y="43815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571500" y="42291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65404" y="20421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7542" y="202596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缺氧及高碳酸血症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3880" y="2333625"/>
              <a:ext cx="4396740" cy="18935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各种肺内、肺外疾病引起缺氧或高碳酸血症时，刺激颈动脉体、主动脉弓或中枢化学感受器，反射性兴奋呼吸中枢，使呼吸加深加快。CO₂ 升高能迅速通过血脑屏障，在脑脊液中生成 H⁺，刺激中枢感受器，是呼吸调节最重要的化学因素。另外，肺淤血、炎症、间质水肿和间质性肺疾病等也会刺激肺牵张感受器，诱发呼吸急促和呼吸困难。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80404" y="20421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22542" y="202596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呼吸运动阻力增加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78880" y="2333625"/>
              <a:ext cx="4206240" cy="13601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呼吸道梗阻、下气道平滑肌痉挛、胸膜疾病（如气胸、大量胸腔积液）等导致气道阻力增加。胸壁呼吸肌内的本体感受器激活，传导到脑干及皮质感觉中枢的信号增多，反射性引起呼吸肌做功增强，出现呼吸困难的主观和客观表现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5404" y="44424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7542" y="442626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呼吸肌受损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3880" y="4733925"/>
              <a:ext cx="4311015" cy="13601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呼吸肌力减退、麻痹，如肌炎、吉兰-巴雷综合征、重症肌无力。中枢对呼吸肌肉的传出冲动增加，变为通气异常感受信号，经肺部迷走神经受体及呼吸肌的机械感受器传入大脑感觉运动皮层，产生呼吸困难感受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80404" y="44424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22542" y="44262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呼吸驱动异常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78880" y="4733925"/>
              <a:ext cx="4777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中枢神经系统疾病（脑炎、颅内高压）、麻醉镇静剂等，可直接损害或抑制呼吸中枢，导致呼吸节律异常。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65404" y="6438900"/>
            <a:ext cx="11061192" cy="333756"/>
            <a:chOff x="565404" y="6438900"/>
            <a:chExt cx="11061192" cy="333756"/>
          </a:xfrm>
        </p:grpSpPr>
        <p:sp>
          <p:nvSpPr>
            <p:cNvPr id="22" name="Line 22"/>
            <p:cNvSpPr/>
            <p:nvPr/>
          </p:nvSpPr>
          <p:spPr>
            <a:xfrm>
              <a:off x="571500" y="64389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65404" y="6537960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儿童急性呼吸困难 · 诊疗思路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0732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08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557784" y="670560"/>
            <a:ext cx="11062716" cy="766191"/>
            <a:chOff x="557784" y="670560"/>
            <a:chExt cx="11062716" cy="766191"/>
          </a:xfrm>
        </p:grpSpPr>
        <p:sp>
          <p:nvSpPr>
            <p:cNvPr id="2" name="TextBox 2"/>
            <p:cNvSpPr txBox="1"/>
            <p:nvPr/>
          </p:nvSpPr>
          <p:spPr>
            <a:xfrm>
              <a:off x="565404" y="670560"/>
              <a:ext cx="14236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/ 病因及表现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7784" y="908685"/>
              <a:ext cx="56729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肺源性：看时相，锁定病变部位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352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11138902" y="710565"/>
              <a:ext cx="197408" cy="175259"/>
              <a:chOff x="11138902" y="710565"/>
              <a:chExt cx="197408" cy="175259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11138902" y="732472"/>
                <a:ext cx="65832" cy="153352"/>
              </a:xfrm>
              <a:custGeom>
                <a:avLst/>
                <a:gdLst/>
                <a:ahLst/>
                <a:cxnLst/>
                <a:rect l="l" t="t" r="r" b="b"/>
                <a:pathLst>
                  <a:path w="65832" h="153352">
                    <a:moveTo>
                      <a:pt x="33858" y="153352"/>
                    </a:moveTo>
                    <a:cubicBezTo>
                      <a:pt x="51515" y="153352"/>
                      <a:pt x="65832" y="138729"/>
                      <a:pt x="65832" y="120710"/>
                    </a:cubicBezTo>
                    <a:lnTo>
                      <a:pt x="65832" y="13769"/>
                    </a:lnTo>
                    <a:cubicBezTo>
                      <a:pt x="65832" y="6167"/>
                      <a:pt x="59786" y="0"/>
                      <a:pt x="52337" y="0"/>
                    </a:cubicBezTo>
                    <a:cubicBezTo>
                      <a:pt x="50091" y="0"/>
                      <a:pt x="47901" y="570"/>
                      <a:pt x="45940" y="1643"/>
                    </a:cubicBezTo>
                    <a:lnTo>
                      <a:pt x="44516" y="2552"/>
                    </a:lnTo>
                    <a:cubicBezTo>
                      <a:pt x="28524" y="14152"/>
                      <a:pt x="17877" y="31547"/>
                      <a:pt x="7229" y="66347"/>
                    </a:cubicBezTo>
                    <a:cubicBezTo>
                      <a:pt x="2629" y="81354"/>
                      <a:pt x="263" y="98792"/>
                      <a:pt x="131" y="118651"/>
                    </a:cubicBezTo>
                    <a:cubicBezTo>
                      <a:pt x="0" y="136999"/>
                      <a:pt x="13944" y="152104"/>
                      <a:pt x="31645" y="153276"/>
                    </a:cubicBezTo>
                    <a:lnTo>
                      <a:pt x="33869" y="153352"/>
                    </a:lnTo>
                  </a:path>
                </a:pathLst>
              </a:custGeom>
              <a:noFill/>
              <a:ln w="21908" cap="rnd">
                <a:solidFill>
                  <a:schemeClr val="accent3"/>
                </a:solidFill>
                <a:round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1270456" y="732472"/>
                <a:ext cx="65854" cy="153352"/>
              </a:xfrm>
              <a:custGeom>
                <a:avLst/>
                <a:gdLst/>
                <a:ahLst/>
                <a:cxnLst/>
                <a:rect l="l" t="t" r="r" b="b"/>
                <a:pathLst>
                  <a:path w="65854" h="153352">
                    <a:moveTo>
                      <a:pt x="31985" y="153352"/>
                    </a:moveTo>
                    <a:cubicBezTo>
                      <a:pt x="14317" y="153352"/>
                      <a:pt x="0" y="138729"/>
                      <a:pt x="0" y="120710"/>
                    </a:cubicBezTo>
                    <a:lnTo>
                      <a:pt x="0" y="13769"/>
                    </a:lnTo>
                    <a:cubicBezTo>
                      <a:pt x="0" y="6167"/>
                      <a:pt x="6046" y="0"/>
                      <a:pt x="13506" y="0"/>
                    </a:cubicBezTo>
                    <a:cubicBezTo>
                      <a:pt x="15741" y="0"/>
                      <a:pt x="17942" y="570"/>
                      <a:pt x="19903" y="1643"/>
                    </a:cubicBezTo>
                    <a:lnTo>
                      <a:pt x="21327" y="2552"/>
                    </a:lnTo>
                    <a:cubicBezTo>
                      <a:pt x="37319" y="14152"/>
                      <a:pt x="47966" y="31547"/>
                      <a:pt x="58624" y="66347"/>
                    </a:cubicBezTo>
                    <a:cubicBezTo>
                      <a:pt x="63225" y="81354"/>
                      <a:pt x="65591" y="98792"/>
                      <a:pt x="65723" y="118651"/>
                    </a:cubicBezTo>
                    <a:cubicBezTo>
                      <a:pt x="65854" y="136999"/>
                      <a:pt x="51910" y="152104"/>
                      <a:pt x="34198" y="153276"/>
                    </a:cubicBezTo>
                    <a:lnTo>
                      <a:pt x="31985" y="153352"/>
                    </a:lnTo>
                  </a:path>
                </a:pathLst>
              </a:custGeom>
              <a:noFill/>
              <a:ln w="21908" cap="rnd">
                <a:solidFill>
                  <a:schemeClr val="accent3"/>
                </a:solidFill>
                <a:round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1204734" y="765334"/>
                <a:ext cx="65723" cy="32861"/>
              </a:xfrm>
              <a:custGeom>
                <a:avLst/>
                <a:gdLst/>
                <a:ahLst/>
                <a:cxnLst/>
                <a:rect l="l" t="t" r="r" b="b"/>
                <a:pathLst>
                  <a:path w="65723" h="32861">
                    <a:moveTo>
                      <a:pt x="0" y="32861"/>
                    </a:moveTo>
                    <a:cubicBezTo>
                      <a:pt x="18149" y="32861"/>
                      <a:pt x="32861" y="18149"/>
                      <a:pt x="32861" y="0"/>
                    </a:cubicBezTo>
                    <a:cubicBezTo>
                      <a:pt x="32861" y="18149"/>
                      <a:pt x="47574" y="32861"/>
                      <a:pt x="65723" y="32861"/>
                    </a:cubicBezTo>
                  </a:path>
                </a:pathLst>
              </a:custGeom>
              <a:noFill/>
              <a:ln w="21908" cap="rnd">
                <a:solidFill>
                  <a:schemeClr val="accent3"/>
                </a:solidFill>
                <a:round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1237595" y="710565"/>
                <a:ext cx="9525" cy="5476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4769">
                    <a:moveTo>
                      <a:pt x="0" y="0"/>
                    </a:moveTo>
                    <a:lnTo>
                      <a:pt x="0" y="54769"/>
                    </a:lnTo>
                  </a:path>
                </a:pathLst>
              </a:custGeom>
              <a:noFill/>
              <a:ln w="21908" cap="rnd">
                <a:solidFill>
                  <a:schemeClr val="accent3"/>
                </a:solidFill>
                <a:round/>
              </a:ln>
            </p:spPr>
          </p:sp>
        </p:grpSp>
      </p:grpSp>
      <p:grpSp>
        <p:nvGrpSpPr>
          <p:cNvPr id="32" name="Group 32"/>
          <p:cNvGrpSpPr/>
          <p:nvPr/>
        </p:nvGrpSpPr>
        <p:grpSpPr>
          <a:xfrm>
            <a:off x="563880" y="1514475"/>
            <a:ext cx="11056620" cy="4686681"/>
            <a:chOff x="563880" y="1514475"/>
            <a:chExt cx="11056620" cy="4686681"/>
          </a:xfrm>
        </p:grpSpPr>
        <p:sp>
          <p:nvSpPr>
            <p:cNvPr id="11" name="TextBox 11"/>
            <p:cNvSpPr txBox="1"/>
            <p:nvPr/>
          </p:nvSpPr>
          <p:spPr>
            <a:xfrm>
              <a:off x="563880" y="151447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可表现为吸气性、呼气性和混合性呼吸困难。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71500" y="1943100"/>
              <a:ext cx="11049000" cy="4381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55142" y="2092642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BF9F4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602992" y="209264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BF9F4"/>
                  </a:solidFill>
                  <a:latin typeface="+mn-lt"/>
                  <a:ea typeface="+mn-ea"/>
                  <a:cs typeface="+mn-cs"/>
                </a:rPr>
                <a:t>常见病因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79742" y="209264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BF9F4"/>
                  </a:solidFill>
                  <a:latin typeface="+mn-lt"/>
                  <a:ea typeface="+mn-ea"/>
                  <a:cs typeface="+mn-cs"/>
                </a:rPr>
                <a:t>临床表现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71500" y="2381250"/>
              <a:ext cx="38100" cy="1123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54380" y="2638425"/>
              <a:ext cx="651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吸气性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02230" y="2562225"/>
              <a:ext cx="3444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喉、气管、大支气管病变：急性喉炎、喉软化、气道异物、外部病变压迫等引起的中心气道狭窄与阻塞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78980" y="2562225"/>
              <a:ext cx="3063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吸气费力，三凹征，张口呼吸，可伴剧烈干咳及高调吸气性喉鸣。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571500" y="35052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71500" y="3505200"/>
              <a:ext cx="38100" cy="1066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54380" y="3743325"/>
              <a:ext cx="651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呼气性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602230" y="3667125"/>
              <a:ext cx="3253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哮喘急性发作、毛细支气管炎、喘息性支气管炎等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78980" y="366712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呼气延长及费力，常伴有呼气相哮鸣音。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571500" y="4572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71500" y="4572000"/>
              <a:ext cx="38100" cy="1181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54380" y="4829175"/>
              <a:ext cx="651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混合性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602230" y="4752975"/>
              <a:ext cx="3253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重症肺炎、肺水肿、气胸、大量胸腔积液、弥漫性肺间质疾病等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78980" y="4752975"/>
              <a:ext cx="3253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吸气及呼气时均感费力，呼吸增快，肺部闻及干湿啰音，呼吸音增强或减弱。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571500" y="57531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65404" y="596646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按时相定位，是四步法的第一步。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65404" y="6438900"/>
            <a:ext cx="11061192" cy="333756"/>
            <a:chOff x="565404" y="6438900"/>
            <a:chExt cx="11061192" cy="333756"/>
          </a:xfrm>
        </p:grpSpPr>
        <p:sp>
          <p:nvSpPr>
            <p:cNvPr id="33" name="Line 33"/>
            <p:cNvSpPr/>
            <p:nvPr/>
          </p:nvSpPr>
          <p:spPr>
            <a:xfrm>
              <a:off x="571500" y="64389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65404" y="6537960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儿童急性呼吸困难 · 诊疗思路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0732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09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57784" y="670560"/>
            <a:ext cx="11062716" cy="766191"/>
            <a:chOff x="557784" y="670560"/>
            <a:chExt cx="11062716" cy="766191"/>
          </a:xfrm>
        </p:grpSpPr>
        <p:sp>
          <p:nvSpPr>
            <p:cNvPr id="2" name="TextBox 2"/>
            <p:cNvSpPr txBox="1"/>
            <p:nvPr/>
          </p:nvSpPr>
          <p:spPr>
            <a:xfrm>
              <a:off x="565404" y="670560"/>
              <a:ext cx="14236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/ 病因及表现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7784" y="908685"/>
              <a:ext cx="611651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心源性：与肺病“像”，但线索不同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352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11135218" y="707755"/>
              <a:ext cx="204555" cy="178070"/>
            </a:xfrm>
            <a:custGeom>
              <a:avLst/>
              <a:gdLst/>
              <a:ahLst/>
              <a:cxnLst/>
              <a:rect l="l" t="t" r="r" b="b"/>
              <a:pathLst>
                <a:path w="204555" h="178070">
                  <a:moveTo>
                    <a:pt x="184530" y="96706"/>
                  </a:moveTo>
                  <a:lnTo>
                    <a:pt x="102377" y="178070"/>
                  </a:lnTo>
                  <a:lnTo>
                    <a:pt x="20224" y="96706"/>
                  </a:lnTo>
                  <a:cubicBezTo>
                    <a:pt x="5450" y="82330"/>
                    <a:pt x="0" y="60876"/>
                    <a:pt x="6120" y="41192"/>
                  </a:cubicBezTo>
                  <a:cubicBezTo>
                    <a:pt x="12241" y="21508"/>
                    <a:pt x="28895" y="6928"/>
                    <a:pt x="49216" y="3464"/>
                  </a:cubicBezTo>
                  <a:cubicBezTo>
                    <a:pt x="69536" y="0"/>
                    <a:pt x="90080" y="8239"/>
                    <a:pt x="102377" y="24783"/>
                  </a:cubicBezTo>
                  <a:cubicBezTo>
                    <a:pt x="114725" y="8361"/>
                    <a:pt x="135225" y="232"/>
                    <a:pt x="155472" y="3728"/>
                  </a:cubicBezTo>
                  <a:cubicBezTo>
                    <a:pt x="175718" y="7225"/>
                    <a:pt x="192305" y="21759"/>
                    <a:pt x="198430" y="41371"/>
                  </a:cubicBezTo>
                  <a:cubicBezTo>
                    <a:pt x="204555" y="60983"/>
                    <a:pt x="199188" y="82374"/>
                    <a:pt x="184530" y="96771"/>
                  </a:cubicBezTo>
                </a:path>
              </a:pathLst>
            </a:custGeom>
            <a:noFill/>
            <a:ln w="21908" cap="rnd">
              <a:solidFill>
                <a:schemeClr val="accent2"/>
              </a:solidFill>
              <a:round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63880" y="1737360"/>
            <a:ext cx="4206240" cy="3137535"/>
            <a:chOff x="563880" y="1737360"/>
            <a:chExt cx="4206240" cy="3137535"/>
          </a:xfrm>
        </p:grpSpPr>
        <p:sp>
          <p:nvSpPr>
            <p:cNvPr id="7" name="TextBox 7"/>
            <p:cNvSpPr txBox="1"/>
            <p:nvPr/>
          </p:nvSpPr>
          <p:spPr>
            <a:xfrm>
              <a:off x="565404" y="1737360"/>
              <a:ext cx="3716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机制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63880" y="2047875"/>
              <a:ext cx="4015740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各种原因引起的左心功能不全致肺淤血和肺泡弹性减低，气体弥散功能下降，肺泡张力增高，刺激肺牵张感受器，兴奋迷走神经，以及肺循环压力升高对呼吸中枢的反射性刺激所致。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5404" y="3718560"/>
              <a:ext cx="3716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3880" y="4029075"/>
              <a:ext cx="4206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呼吸急促、费力，两肺湿啰音及哮鸣音，与肺炎、急性呼吸窘迫综合征所致的混合性呼吸困难难以鉴别。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280404" y="1638300"/>
            <a:ext cx="4962906" cy="3227070"/>
            <a:chOff x="6280404" y="1638300"/>
            <a:chExt cx="4962906" cy="3227070"/>
          </a:xfrm>
        </p:grpSpPr>
        <p:sp>
          <p:nvSpPr>
            <p:cNvPr id="12" name="Rectangle 12"/>
            <p:cNvSpPr/>
            <p:nvPr/>
          </p:nvSpPr>
          <p:spPr>
            <a:xfrm>
              <a:off x="6286500" y="1638300"/>
              <a:ext cx="3429000" cy="285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413754" y="1718310"/>
              <a:ext cx="20730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与肺部疾病鉴别的 7 条线索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80404" y="21945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83680" y="217170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精神面色差，与肺部疾病的严重程度不相符。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80404" y="259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83680" y="257175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常有烦躁不安、拒奶、汗多等非特异性表现。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80404" y="29946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83680" y="297180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查体有心音低、奔马律、肝大等体征。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80404" y="33947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83680" y="337185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胸片示心影增大。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80404" y="37947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83680" y="3771900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床旁超声左室射血分数降低、下腔静脉塌陷 &lt; 50%。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80404" y="41948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83680" y="417195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血脑钠肽增高。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80404" y="45948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83680" y="457200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经强力抗感染、雾化止喘等治疗效果不佳。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278880" y="5067300"/>
            <a:ext cx="5341620" cy="531495"/>
            <a:chOff x="6278880" y="5067300"/>
            <a:chExt cx="5341620" cy="531495"/>
          </a:xfrm>
        </p:grpSpPr>
        <p:sp>
          <p:nvSpPr>
            <p:cNvPr id="29" name="Line 29"/>
            <p:cNvSpPr/>
            <p:nvPr/>
          </p:nvSpPr>
          <p:spPr>
            <a:xfrm>
              <a:off x="6286500" y="506730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278880" y="530542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出现上述情况时应考虑心源性呼吸困难可能。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65404" y="6438900"/>
            <a:ext cx="11061192" cy="333756"/>
            <a:chOff x="565404" y="6438900"/>
            <a:chExt cx="11061192" cy="333756"/>
          </a:xfrm>
        </p:grpSpPr>
        <p:sp>
          <p:nvSpPr>
            <p:cNvPr id="32" name="Line 32"/>
            <p:cNvSpPr/>
            <p:nvPr/>
          </p:nvSpPr>
          <p:spPr>
            <a:xfrm>
              <a:off x="571500" y="64389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65404" y="6537960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儿童急性呼吸困难 · 诊疗思路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0732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10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7784" y="670560"/>
            <a:ext cx="11062716" cy="766191"/>
            <a:chOff x="557784" y="670560"/>
            <a:chExt cx="11062716" cy="766191"/>
          </a:xfrm>
        </p:grpSpPr>
        <p:sp>
          <p:nvSpPr>
            <p:cNvPr id="2" name="TextBox 2"/>
            <p:cNvSpPr txBox="1"/>
            <p:nvPr/>
          </p:nvSpPr>
          <p:spPr>
            <a:xfrm>
              <a:off x="565404" y="670560"/>
              <a:ext cx="14236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/ 病因及表现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7784" y="908685"/>
              <a:ext cx="692301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中毒性与血源性：肺部常“查不出问题”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352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563880" y="1647825"/>
            <a:ext cx="4206240" cy="4427220"/>
            <a:chOff x="563880" y="1647825"/>
            <a:chExt cx="4206240" cy="4427220"/>
          </a:xfrm>
        </p:grpSpPr>
        <p:grpSp>
          <p:nvGrpSpPr>
            <p:cNvPr id="9" name="Group 9"/>
            <p:cNvGrpSpPr/>
            <p:nvPr/>
          </p:nvGrpSpPr>
          <p:grpSpPr>
            <a:xfrm>
              <a:off x="627718" y="1647825"/>
              <a:ext cx="116163" cy="171450"/>
              <a:chOff x="627718" y="1647825"/>
              <a:chExt cx="116163" cy="17145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657225" y="1647825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 cap="rnd">
                <a:solidFill>
                  <a:schemeClr val="accent2"/>
                </a:solidFill>
                <a:round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666750" y="1704975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 cap="rnd">
                <a:solidFill>
                  <a:schemeClr val="accent2"/>
                </a:solidFill>
                <a:round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27718" y="1647825"/>
                <a:ext cx="1161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6163" h="171450">
                    <a:moveTo>
                      <a:pt x="39032" y="0"/>
                    </a:moveTo>
                    <a:lnTo>
                      <a:pt x="39032" y="57150"/>
                    </a:lnTo>
                    <a:lnTo>
                      <a:pt x="932" y="161925"/>
                    </a:lnTo>
                    <a:cubicBezTo>
                      <a:pt x="0" y="163799"/>
                      <a:pt x="3" y="166002"/>
                      <a:pt x="939" y="167875"/>
                    </a:cubicBezTo>
                    <a:cubicBezTo>
                      <a:pt x="1875" y="169747"/>
                      <a:pt x="3636" y="171071"/>
                      <a:pt x="5694" y="171450"/>
                    </a:cubicBezTo>
                    <a:lnTo>
                      <a:pt x="110469" y="171450"/>
                    </a:lnTo>
                    <a:cubicBezTo>
                      <a:pt x="112528" y="171071"/>
                      <a:pt x="114289" y="169747"/>
                      <a:pt x="115225" y="167875"/>
                    </a:cubicBezTo>
                    <a:cubicBezTo>
                      <a:pt x="116161" y="166002"/>
                      <a:pt x="116163" y="163799"/>
                      <a:pt x="115232" y="161925"/>
                    </a:cubicBezTo>
                    <a:lnTo>
                      <a:pt x="77132" y="57150"/>
                    </a:lnTo>
                    <a:lnTo>
                      <a:pt x="77132" y="0"/>
                    </a:lnTo>
                  </a:path>
                </a:pathLst>
              </a:custGeom>
              <a:noFill/>
              <a:ln w="19050" cap="rnd">
                <a:solidFill>
                  <a:schemeClr val="accent2"/>
                </a:solidFill>
                <a:round/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906780" y="166687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中毒性呼吸困难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5404" y="2118360"/>
              <a:ext cx="3716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机制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3880" y="2409825"/>
              <a:ext cx="4206240" cy="10934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各种代谢性疾病引起的代谢性酸中毒、糖尿病酮症酸中毒、休克等，均可使血氢离子浓度升高、pH值降低，刺激外周化学感受器或直接兴奋呼吸中枢所致。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5404" y="3661410"/>
              <a:ext cx="7512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典型表现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3880" y="3952875"/>
              <a:ext cx="39490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深大、急促、规则的呼吸（Kussmaul 呼吸），肺部常无阳性体征。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71500" y="4572000"/>
              <a:ext cx="38100" cy="1447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5142" y="461676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中枢抑制药物中毒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4380" y="488632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呼吸缓慢、变浅，伴节律异常。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5142" y="524541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有机磷中毒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4380" y="5514975"/>
              <a:ext cx="3825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呼吸道大量泡沫样分泌物，兼有呼吸肌无力和中枢驱动衰竭的特点。</a:t>
              </a:r>
            </a:p>
          </p:txBody>
        </p:sp>
      </p:grpSp>
      <p:sp>
        <p:nvSpPr>
          <p:cNvPr id="21" name="Line 21"/>
          <p:cNvSpPr/>
          <p:nvPr/>
        </p:nvSpPr>
        <p:spPr>
          <a:xfrm>
            <a:off x="5905500" y="1676400"/>
            <a:ext cx="9525" cy="4419600"/>
          </a:xfrm>
          <a:custGeom>
            <a:avLst/>
            <a:gdLst/>
            <a:ahLst/>
            <a:cxnLst/>
            <a:rect l="l" t="t" r="r" b="b"/>
            <a:pathLst>
              <a:path w="9525" h="4419600">
                <a:moveTo>
                  <a:pt x="0" y="0"/>
                </a:moveTo>
                <a:lnTo>
                  <a:pt x="0" y="441960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grpSp>
        <p:nvGrpSpPr>
          <p:cNvPr id="30" name="Group 30"/>
          <p:cNvGrpSpPr/>
          <p:nvPr/>
        </p:nvGrpSpPr>
        <p:grpSpPr>
          <a:xfrm>
            <a:off x="6278880" y="1646053"/>
            <a:ext cx="4206240" cy="3838442"/>
            <a:chOff x="6278880" y="1646053"/>
            <a:chExt cx="4206240" cy="3838442"/>
          </a:xfrm>
        </p:grpSpPr>
        <p:sp>
          <p:nvSpPr>
            <p:cNvPr id="22" name="Freeform 22"/>
            <p:cNvSpPr/>
            <p:nvPr/>
          </p:nvSpPr>
          <p:spPr>
            <a:xfrm>
              <a:off x="6326886" y="1646053"/>
              <a:ext cx="147828" cy="178251"/>
            </a:xfrm>
            <a:custGeom>
              <a:avLst/>
              <a:gdLst/>
              <a:ahLst/>
              <a:cxnLst/>
              <a:rect l="l" t="t" r="r" b="b"/>
              <a:pathLst>
                <a:path w="147828" h="178251">
                  <a:moveTo>
                    <a:pt x="31071" y="158201"/>
                  </a:moveTo>
                  <a:cubicBezTo>
                    <a:pt x="55855" y="178251"/>
                    <a:pt x="91983" y="178251"/>
                    <a:pt x="116757" y="158201"/>
                  </a:cubicBezTo>
                  <a:cubicBezTo>
                    <a:pt x="141542" y="138151"/>
                    <a:pt x="147828" y="103832"/>
                    <a:pt x="131674" y="76800"/>
                  </a:cubicBezTo>
                  <a:lnTo>
                    <a:pt x="85096" y="7649"/>
                  </a:lnTo>
                  <a:cubicBezTo>
                    <a:pt x="81096" y="1695"/>
                    <a:pt x="72838" y="0"/>
                    <a:pt x="66656" y="3867"/>
                  </a:cubicBezTo>
                  <a:cubicBezTo>
                    <a:pt x="65104" y="4841"/>
                    <a:pt x="63774" y="6129"/>
                    <a:pt x="62751" y="7649"/>
                  </a:cubicBezTo>
                  <a:lnTo>
                    <a:pt x="16145" y="76800"/>
                  </a:lnTo>
                  <a:cubicBezTo>
                    <a:pt x="0" y="103832"/>
                    <a:pt x="6286" y="138151"/>
                    <a:pt x="31071" y="158201"/>
                  </a:cubicBezTo>
                </a:path>
              </a:pathLst>
            </a:custGeom>
            <a:noFill/>
            <a:ln w="19050" cap="rnd">
              <a:solidFill>
                <a:schemeClr val="accent1"/>
              </a:solidFill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621780" y="166687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血源性呼吸困难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80404" y="2118360"/>
              <a:ext cx="3716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本质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78880" y="2409825"/>
              <a:ext cx="4206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血红蛋白的量和质异常，如严重贫血、一氧化碳中毒、氰化物中毒、摄入亚硝酸盐过量等。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80404" y="3242310"/>
              <a:ext cx="3716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机制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78880" y="3533775"/>
              <a:ext cx="4206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血液携氧能力下降或氧的运输过程受阻，导致组织细胞缺氧，兴奋呼吸中枢。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80404" y="4366260"/>
              <a:ext cx="3716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78880" y="4657725"/>
              <a:ext cx="4015740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呼吸浅而快、心率增快，呼吸心率比例正常；常无呼吸费力及肺部阳性体征，肺部影像无异常；伴有面色苍白或紫绀等血液病体征。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65404" y="6438900"/>
            <a:ext cx="11061192" cy="333756"/>
            <a:chOff x="565404" y="6438900"/>
            <a:chExt cx="11061192" cy="333756"/>
          </a:xfrm>
        </p:grpSpPr>
        <p:sp>
          <p:nvSpPr>
            <p:cNvPr id="31" name="Line 31"/>
            <p:cNvSpPr/>
            <p:nvPr/>
          </p:nvSpPr>
          <p:spPr>
            <a:xfrm>
              <a:off x="571500" y="64389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65404" y="6537960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儿童急性呼吸困难 · 诊疗思路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0732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11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557784" y="670560"/>
            <a:ext cx="11062716" cy="766191"/>
            <a:chOff x="557784" y="670560"/>
            <a:chExt cx="11062716" cy="766191"/>
          </a:xfrm>
        </p:grpSpPr>
        <p:sp>
          <p:nvSpPr>
            <p:cNvPr id="2" name="TextBox 2"/>
            <p:cNvSpPr txBox="1"/>
            <p:nvPr/>
          </p:nvSpPr>
          <p:spPr>
            <a:xfrm>
              <a:off x="565404" y="670560"/>
              <a:ext cx="14236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/ 病因及表现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7784" y="908685"/>
              <a:ext cx="756821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神经精神性：节律异常 vs 主诉多、体征少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352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11114847" y="686924"/>
              <a:ext cx="245496" cy="222747"/>
              <a:chOff x="11114847" y="686924"/>
              <a:chExt cx="245496" cy="222747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11114847" y="686924"/>
                <a:ext cx="122783" cy="222747"/>
              </a:xfrm>
              <a:custGeom>
                <a:avLst/>
                <a:gdLst/>
                <a:ahLst/>
                <a:cxnLst/>
                <a:rect l="l" t="t" r="r" b="b"/>
                <a:pathLst>
                  <a:path w="122783" h="222747">
                    <a:moveTo>
                      <a:pt x="122748" y="34595"/>
                    </a:moveTo>
                    <a:cubicBezTo>
                      <a:pt x="122783" y="22668"/>
                      <a:pt x="116353" y="11659"/>
                      <a:pt x="105948" y="5829"/>
                    </a:cubicBezTo>
                    <a:cubicBezTo>
                      <a:pt x="95544" y="0"/>
                      <a:pt x="82797" y="266"/>
                      <a:pt x="72644" y="6524"/>
                    </a:cubicBezTo>
                    <a:cubicBezTo>
                      <a:pt x="62491" y="12782"/>
                      <a:pt x="56526" y="24049"/>
                      <a:pt x="57058" y="35964"/>
                    </a:cubicBezTo>
                    <a:cubicBezTo>
                      <a:pt x="44012" y="39318"/>
                      <a:pt x="33234" y="48487"/>
                      <a:pt x="27832" y="60827"/>
                    </a:cubicBezTo>
                    <a:cubicBezTo>
                      <a:pt x="22430" y="73167"/>
                      <a:pt x="23004" y="87306"/>
                      <a:pt x="29389" y="99167"/>
                    </a:cubicBezTo>
                    <a:cubicBezTo>
                      <a:pt x="12750" y="104852"/>
                      <a:pt x="0" y="123901"/>
                      <a:pt x="1325" y="144099"/>
                    </a:cubicBezTo>
                    <a:cubicBezTo>
                      <a:pt x="2651" y="164298"/>
                      <a:pt x="19585" y="183270"/>
                      <a:pt x="40343" y="185669"/>
                    </a:cubicBezTo>
                    <a:lnTo>
                      <a:pt x="40452" y="185691"/>
                    </a:lnTo>
                    <a:cubicBezTo>
                      <a:pt x="44087" y="202114"/>
                      <a:pt x="56799" y="215008"/>
                      <a:pt x="73169" y="218878"/>
                    </a:cubicBezTo>
                    <a:cubicBezTo>
                      <a:pt x="89538" y="222747"/>
                      <a:pt x="106678" y="216909"/>
                      <a:pt x="117282" y="203852"/>
                    </a:cubicBezTo>
                  </a:path>
                </a:pathLst>
              </a:custGeom>
              <a:noFill/>
              <a:ln w="21908" cap="rnd">
                <a:solidFill>
                  <a:schemeClr val="accent1"/>
                </a:solidFill>
                <a:round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1237560" y="686924"/>
                <a:ext cx="122783" cy="222747"/>
              </a:xfrm>
              <a:custGeom>
                <a:avLst/>
                <a:gdLst/>
                <a:ahLst/>
                <a:cxnLst/>
                <a:rect l="l" t="t" r="r" b="b"/>
                <a:pathLst>
                  <a:path w="122783" h="222747">
                    <a:moveTo>
                      <a:pt x="35" y="34595"/>
                    </a:moveTo>
                    <a:cubicBezTo>
                      <a:pt x="0" y="22668"/>
                      <a:pt x="6430" y="11659"/>
                      <a:pt x="16834" y="5829"/>
                    </a:cubicBezTo>
                    <a:cubicBezTo>
                      <a:pt x="27239" y="0"/>
                      <a:pt x="39986" y="266"/>
                      <a:pt x="50139" y="6524"/>
                    </a:cubicBezTo>
                    <a:cubicBezTo>
                      <a:pt x="60292" y="12782"/>
                      <a:pt x="66257" y="24049"/>
                      <a:pt x="65725" y="35964"/>
                    </a:cubicBezTo>
                    <a:cubicBezTo>
                      <a:pt x="78771" y="39318"/>
                      <a:pt x="89549" y="48487"/>
                      <a:pt x="94951" y="60827"/>
                    </a:cubicBezTo>
                    <a:cubicBezTo>
                      <a:pt x="100353" y="73167"/>
                      <a:pt x="99779" y="87306"/>
                      <a:pt x="93394" y="99167"/>
                    </a:cubicBezTo>
                    <a:cubicBezTo>
                      <a:pt x="110033" y="104852"/>
                      <a:pt x="122783" y="123901"/>
                      <a:pt x="121457" y="144099"/>
                    </a:cubicBezTo>
                    <a:cubicBezTo>
                      <a:pt x="120132" y="164298"/>
                      <a:pt x="103198" y="183270"/>
                      <a:pt x="82440" y="185669"/>
                    </a:cubicBezTo>
                    <a:lnTo>
                      <a:pt x="82331" y="185691"/>
                    </a:lnTo>
                    <a:cubicBezTo>
                      <a:pt x="78695" y="202114"/>
                      <a:pt x="65984" y="215008"/>
                      <a:pt x="49614" y="218878"/>
                    </a:cubicBezTo>
                    <a:cubicBezTo>
                      <a:pt x="33245" y="222747"/>
                      <a:pt x="16105" y="216909"/>
                      <a:pt x="5501" y="203852"/>
                    </a:cubicBezTo>
                  </a:path>
                </a:pathLst>
              </a:custGeom>
              <a:noFill/>
              <a:ln w="21908" cap="rnd">
                <a:solidFill>
                  <a:schemeClr val="accent1"/>
                </a:solidFill>
                <a:round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1248549" y="737949"/>
                <a:ext cx="9525" cy="12049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0491">
                    <a:moveTo>
                      <a:pt x="0" y="0"/>
                    </a:moveTo>
                    <a:lnTo>
                      <a:pt x="0" y="120491"/>
                    </a:lnTo>
                  </a:path>
                </a:pathLst>
              </a:custGeom>
              <a:noFill/>
              <a:ln w="21908" cap="rnd">
                <a:solidFill>
                  <a:schemeClr val="accent1"/>
                </a:solidFill>
                <a:round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1215688" y="798195"/>
                <a:ext cx="4381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3815" h="9525">
                    <a:moveTo>
                      <a:pt x="0" y="0"/>
                    </a:moveTo>
                    <a:lnTo>
                      <a:pt x="43815" y="0"/>
                    </a:lnTo>
                  </a:path>
                </a:pathLst>
              </a:custGeom>
              <a:noFill/>
              <a:ln w="21908" cap="rnd">
                <a:solidFill>
                  <a:schemeClr val="accent1"/>
                </a:solidFill>
                <a:round/>
              </a:ln>
            </p:spPr>
          </p:sp>
        </p:grpSp>
      </p:grpSp>
      <p:grpSp>
        <p:nvGrpSpPr>
          <p:cNvPr id="18" name="Group 18"/>
          <p:cNvGrpSpPr/>
          <p:nvPr/>
        </p:nvGrpSpPr>
        <p:grpSpPr>
          <a:xfrm>
            <a:off x="560832" y="1737360"/>
            <a:ext cx="3828288" cy="3185160"/>
            <a:chOff x="560832" y="1737360"/>
            <a:chExt cx="3828288" cy="3185160"/>
          </a:xfrm>
        </p:grpSpPr>
        <p:sp>
          <p:nvSpPr>
            <p:cNvPr id="11" name="TextBox 11"/>
            <p:cNvSpPr txBox="1"/>
            <p:nvPr/>
          </p:nvSpPr>
          <p:spPr>
            <a:xfrm>
              <a:off x="565404" y="1737360"/>
              <a:ext cx="21118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3.5 神经精神性呼吸困难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0832" y="2059305"/>
              <a:ext cx="25304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中枢性（器质性）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571500" y="24384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65404" y="27279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病理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3880" y="3019425"/>
              <a:ext cx="3825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脑炎、脑出血、肿瘤等所致颅内压增高，使脑干移位、缺血或受压，破坏呼吸节律的产生与传导通路。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5404" y="40614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表现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3880" y="4352925"/>
              <a:ext cx="3825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导致呼吸节律紊乱：如潮式呼吸、抽泣样呼吸或间停呼吸。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466332" y="1737360"/>
            <a:ext cx="4018788" cy="3461385"/>
            <a:chOff x="6466332" y="1737360"/>
            <a:chExt cx="4018788" cy="3461385"/>
          </a:xfrm>
        </p:grpSpPr>
        <p:sp>
          <p:nvSpPr>
            <p:cNvPr id="19" name="TextBox 19"/>
            <p:cNvSpPr txBox="1"/>
            <p:nvPr/>
          </p:nvSpPr>
          <p:spPr>
            <a:xfrm>
              <a:off x="6470904" y="1737360"/>
              <a:ext cx="21118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3.5 神经精神性呼吸困难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66332" y="2059305"/>
              <a:ext cx="347136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精神性（癔症、焦虑等）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6477000" y="24384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70904" y="27279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体征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69380" y="3019425"/>
              <a:ext cx="4015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呼吸快而浅，但无呼吸困难的客观表现，体检肺部无阳性体征。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70904" y="40614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症状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69380" y="4352925"/>
              <a:ext cx="3825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患儿主诉多、症状重，常因过度通气发生呼吸性碱中毒，出现胸闷、口舌及肢体麻木、手足搐搦等。</a:t>
              </a:r>
            </a:p>
          </p:txBody>
        </p:sp>
      </p:grpSp>
      <p:sp>
        <p:nvSpPr>
          <p:cNvPr id="27" name="Line 27"/>
          <p:cNvSpPr/>
          <p:nvPr/>
        </p:nvSpPr>
        <p:spPr>
          <a:xfrm>
            <a:off x="6096000" y="1676400"/>
            <a:ext cx="9525" cy="3657600"/>
          </a:xfrm>
          <a:custGeom>
            <a:avLst/>
            <a:gdLst/>
            <a:ahLst/>
            <a:cxnLst/>
            <a:rect l="l" t="t" r="r" b="b"/>
            <a:pathLst>
              <a:path w="9525" h="3657600">
                <a:moveTo>
                  <a:pt x="0" y="0"/>
                </a:moveTo>
                <a:lnTo>
                  <a:pt x="0" y="365760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grpSp>
        <p:nvGrpSpPr>
          <p:cNvPr id="30" name="Group 30"/>
          <p:cNvGrpSpPr/>
          <p:nvPr/>
        </p:nvGrpSpPr>
        <p:grpSpPr>
          <a:xfrm>
            <a:off x="562356" y="5676900"/>
            <a:ext cx="11058144" cy="576834"/>
            <a:chOff x="562356" y="5676900"/>
            <a:chExt cx="11058144" cy="576834"/>
          </a:xfrm>
        </p:grpSpPr>
        <p:sp>
          <p:nvSpPr>
            <p:cNvPr id="28" name="Line 28"/>
            <p:cNvSpPr/>
            <p:nvPr/>
          </p:nvSpPr>
          <p:spPr>
            <a:xfrm>
              <a:off x="571500" y="56769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62356" y="5901690"/>
              <a:ext cx="79056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先想器质性，再谈功能性：一个看节律，一个看主诉与体征是否匹配。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65404" y="6438900"/>
            <a:ext cx="11061192" cy="333756"/>
            <a:chOff x="565404" y="6438900"/>
            <a:chExt cx="11061192" cy="333756"/>
          </a:xfrm>
        </p:grpSpPr>
        <p:sp>
          <p:nvSpPr>
            <p:cNvPr id="31" name="Line 31"/>
            <p:cNvSpPr/>
            <p:nvPr/>
          </p:nvSpPr>
          <p:spPr>
            <a:xfrm>
              <a:off x="571500" y="64389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65404" y="6537960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儿童急性呼吸困难 · 诊疗思路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0732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12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57784" y="670560"/>
            <a:ext cx="11062716" cy="766191"/>
            <a:chOff x="557784" y="670560"/>
            <a:chExt cx="11062716" cy="766191"/>
          </a:xfrm>
        </p:grpSpPr>
        <p:sp>
          <p:nvSpPr>
            <p:cNvPr id="2" name="TextBox 2"/>
            <p:cNvSpPr txBox="1"/>
            <p:nvPr/>
          </p:nvSpPr>
          <p:spPr>
            <a:xfrm>
              <a:off x="565404" y="670560"/>
              <a:ext cx="14236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/ 分度与评估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7784" y="908685"/>
              <a:ext cx="64794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分度：轻、中、重三档决定处理级别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352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11139011" y="710565"/>
              <a:ext cx="197168" cy="175260"/>
            </a:xfrm>
            <a:custGeom>
              <a:avLst/>
              <a:gdLst/>
              <a:ahLst/>
              <a:cxnLst/>
              <a:rect l="l" t="t" r="r" b="b"/>
              <a:pathLst>
                <a:path w="197168" h="175260">
                  <a:moveTo>
                    <a:pt x="0" y="87630"/>
                  </a:moveTo>
                  <a:lnTo>
                    <a:pt x="43815" y="87630"/>
                  </a:lnTo>
                  <a:lnTo>
                    <a:pt x="76676" y="175260"/>
                  </a:lnTo>
                  <a:lnTo>
                    <a:pt x="120491" y="0"/>
                  </a:lnTo>
                  <a:lnTo>
                    <a:pt x="153352" y="87630"/>
                  </a:lnTo>
                  <a:lnTo>
                    <a:pt x="197168" y="87630"/>
                  </a:lnTo>
                </a:path>
              </a:pathLst>
            </a:custGeom>
            <a:noFill/>
            <a:ln w="21908" cap="rnd">
              <a:solidFill>
                <a:schemeClr val="accent1"/>
              </a:solidFill>
              <a:round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571500" y="1676400"/>
            <a:ext cx="9334500" cy="4286250"/>
            <a:chOff x="571500" y="1676400"/>
            <a:chExt cx="9334500" cy="4286250"/>
          </a:xfrm>
        </p:grpSpPr>
        <p:sp>
          <p:nvSpPr>
            <p:cNvPr id="7" name="Rectangle 7"/>
            <p:cNvSpPr/>
            <p:nvPr/>
          </p:nvSpPr>
          <p:spPr>
            <a:xfrm>
              <a:off x="571500" y="1676400"/>
              <a:ext cx="9334500" cy="419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3242" y="18164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BF9F4"/>
                  </a:solidFill>
                  <a:latin typeface="+mn-lt"/>
                  <a:ea typeface="+mn-ea"/>
                  <a:cs typeface="+mn-cs"/>
                </a:rPr>
                <a:t>分度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98242" y="18164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BF9F4"/>
                  </a:solidFill>
                  <a:latin typeface="+mn-lt"/>
                  <a:ea typeface="+mn-ea"/>
                  <a:cs typeface="+mn-cs"/>
                </a:rPr>
                <a:t>临床表现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71500" y="2095500"/>
              <a:ext cx="57150" cy="10477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89432" y="238315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轻度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697480" y="2447925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仅有呼吸频率加快，活动、哭闹或吃奶后出现轻度发绀。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571500" y="3143250"/>
              <a:ext cx="9334500" cy="9525"/>
            </a:xfrm>
            <a:custGeom>
              <a:avLst/>
              <a:gdLst/>
              <a:ahLst/>
              <a:cxnLst/>
              <a:rect l="l" t="t" r="r" b="b"/>
              <a:pathLst>
                <a:path w="9334500" h="9525">
                  <a:moveTo>
                    <a:pt x="0" y="0"/>
                  </a:moveTo>
                  <a:lnTo>
                    <a:pt x="9334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71500" y="3143250"/>
              <a:ext cx="57150" cy="14287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89432" y="362140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中度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697480" y="3571875"/>
              <a:ext cx="6111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呼吸明显加快，有呼吸做功增加及辅助呼吸肌参与表现（如三凹征、鼻翼扇动、点头样呼吸），烦躁发绀，吸氧后症状可改善。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571500" y="4572000"/>
              <a:ext cx="9334500" cy="9525"/>
            </a:xfrm>
            <a:custGeom>
              <a:avLst/>
              <a:gdLst/>
              <a:ahLst/>
              <a:cxnLst/>
              <a:rect l="l" t="t" r="r" b="b"/>
              <a:pathLst>
                <a:path w="9334500" h="9525">
                  <a:moveTo>
                    <a:pt x="0" y="0"/>
                  </a:moveTo>
                  <a:lnTo>
                    <a:pt x="9334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71500" y="4572000"/>
              <a:ext cx="57150" cy="1390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89432" y="505015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重度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97480" y="5000625"/>
              <a:ext cx="4777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呼吸困难进一步加重，出现明显紫绀、呼吸节律不规则或呼吸暂停等表现，可伴有昏迷及循环功能不全。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2476500" y="1676400"/>
              <a:ext cx="9525" cy="4286250"/>
            </a:xfrm>
            <a:custGeom>
              <a:avLst/>
              <a:gdLst/>
              <a:ahLst/>
              <a:cxnLst/>
              <a:rect l="l" t="t" r="r" b="b"/>
              <a:pathLst>
                <a:path w="9525" h="4286250">
                  <a:moveTo>
                    <a:pt x="0" y="0"/>
                  </a:moveTo>
                  <a:lnTo>
                    <a:pt x="0" y="428625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9994392" y="2235518"/>
            <a:ext cx="777011" cy="3403282"/>
            <a:chOff x="9994392" y="2235518"/>
            <a:chExt cx="777011" cy="3403282"/>
          </a:xfrm>
        </p:grpSpPr>
        <p:sp>
          <p:nvSpPr>
            <p:cNvPr id="23" name="TextBox 23"/>
            <p:cNvSpPr txBox="1"/>
            <p:nvPr/>
          </p:nvSpPr>
          <p:spPr>
            <a:xfrm>
              <a:off x="9994392" y="22355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处理级别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994392" y="25022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随之升级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10401300" y="2933700"/>
              <a:ext cx="9525" cy="2552700"/>
            </a:xfrm>
            <a:custGeom>
              <a:avLst/>
              <a:gdLst/>
              <a:ahLst/>
              <a:cxnLst/>
              <a:rect l="l" t="t" r="r" b="b"/>
              <a:pathLst>
                <a:path w="9525" h="2552700">
                  <a:moveTo>
                    <a:pt x="0" y="0"/>
                  </a:moveTo>
                  <a:lnTo>
                    <a:pt x="0" y="25527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10325100" y="5448300"/>
              <a:ext cx="152400" cy="190500"/>
            </a:xfrm>
            <a:custGeom>
              <a:avLst/>
              <a:gdLst/>
              <a:ahLst/>
              <a:cxnLst/>
              <a:rect l="l" t="t" r="r" b="b"/>
              <a:pathLst>
                <a:path w="152400" h="190500">
                  <a:moveTo>
                    <a:pt x="0" y="0"/>
                  </a:moveTo>
                  <a:lnTo>
                    <a:pt x="152400" y="0"/>
                  </a:lnTo>
                  <a:lnTo>
                    <a:pt x="76200" y="1905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528554" y="28803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轻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528554" y="53949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重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65404" y="6176010"/>
            <a:ext cx="4882744" cy="234696"/>
            <a:chOff x="565404" y="6176010"/>
            <a:chExt cx="4882744" cy="234696"/>
          </a:xfrm>
        </p:grpSpPr>
        <p:sp>
          <p:nvSpPr>
            <p:cNvPr id="30" name="TextBox 30"/>
            <p:cNvSpPr txBox="1"/>
            <p:nvPr/>
          </p:nvSpPr>
          <p:spPr>
            <a:xfrm>
              <a:off x="565404" y="6176010"/>
              <a:ext cx="48827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分度的核心不是频率数字，而是做功增加、发绀与节律 / 意识改变。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65404" y="6438900"/>
            <a:ext cx="11061192" cy="333756"/>
            <a:chOff x="565404" y="6438900"/>
            <a:chExt cx="11061192" cy="333756"/>
          </a:xfrm>
        </p:grpSpPr>
        <p:sp>
          <p:nvSpPr>
            <p:cNvPr id="32" name="Line 32"/>
            <p:cNvSpPr/>
            <p:nvPr/>
          </p:nvSpPr>
          <p:spPr>
            <a:xfrm>
              <a:off x="571500" y="64389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65404" y="6537960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儿童急性呼吸困难 · 诊疗思路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0732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13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557784" y="670560"/>
            <a:ext cx="11062716" cy="766191"/>
            <a:chOff x="557784" y="670560"/>
            <a:chExt cx="11062716" cy="766191"/>
          </a:xfrm>
        </p:grpSpPr>
        <p:sp>
          <p:nvSpPr>
            <p:cNvPr id="2" name="TextBox 2"/>
            <p:cNvSpPr txBox="1"/>
            <p:nvPr/>
          </p:nvSpPr>
          <p:spPr>
            <a:xfrm>
              <a:off x="565404" y="670560"/>
              <a:ext cx="14236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/ 分度与评估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7784" y="908685"/>
              <a:ext cx="690717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评估：ABCDE 五步快速识别危重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352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1260455" y="708660"/>
              <a:ext cx="188595" cy="157163"/>
              <a:chOff x="11260455" y="708660"/>
              <a:chExt cx="188595" cy="15716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11281410" y="708660"/>
                <a:ext cx="62865" cy="62865"/>
              </a:xfrm>
              <a:custGeom>
                <a:avLst/>
                <a:gdLst/>
                <a:ahLst/>
                <a:cxnLst/>
                <a:rect l="l" t="t" r="r" b="b"/>
                <a:pathLst>
                  <a:path w="62865" h="62865">
                    <a:moveTo>
                      <a:pt x="20955" y="0"/>
                    </a:moveTo>
                    <a:lnTo>
                      <a:pt x="41910" y="0"/>
                    </a:lnTo>
                    <a:cubicBezTo>
                      <a:pt x="53483" y="0"/>
                      <a:pt x="62865" y="9382"/>
                      <a:pt x="62865" y="20955"/>
                    </a:cubicBezTo>
                    <a:lnTo>
                      <a:pt x="62865" y="41910"/>
                    </a:lnTo>
                    <a:cubicBezTo>
                      <a:pt x="62865" y="53483"/>
                      <a:pt x="53483" y="62865"/>
                      <a:pt x="41910" y="62865"/>
                    </a:cubicBezTo>
                    <a:lnTo>
                      <a:pt x="20955" y="62865"/>
                    </a:lnTo>
                    <a:cubicBezTo>
                      <a:pt x="9382" y="62865"/>
                      <a:pt x="0" y="53483"/>
                      <a:pt x="0" y="41910"/>
                    </a:cubicBezTo>
                    <a:lnTo>
                      <a:pt x="0" y="20955"/>
                    </a:lnTo>
                    <a:cubicBezTo>
                      <a:pt x="0" y="9382"/>
                      <a:pt x="9382" y="0"/>
                      <a:pt x="20955" y="0"/>
                    </a:cubicBezTo>
                  </a:path>
                </a:pathLst>
              </a:custGeom>
              <a:noFill/>
              <a:ln w="20955" cap="rnd">
                <a:solidFill>
                  <a:schemeClr val="accent2"/>
                </a:solidFill>
                <a:round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1260455" y="802958"/>
                <a:ext cx="83820" cy="62865"/>
              </a:xfrm>
              <a:custGeom>
                <a:avLst/>
                <a:gdLst/>
                <a:ahLst/>
                <a:cxnLst/>
                <a:rect l="l" t="t" r="r" b="b"/>
                <a:pathLst>
                  <a:path w="83820" h="62865">
                    <a:moveTo>
                      <a:pt x="20955" y="0"/>
                    </a:moveTo>
                    <a:lnTo>
                      <a:pt x="62865" y="0"/>
                    </a:lnTo>
                    <a:cubicBezTo>
                      <a:pt x="74438" y="0"/>
                      <a:pt x="83820" y="9382"/>
                      <a:pt x="83820" y="20955"/>
                    </a:cubicBezTo>
                    <a:lnTo>
                      <a:pt x="83820" y="41910"/>
                    </a:lnTo>
                    <a:cubicBezTo>
                      <a:pt x="83820" y="53483"/>
                      <a:pt x="74438" y="62865"/>
                      <a:pt x="62865" y="62865"/>
                    </a:cubicBezTo>
                    <a:lnTo>
                      <a:pt x="20955" y="62865"/>
                    </a:lnTo>
                    <a:cubicBezTo>
                      <a:pt x="9382" y="62865"/>
                      <a:pt x="0" y="53483"/>
                      <a:pt x="0" y="41910"/>
                    </a:cubicBezTo>
                    <a:lnTo>
                      <a:pt x="0" y="20955"/>
                    </a:lnTo>
                    <a:cubicBezTo>
                      <a:pt x="0" y="9382"/>
                      <a:pt x="9382" y="0"/>
                      <a:pt x="20955" y="0"/>
                    </a:cubicBezTo>
                  </a:path>
                </a:pathLst>
              </a:custGeom>
              <a:noFill/>
              <a:ln w="20955" cap="rnd">
                <a:solidFill>
                  <a:schemeClr val="accent2"/>
                </a:solidFill>
                <a:round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1386185" y="708660"/>
                <a:ext cx="41910" cy="62865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62865">
                    <a:moveTo>
                      <a:pt x="0" y="0"/>
                    </a:moveTo>
                    <a:lnTo>
                      <a:pt x="20955" y="0"/>
                    </a:lnTo>
                    <a:cubicBezTo>
                      <a:pt x="32528" y="0"/>
                      <a:pt x="41910" y="9382"/>
                      <a:pt x="41910" y="20955"/>
                    </a:cubicBezTo>
                    <a:lnTo>
                      <a:pt x="41910" y="41910"/>
                    </a:lnTo>
                    <a:cubicBezTo>
                      <a:pt x="41910" y="53483"/>
                      <a:pt x="32528" y="62865"/>
                      <a:pt x="20955" y="62865"/>
                    </a:cubicBezTo>
                    <a:lnTo>
                      <a:pt x="0" y="62865"/>
                    </a:lnTo>
                  </a:path>
                </a:pathLst>
              </a:custGeom>
              <a:noFill/>
              <a:ln w="20955" cap="rnd">
                <a:solidFill>
                  <a:schemeClr val="accent2"/>
                </a:solidFill>
                <a:round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1386185" y="802958"/>
                <a:ext cx="62865" cy="62865"/>
              </a:xfrm>
              <a:custGeom>
                <a:avLst/>
                <a:gdLst/>
                <a:ahLst/>
                <a:cxnLst/>
                <a:rect l="l" t="t" r="r" b="b"/>
                <a:pathLst>
                  <a:path w="62865" h="62865">
                    <a:moveTo>
                      <a:pt x="0" y="0"/>
                    </a:moveTo>
                    <a:lnTo>
                      <a:pt x="41910" y="0"/>
                    </a:lnTo>
                    <a:cubicBezTo>
                      <a:pt x="53483" y="0"/>
                      <a:pt x="62865" y="9382"/>
                      <a:pt x="62865" y="20955"/>
                    </a:cubicBezTo>
                    <a:lnTo>
                      <a:pt x="62865" y="41910"/>
                    </a:lnTo>
                    <a:cubicBezTo>
                      <a:pt x="62865" y="53483"/>
                      <a:pt x="53483" y="62865"/>
                      <a:pt x="41910" y="62865"/>
                    </a:cubicBezTo>
                    <a:lnTo>
                      <a:pt x="0" y="62865"/>
                    </a:lnTo>
                  </a:path>
                </a:pathLst>
              </a:custGeom>
              <a:noFill/>
              <a:ln w="20955" cap="rnd">
                <a:solidFill>
                  <a:schemeClr val="accent2"/>
                </a:solidFill>
                <a:round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1323320" y="792480"/>
                <a:ext cx="4191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9525">
                    <a:moveTo>
                      <a:pt x="0" y="0"/>
                    </a:moveTo>
                    <a:lnTo>
                      <a:pt x="41910" y="0"/>
                    </a:lnTo>
                  </a:path>
                </a:pathLst>
              </a:custGeom>
              <a:noFill/>
              <a:ln w="20955" cap="rnd">
                <a:solidFill>
                  <a:schemeClr val="accent2"/>
                </a:solidFill>
                <a:round/>
              </a:ln>
            </p:spPr>
          </p:sp>
        </p:grpSp>
      </p:grpSp>
      <p:grpSp>
        <p:nvGrpSpPr>
          <p:cNvPr id="13" name="Group 13"/>
          <p:cNvGrpSpPr/>
          <p:nvPr/>
        </p:nvGrpSpPr>
        <p:grpSpPr>
          <a:xfrm>
            <a:off x="563880" y="1552575"/>
            <a:ext cx="9707880" cy="293370"/>
            <a:chOff x="563880" y="1552575"/>
            <a:chExt cx="9707880" cy="293370"/>
          </a:xfrm>
        </p:grpSpPr>
        <p:sp>
          <p:nvSpPr>
            <p:cNvPr id="12" name="TextBox 12"/>
            <p:cNvSpPr txBox="1"/>
            <p:nvPr/>
          </p:nvSpPr>
          <p:spPr>
            <a:xfrm>
              <a:off x="563880" y="1552575"/>
              <a:ext cx="97078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主要根据病史、临床表现与体征、发展速度，快速识别是否存在危及生命的情况，以指导紧急处理的优先级。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71500" y="1962150"/>
            <a:ext cx="11049000" cy="3429000"/>
            <a:chOff x="571500" y="1962150"/>
            <a:chExt cx="11049000" cy="3429000"/>
          </a:xfrm>
        </p:grpSpPr>
        <p:sp>
          <p:nvSpPr>
            <p:cNvPr id="14" name="Rectangle 14"/>
            <p:cNvSpPr/>
            <p:nvPr/>
          </p:nvSpPr>
          <p:spPr>
            <a:xfrm>
              <a:off x="571500" y="1962150"/>
              <a:ext cx="609600" cy="609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0899" y="2154555"/>
              <a:ext cx="23080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BF9F4"/>
                  </a:solidFill>
                  <a:latin typeface="+mj-lt"/>
                  <a:ea typeface="+mj-ea"/>
                  <a:cs typeface="+mj-cs"/>
                </a:rPr>
                <a:t>A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21892" y="21974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气道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83130" y="218122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评估气道是否通畅，有无异物、喉鸣、喘鸣。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571500" y="2667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71500" y="2667000"/>
              <a:ext cx="609600" cy="609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899" y="2859405"/>
              <a:ext cx="23080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BF9F4"/>
                  </a:solidFill>
                  <a:latin typeface="+mj-lt"/>
                  <a:ea typeface="+mj-ea"/>
                  <a:cs typeface="+mj-cs"/>
                </a:rPr>
                <a:t>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21892" y="290226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呼吸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83130" y="2886075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评估呼吸频率、呼吸做功、有无异常呼吸音及异常体位。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571500" y="33718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71500" y="3371850"/>
              <a:ext cx="609600" cy="609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0899" y="3564255"/>
              <a:ext cx="23080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BF9F4"/>
                  </a:solidFill>
                  <a:latin typeface="+mj-lt"/>
                  <a:ea typeface="+mj-ea"/>
                  <a:cs typeface="+mj-cs"/>
                </a:rPr>
                <a:t>C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21892" y="36071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循环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83130" y="3590925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评估心率、血压、肤色、有无发绀或花纹等循环状态。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571500" y="40767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71500" y="4076700"/>
              <a:ext cx="609600" cy="609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0899" y="4269105"/>
              <a:ext cx="23080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BF9F4"/>
                  </a:solidFill>
                  <a:latin typeface="+mj-lt"/>
                  <a:ea typeface="+mj-ea"/>
                  <a:cs typeface="+mj-cs"/>
                </a:rPr>
                <a:t>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421892" y="43119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神经功能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183130" y="429577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评估意识及反应状态，有无烦躁、嗜睡或昏迷。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571500" y="4781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71500" y="4781550"/>
              <a:ext cx="609600" cy="609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60899" y="4973955"/>
              <a:ext cx="23080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BF9F4"/>
                  </a:solidFill>
                  <a:latin typeface="+mj-lt"/>
                  <a:ea typeface="+mj-ea"/>
                  <a:cs typeface="+mj-cs"/>
                </a:rPr>
                <a:t>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421892" y="50168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暴露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183130" y="5000625"/>
              <a:ext cx="54673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询问病史，全面查体，观察面色，有无皮疹、水肿、外伤等。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63880" y="5638800"/>
            <a:ext cx="11056620" cy="655320"/>
            <a:chOff x="563880" y="5638800"/>
            <a:chExt cx="11056620" cy="655320"/>
          </a:xfrm>
        </p:grpSpPr>
        <p:sp>
          <p:nvSpPr>
            <p:cNvPr id="39" name="Line 39"/>
            <p:cNvSpPr/>
            <p:nvPr/>
          </p:nvSpPr>
          <p:spPr>
            <a:xfrm>
              <a:off x="571500" y="56388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63880" y="5743575"/>
              <a:ext cx="94150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初步评估后，应辨别患儿是否为上气道或下气道梗阻、肺实质/胸膜疾病、心源性呼吸困难，或其他原因；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63880" y="6000750"/>
              <a:ext cx="54875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这一“定位”思路有助于快速明确病因，给予相应的紧急处理。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65404" y="6438900"/>
            <a:ext cx="11061192" cy="333756"/>
            <a:chOff x="565404" y="6438900"/>
            <a:chExt cx="11061192" cy="333756"/>
          </a:xfrm>
        </p:grpSpPr>
        <p:sp>
          <p:nvSpPr>
            <p:cNvPr id="43" name="Line 43"/>
            <p:cNvSpPr/>
            <p:nvPr/>
          </p:nvSpPr>
          <p:spPr>
            <a:xfrm>
              <a:off x="571500" y="64389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65404" y="6537960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儿童急性呼吸困难 · 诊疗思路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0732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14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557784" y="670560"/>
            <a:ext cx="11062716" cy="766191"/>
            <a:chOff x="557784" y="670560"/>
            <a:chExt cx="11062716" cy="766191"/>
          </a:xfrm>
        </p:grpSpPr>
        <p:sp>
          <p:nvSpPr>
            <p:cNvPr id="2" name="TextBox 2"/>
            <p:cNvSpPr txBox="1"/>
            <p:nvPr/>
          </p:nvSpPr>
          <p:spPr>
            <a:xfrm>
              <a:off x="565404" y="670560"/>
              <a:ext cx="16134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 / 病因诊断思路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7784" y="908685"/>
              <a:ext cx="692301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四步法：把“呼吸困难”收窄成一个病因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352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7" name="Group 7"/>
            <p:cNvGrpSpPr/>
            <p:nvPr/>
          </p:nvGrpSpPr>
          <p:grpSpPr>
            <a:xfrm>
              <a:off x="11232832" y="740092"/>
              <a:ext cx="178118" cy="104775"/>
              <a:chOff x="11232832" y="740092"/>
              <a:chExt cx="178118" cy="104775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11232832" y="740092"/>
                <a:ext cx="14668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46685" h="104775">
                    <a:moveTo>
                      <a:pt x="0" y="104775"/>
                    </a:moveTo>
                    <a:lnTo>
                      <a:pt x="41910" y="62865"/>
                    </a:lnTo>
                    <a:lnTo>
                      <a:pt x="73343" y="94297"/>
                    </a:lnTo>
                    <a:lnTo>
                      <a:pt x="146685" y="0"/>
                    </a:lnTo>
                  </a:path>
                </a:pathLst>
              </a:custGeom>
              <a:noFill/>
              <a:ln w="20955" cap="rnd">
                <a:solidFill>
                  <a:schemeClr val="accent1"/>
                </a:solidFill>
                <a:round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1379518" y="740092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>
                    <a:moveTo>
                      <a:pt x="0" y="0"/>
                    </a:moveTo>
                    <a:lnTo>
                      <a:pt x="31432" y="0"/>
                    </a:lnTo>
                    <a:lnTo>
                      <a:pt x="31432" y="31432"/>
                    </a:lnTo>
                  </a:path>
                </a:pathLst>
              </a:custGeom>
              <a:noFill/>
              <a:ln w="20955" cap="rnd">
                <a:solidFill>
                  <a:schemeClr val="accent1"/>
                </a:solidFill>
                <a:round/>
              </a:ln>
            </p:spPr>
          </p:sp>
        </p:grpSp>
      </p:grpSp>
      <p:grpSp>
        <p:nvGrpSpPr>
          <p:cNvPr id="10" name="Group 10"/>
          <p:cNvGrpSpPr/>
          <p:nvPr/>
        </p:nvGrpSpPr>
        <p:grpSpPr>
          <a:xfrm>
            <a:off x="563880" y="1552575"/>
            <a:ext cx="5093780" cy="293370"/>
            <a:chOff x="563880" y="1552575"/>
            <a:chExt cx="5093780" cy="293370"/>
          </a:xfrm>
        </p:grpSpPr>
        <p:sp>
          <p:nvSpPr>
            <p:cNvPr id="9" name="TextBox 9"/>
            <p:cNvSpPr txBox="1"/>
            <p:nvPr/>
          </p:nvSpPr>
          <p:spPr>
            <a:xfrm>
              <a:off x="563880" y="1552575"/>
              <a:ext cx="50937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建议对急性呼吸困难患儿按以下 4 个步骤进行病因分析：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1962150"/>
            <a:ext cx="11049000" cy="893445"/>
            <a:chOff x="571500" y="1962150"/>
            <a:chExt cx="11049000" cy="893445"/>
          </a:xfrm>
        </p:grpSpPr>
        <p:sp>
          <p:nvSpPr>
            <p:cNvPr id="11" name="Rectangle 11"/>
            <p:cNvSpPr/>
            <p:nvPr/>
          </p:nvSpPr>
          <p:spPr>
            <a:xfrm>
              <a:off x="571500" y="1962150"/>
              <a:ext cx="11049000" cy="876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1962150"/>
              <a:ext cx="57150" cy="876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62584" y="2223135"/>
              <a:ext cx="47100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13154" y="2080260"/>
              <a:ext cx="627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第 1 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11630" y="2314575"/>
              <a:ext cx="27715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区分吸气性或呼气性呼吸困难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11630" y="256222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判断病变在胸外大气道还是胸内小气道。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52500" y="2895600"/>
            <a:ext cx="10668000" cy="893445"/>
            <a:chOff x="952500" y="2895600"/>
            <a:chExt cx="10668000" cy="893445"/>
          </a:xfrm>
        </p:grpSpPr>
        <p:sp>
          <p:nvSpPr>
            <p:cNvPr id="18" name="Rectangle 18"/>
            <p:cNvSpPr/>
            <p:nvPr/>
          </p:nvSpPr>
          <p:spPr>
            <a:xfrm>
              <a:off x="952500" y="2895600"/>
              <a:ext cx="10668000" cy="87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952500" y="2895600"/>
              <a:ext cx="57150" cy="876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43584" y="3156585"/>
              <a:ext cx="47100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94154" y="3013710"/>
              <a:ext cx="627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第 2 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92630" y="3248025"/>
              <a:ext cx="25595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区分喘息性疾病与呼吸急促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92630" y="34956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看有无呼气相喘鸣音。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333500" y="3829050"/>
            <a:ext cx="10287000" cy="893445"/>
            <a:chOff x="1333500" y="3829050"/>
            <a:chExt cx="10287000" cy="893445"/>
          </a:xfrm>
        </p:grpSpPr>
        <p:sp>
          <p:nvSpPr>
            <p:cNvPr id="25" name="Rectangle 25"/>
            <p:cNvSpPr/>
            <p:nvPr/>
          </p:nvSpPr>
          <p:spPr>
            <a:xfrm>
              <a:off x="1333500" y="3829050"/>
              <a:ext cx="10287000" cy="876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1333500" y="3829050"/>
              <a:ext cx="57150" cy="876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624584" y="4090035"/>
              <a:ext cx="47100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375154" y="3947160"/>
              <a:ext cx="627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第 3 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373630" y="4181475"/>
              <a:ext cx="19234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识别混合性呼吸困难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373630" y="44291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区分肺源性与心源性。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714500" y="4762500"/>
            <a:ext cx="9906000" cy="893445"/>
            <a:chOff x="1714500" y="4762500"/>
            <a:chExt cx="9906000" cy="893445"/>
          </a:xfrm>
        </p:grpSpPr>
        <p:sp>
          <p:nvSpPr>
            <p:cNvPr id="32" name="Rectangle 32"/>
            <p:cNvSpPr/>
            <p:nvPr/>
          </p:nvSpPr>
          <p:spPr>
            <a:xfrm>
              <a:off x="1714500" y="4762500"/>
              <a:ext cx="9906000" cy="87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1714500" y="4762500"/>
              <a:ext cx="57150" cy="876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005584" y="5023485"/>
              <a:ext cx="47100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04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756154" y="4880610"/>
              <a:ext cx="627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第 4 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754630" y="5114925"/>
              <a:ext cx="19234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注意缓慢型呼吸困难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754630" y="536257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识别神经、肌肉、药物所致通气不足。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65404" y="5833110"/>
            <a:ext cx="4026560" cy="234696"/>
            <a:chOff x="565404" y="5833110"/>
            <a:chExt cx="4026560" cy="234696"/>
          </a:xfrm>
        </p:grpSpPr>
        <p:sp>
          <p:nvSpPr>
            <p:cNvPr id="39" name="TextBox 39"/>
            <p:cNvSpPr txBox="1"/>
            <p:nvPr/>
          </p:nvSpPr>
          <p:spPr>
            <a:xfrm>
              <a:off x="565404" y="5833110"/>
              <a:ext cx="40265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图 1｜急性呼吸困难患儿的病因诊断思路（据原文重绘）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65404" y="6438900"/>
            <a:ext cx="11061192" cy="333756"/>
            <a:chOff x="565404" y="6438900"/>
            <a:chExt cx="11061192" cy="333756"/>
          </a:xfrm>
        </p:grpSpPr>
        <p:sp>
          <p:nvSpPr>
            <p:cNvPr id="41" name="Line 41"/>
            <p:cNvSpPr/>
            <p:nvPr/>
          </p:nvSpPr>
          <p:spPr>
            <a:xfrm>
              <a:off x="571500" y="64389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65404" y="6537960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儿童急性呼吸困难 · 诊疗思路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0732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15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7784" y="670560"/>
            <a:ext cx="11062716" cy="766191"/>
            <a:chOff x="557784" y="670560"/>
            <a:chExt cx="11062716" cy="766191"/>
          </a:xfrm>
        </p:grpSpPr>
        <p:sp>
          <p:nvSpPr>
            <p:cNvPr id="2" name="TextBox 2"/>
            <p:cNvSpPr txBox="1"/>
            <p:nvPr/>
          </p:nvSpPr>
          <p:spPr>
            <a:xfrm>
              <a:off x="565404" y="670560"/>
              <a:ext cx="16134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 / 病因诊断思路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7784" y="908685"/>
              <a:ext cx="688268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第一步与第二步：先定时相，再分喘息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352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571500" y="1638300"/>
            <a:ext cx="11055096" cy="2093595"/>
            <a:chOff x="571500" y="1638300"/>
            <a:chExt cx="11055096" cy="2093595"/>
          </a:xfrm>
        </p:grpSpPr>
        <p:sp>
          <p:nvSpPr>
            <p:cNvPr id="6" name="Rectangle 6"/>
            <p:cNvSpPr/>
            <p:nvPr/>
          </p:nvSpPr>
          <p:spPr>
            <a:xfrm>
              <a:off x="571500" y="1638300"/>
              <a:ext cx="11049000" cy="1943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638300"/>
              <a:ext cx="57150" cy="194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62584" y="1765935"/>
              <a:ext cx="47100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0204" y="2194560"/>
              <a:ext cx="627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第 1 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620908" y="1737360"/>
              <a:ext cx="10056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图 1 · 第 1 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00606" y="1844040"/>
              <a:ext cx="33259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区分吸气性或呼气性呼吸困难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02130" y="2276475"/>
              <a:ext cx="651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吸气性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02130" y="256222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病变在胸外大气道（喉、声门下、气管）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03654" y="2937510"/>
              <a:ext cx="3716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表现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02130" y="3171825"/>
              <a:ext cx="3825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吸气费力、三凹征、吸气性喉鸣，见于急性喉炎、喉软化、气道异物等大气道梗阻性疾病。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850380" y="2276475"/>
              <a:ext cx="651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呼气性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850380" y="2562225"/>
              <a:ext cx="3063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病变在胸内小气道，如支气管哮喘、毛细支气管炎等。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50380" y="3171825"/>
              <a:ext cx="2206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进入第二步继续区分。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71500" y="3771900"/>
            <a:ext cx="11055096" cy="2133600"/>
            <a:chOff x="571500" y="3771900"/>
            <a:chExt cx="11055096" cy="2133600"/>
          </a:xfrm>
        </p:grpSpPr>
        <p:sp>
          <p:nvSpPr>
            <p:cNvPr id="20" name="Rectangle 20"/>
            <p:cNvSpPr/>
            <p:nvPr/>
          </p:nvSpPr>
          <p:spPr>
            <a:xfrm>
              <a:off x="571500" y="3771900"/>
              <a:ext cx="11049000" cy="213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71500" y="3771900"/>
              <a:ext cx="57150" cy="2133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2584" y="3899535"/>
              <a:ext cx="47100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70204" y="4328160"/>
              <a:ext cx="627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第 2 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20908" y="3870960"/>
              <a:ext cx="10056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图 1 · 第 2 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800606" y="3977640"/>
              <a:ext cx="30714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区分喘息性疾病与呼吸急促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02130" y="431482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喘息与呼吸急促有时难以准确区分。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02130" y="469582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有典型哮鸣音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02130" y="4981575"/>
              <a:ext cx="3825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提示存在支气管痉挛或狭窄，患儿多为毛细支气管炎、喘息性支气管炎、支气管哮喘等。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50380" y="469582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无哮鸣音、仅为呼吸急促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50380" y="4981575"/>
              <a:ext cx="3634740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可能为肺间质性或血管性疾病，并警惕肺外及全身性疾病（如中毒性、血源性或精神性呼吸困难）。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02130" y="5553075"/>
              <a:ext cx="60731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判断依据：根据病史与临床表现，以及血气等辅助检查结果可明确。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65404" y="6438900"/>
            <a:ext cx="11061192" cy="333756"/>
            <a:chOff x="565404" y="6438900"/>
            <a:chExt cx="11061192" cy="333756"/>
          </a:xfrm>
        </p:grpSpPr>
        <p:sp>
          <p:nvSpPr>
            <p:cNvPr id="33" name="Line 33"/>
            <p:cNvSpPr/>
            <p:nvPr/>
          </p:nvSpPr>
          <p:spPr>
            <a:xfrm>
              <a:off x="571500" y="64389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65404" y="6537960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儿童急性呼吸困难 · 诊疗思路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0732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16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7784" y="670560"/>
            <a:ext cx="11062716" cy="766191"/>
            <a:chOff x="557784" y="670560"/>
            <a:chExt cx="11062716" cy="766191"/>
          </a:xfrm>
        </p:grpSpPr>
        <p:sp>
          <p:nvSpPr>
            <p:cNvPr id="2" name="TextBox 2"/>
            <p:cNvSpPr txBox="1"/>
            <p:nvPr/>
          </p:nvSpPr>
          <p:spPr>
            <a:xfrm>
              <a:off x="565404" y="670560"/>
              <a:ext cx="16134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 / 病因诊断思路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7784" y="908685"/>
              <a:ext cx="607618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第三步与第四步：混合性与缓慢型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352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571500" y="1638300"/>
            <a:ext cx="11055096" cy="2455545"/>
            <a:chOff x="571500" y="1638300"/>
            <a:chExt cx="11055096" cy="2455545"/>
          </a:xfrm>
        </p:grpSpPr>
        <p:sp>
          <p:nvSpPr>
            <p:cNvPr id="6" name="Rectangle 6"/>
            <p:cNvSpPr/>
            <p:nvPr/>
          </p:nvSpPr>
          <p:spPr>
            <a:xfrm>
              <a:off x="571500" y="1638300"/>
              <a:ext cx="11049000" cy="2362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638300"/>
              <a:ext cx="57150" cy="2362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62584" y="1765935"/>
              <a:ext cx="47100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0204" y="2194560"/>
              <a:ext cx="627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第 3 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00606" y="180594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识别混合性呼吸困难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02130" y="2162175"/>
              <a:ext cx="3634740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当患儿既无典型的吸气性三凹征，也无典型的哮鸣音，而是呈现全程呼吸急促、费力时，为混合性呼吸困难。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02130" y="3000375"/>
              <a:ext cx="3634740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常见于重症肺炎肺实变、大量胸腔积液、心功能不全、急性呼吸窘迫综合征等肺源性疾病，以及各种原因引起的心功能不全。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03654" y="3813810"/>
              <a:ext cx="39296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二者的鉴别要点如前所述（见 3.2 心源性呼吸困难）。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620908" y="1718310"/>
              <a:ext cx="10056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图 1 · 第 3 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59880" y="1857375"/>
              <a:ext cx="3444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吸气、呼气均费力，呼吸音增强或减低，肺部可闻及干湿啰音。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0642" y="2445068"/>
              <a:ext cx="586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肺源性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59880" y="2695575"/>
              <a:ext cx="3444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肺炎、肺实变、大量胸腔积液、急性呼吸窘迫综合征。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60642" y="3283268"/>
              <a:ext cx="586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心源性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59880" y="3533775"/>
              <a:ext cx="3634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心音低、奔马律、肝大、脑钠肽升高、左室射血分数降低。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71500" y="4152900"/>
            <a:ext cx="11055096" cy="1981200"/>
            <a:chOff x="571500" y="4152900"/>
            <a:chExt cx="11055096" cy="1981200"/>
          </a:xfrm>
        </p:grpSpPr>
        <p:sp>
          <p:nvSpPr>
            <p:cNvPr id="21" name="Rectangle 21"/>
            <p:cNvSpPr/>
            <p:nvPr/>
          </p:nvSpPr>
          <p:spPr>
            <a:xfrm>
              <a:off x="571500" y="4152900"/>
              <a:ext cx="11049000" cy="1981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71500" y="4152900"/>
              <a:ext cx="57150" cy="1981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62584" y="4280535"/>
              <a:ext cx="47100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04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70204" y="4709160"/>
              <a:ext cx="627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第 4 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800606" y="432054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注意缓慢型呼吸困难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02130" y="465772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这类呼吸困难容易被忽略，需特别警惕。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02130" y="4962525"/>
              <a:ext cx="3634740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呼吸浅慢、呼吸节律不规整、伴呼吸幅度降低，而非呼吸频率增快——提示神经系统或呼吸肌受累。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20908" y="4271010"/>
              <a:ext cx="10056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图 1 · 第 4 步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11028227" y="4253240"/>
              <a:ext cx="182508" cy="156799"/>
              <a:chOff x="11028227" y="4253240"/>
              <a:chExt cx="182508" cy="156799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11119485" y="4310539"/>
                <a:ext cx="9525" cy="3619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6195">
                    <a:moveTo>
                      <a:pt x="0" y="0"/>
                    </a:moveTo>
                    <a:lnTo>
                      <a:pt x="0" y="36195"/>
                    </a:lnTo>
                  </a:path>
                </a:pathLst>
              </a:custGeom>
              <a:noFill/>
              <a:ln w="18098" cap="rnd">
                <a:solidFill>
                  <a:schemeClr val="accent2"/>
                </a:solidFill>
                <a:round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1028227" y="4253240"/>
                <a:ext cx="182508" cy="156799"/>
              </a:xfrm>
              <a:custGeom>
                <a:avLst/>
                <a:gdLst/>
                <a:ahLst/>
                <a:cxnLst/>
                <a:rect l="l" t="t" r="r" b="b"/>
                <a:pathLst>
                  <a:path w="182508" h="156799">
                    <a:moveTo>
                      <a:pt x="76445" y="8354"/>
                    </a:moveTo>
                    <a:lnTo>
                      <a:pt x="3096" y="130820"/>
                    </a:lnTo>
                    <a:cubicBezTo>
                      <a:pt x="19" y="136148"/>
                      <a:pt x="0" y="142709"/>
                      <a:pt x="3046" y="148055"/>
                    </a:cubicBezTo>
                    <a:cubicBezTo>
                      <a:pt x="6093" y="153401"/>
                      <a:pt x="11747" y="156730"/>
                      <a:pt x="17899" y="156799"/>
                    </a:cubicBezTo>
                    <a:lnTo>
                      <a:pt x="164616" y="156799"/>
                    </a:lnTo>
                    <a:cubicBezTo>
                      <a:pt x="170766" y="156728"/>
                      <a:pt x="176417" y="153401"/>
                      <a:pt x="179463" y="148058"/>
                    </a:cubicBezTo>
                    <a:cubicBezTo>
                      <a:pt x="182508" y="142714"/>
                      <a:pt x="182492" y="136157"/>
                      <a:pt x="179420" y="130829"/>
                    </a:cubicBezTo>
                    <a:lnTo>
                      <a:pt x="106070" y="8345"/>
                    </a:lnTo>
                    <a:cubicBezTo>
                      <a:pt x="102932" y="3164"/>
                      <a:pt x="97315" y="0"/>
                      <a:pt x="91258" y="0"/>
                    </a:cubicBezTo>
                    <a:cubicBezTo>
                      <a:pt x="85201" y="0"/>
                      <a:pt x="79584" y="3164"/>
                      <a:pt x="76445" y="8345"/>
                    </a:cubicBezTo>
                  </a:path>
                </a:pathLst>
              </a:custGeom>
              <a:noFill/>
              <a:ln w="18098" cap="rnd">
                <a:solidFill>
                  <a:schemeClr val="accent2"/>
                </a:solidFill>
                <a:round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1119485" y="437388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0" y="0"/>
                    </a:lnTo>
                  </a:path>
                </a:pathLst>
              </a:custGeom>
              <a:noFill/>
              <a:ln w="18098" cap="rnd">
                <a:solidFill>
                  <a:schemeClr val="accent2"/>
                </a:solidFill>
                <a:round/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6660642" y="46739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常见病因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59880" y="4924425"/>
              <a:ext cx="373951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颅内感染、出血所致颅高压，使用镇痛镇静药物，吉兰-巴雷综合征、重症肌无力等。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59880" y="5553075"/>
              <a:ext cx="3444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结合病史、神经系统体征、头颅影像学检查可进一步鉴别。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65404" y="6438900"/>
            <a:ext cx="11061192" cy="333756"/>
            <a:chOff x="565404" y="6438900"/>
            <a:chExt cx="11061192" cy="333756"/>
          </a:xfrm>
        </p:grpSpPr>
        <p:sp>
          <p:nvSpPr>
            <p:cNvPr id="37" name="Line 37"/>
            <p:cNvSpPr/>
            <p:nvPr/>
          </p:nvSpPr>
          <p:spPr>
            <a:xfrm>
              <a:off x="571500" y="64389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65404" y="6537960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儿童急性呼吸困难 · 诊疗思路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0732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17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557784" y="670560"/>
            <a:ext cx="11062716" cy="766191"/>
            <a:chOff x="557784" y="670560"/>
            <a:chExt cx="11062716" cy="766191"/>
          </a:xfrm>
        </p:grpSpPr>
        <p:sp>
          <p:nvSpPr>
            <p:cNvPr id="2" name="TextBox 2"/>
            <p:cNvSpPr txBox="1"/>
            <p:nvPr/>
          </p:nvSpPr>
          <p:spPr>
            <a:xfrm>
              <a:off x="565404" y="670560"/>
              <a:ext cx="12338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06 / 治疗原则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7784" y="908685"/>
              <a:ext cx="486643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治疗原则：先救命，再治病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352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11128058" y="710565"/>
              <a:ext cx="219075" cy="175260"/>
              <a:chOff x="11128058" y="710565"/>
              <a:chExt cx="219075" cy="17526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11193780" y="710565"/>
                <a:ext cx="87630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87630" h="43815">
                    <a:moveTo>
                      <a:pt x="0" y="43815"/>
                    </a:moveTo>
                    <a:lnTo>
                      <a:pt x="0" y="21908"/>
                    </a:lnTo>
                    <a:cubicBezTo>
                      <a:pt x="0" y="9808"/>
                      <a:pt x="9808" y="0"/>
                      <a:pt x="21907" y="0"/>
                    </a:cubicBezTo>
                    <a:lnTo>
                      <a:pt x="65722" y="0"/>
                    </a:lnTo>
                    <a:cubicBezTo>
                      <a:pt x="77822" y="0"/>
                      <a:pt x="87630" y="9808"/>
                      <a:pt x="87630" y="21908"/>
                    </a:cubicBezTo>
                    <a:lnTo>
                      <a:pt x="87630" y="43815"/>
                    </a:lnTo>
                  </a:path>
                </a:pathLst>
              </a:custGeom>
              <a:noFill/>
              <a:ln w="21908" cap="rnd">
                <a:solidFill>
                  <a:schemeClr val="accent1"/>
                </a:solidFill>
                <a:round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1128058" y="754380"/>
                <a:ext cx="219075" cy="131445"/>
              </a:xfrm>
              <a:custGeom>
                <a:avLst/>
                <a:gdLst/>
                <a:ahLst/>
                <a:cxnLst/>
                <a:rect l="l" t="t" r="r" b="b"/>
                <a:pathLst>
                  <a:path w="219075" h="131445">
                    <a:moveTo>
                      <a:pt x="21907" y="0"/>
                    </a:moveTo>
                    <a:lnTo>
                      <a:pt x="197168" y="0"/>
                    </a:lnTo>
                    <a:cubicBezTo>
                      <a:pt x="209267" y="0"/>
                      <a:pt x="219075" y="9808"/>
                      <a:pt x="219075" y="21907"/>
                    </a:cubicBezTo>
                    <a:lnTo>
                      <a:pt x="219075" y="109538"/>
                    </a:lnTo>
                    <a:cubicBezTo>
                      <a:pt x="219075" y="121637"/>
                      <a:pt x="209267" y="131445"/>
                      <a:pt x="197168" y="131445"/>
                    </a:cubicBezTo>
                    <a:lnTo>
                      <a:pt x="21907" y="131445"/>
                    </a:lnTo>
                    <a:cubicBezTo>
                      <a:pt x="9808" y="131445"/>
                      <a:pt x="0" y="121637"/>
                      <a:pt x="0" y="109538"/>
                    </a:cubicBezTo>
                    <a:lnTo>
                      <a:pt x="0" y="21907"/>
                    </a:lnTo>
                    <a:cubicBezTo>
                      <a:pt x="0" y="9808"/>
                      <a:pt x="9808" y="0"/>
                      <a:pt x="21907" y="0"/>
                    </a:cubicBezTo>
                    <a:close/>
                  </a:path>
                </a:pathLst>
              </a:custGeom>
              <a:noFill/>
              <a:ln w="21908" cap="rnd">
                <a:solidFill>
                  <a:schemeClr val="accent1"/>
                </a:solidFill>
                <a:round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1237595" y="798195"/>
                <a:ext cx="9525" cy="6572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5723">
                    <a:moveTo>
                      <a:pt x="0" y="0"/>
                    </a:moveTo>
                    <a:lnTo>
                      <a:pt x="0" y="65723"/>
                    </a:lnTo>
                  </a:path>
                </a:pathLst>
              </a:custGeom>
              <a:noFill/>
              <a:ln w="21908" cap="rnd">
                <a:solidFill>
                  <a:schemeClr val="accent1"/>
                </a:solidFill>
                <a:round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1204734" y="831056"/>
                <a:ext cx="6572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5723" h="9525">
                    <a:moveTo>
                      <a:pt x="0" y="0"/>
                    </a:moveTo>
                    <a:lnTo>
                      <a:pt x="65723" y="0"/>
                    </a:lnTo>
                  </a:path>
                </a:pathLst>
              </a:custGeom>
              <a:noFill/>
              <a:ln w="21908" cap="rnd">
                <a:solidFill>
                  <a:schemeClr val="accent1"/>
                </a:solidFill>
                <a:round/>
              </a:ln>
            </p:spPr>
          </p:sp>
        </p:grpSp>
      </p:grpSp>
      <p:grpSp>
        <p:nvGrpSpPr>
          <p:cNvPr id="13" name="Group 13"/>
          <p:cNvGrpSpPr/>
          <p:nvPr/>
        </p:nvGrpSpPr>
        <p:grpSpPr>
          <a:xfrm>
            <a:off x="571500" y="1600200"/>
            <a:ext cx="11049000" cy="609600"/>
            <a:chOff x="571500" y="1600200"/>
            <a:chExt cx="11049000" cy="609600"/>
          </a:xfrm>
        </p:grpSpPr>
        <p:sp>
          <p:nvSpPr>
            <p:cNvPr id="11" name="Rectangle 11"/>
            <p:cNvSpPr/>
            <p:nvPr/>
          </p:nvSpPr>
          <p:spPr>
            <a:xfrm>
              <a:off x="571500" y="1600200"/>
              <a:ext cx="11049000" cy="609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5632" y="1764030"/>
              <a:ext cx="954980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BF9F4"/>
                  </a:solidFill>
                  <a:latin typeface="+mn-lt"/>
                  <a:ea typeface="+mn-ea"/>
                  <a:cs typeface="+mn-cs"/>
                </a:rPr>
                <a:t>对所有呼吸困难患儿应遵循“先救命、后治病”的原则，进行严重度评估。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85800" y="2590800"/>
            <a:ext cx="6214110" cy="3331845"/>
            <a:chOff x="685800" y="2590800"/>
            <a:chExt cx="6214110" cy="3331845"/>
          </a:xfrm>
        </p:grpSpPr>
        <p:sp>
          <p:nvSpPr>
            <p:cNvPr id="14" name="Line 14"/>
            <p:cNvSpPr/>
            <p:nvPr/>
          </p:nvSpPr>
          <p:spPr>
            <a:xfrm>
              <a:off x="857250" y="2762250"/>
              <a:ext cx="9525" cy="2762250"/>
            </a:xfrm>
            <a:custGeom>
              <a:avLst/>
              <a:gdLst/>
              <a:ahLst/>
              <a:cxnLst/>
              <a:rect l="l" t="t" r="r" b="b"/>
              <a:pathLst>
                <a:path w="9525" h="2762250">
                  <a:moveTo>
                    <a:pt x="0" y="0"/>
                  </a:moveTo>
                  <a:lnTo>
                    <a:pt x="0" y="276225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685800" y="2590800"/>
              <a:ext cx="342900" cy="3429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7862" y="26898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30630" y="26574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开放气道：保持呼吸道通畅。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85800" y="3219450"/>
              <a:ext cx="342900" cy="3429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57862" y="33185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30630" y="328612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监护：进行心电和氧饱和度监护。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85800" y="3848100"/>
              <a:ext cx="342900" cy="3429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57862" y="39471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30630" y="39147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建立静脉通路。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685800" y="4476750"/>
              <a:ext cx="342900" cy="3429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57862" y="45758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30630" y="4543425"/>
              <a:ext cx="21355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呼吸支持（立即给予）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230630" y="4829175"/>
              <a:ext cx="44157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根据严重程度选择适当的氧疗方式——鼻导管、面罩、经鼻高流量氧疗或无创通气，纠正低氧血症。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85800" y="5353050"/>
              <a:ext cx="342900" cy="342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7862" y="54521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BF9F4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30630" y="5343525"/>
              <a:ext cx="21355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有创机械通气启动指征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30630" y="5629275"/>
              <a:ext cx="56692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意识改变；严重低氧血症；二氧化碳进行性升高；呼吸肌疲劳。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001000" y="2552700"/>
            <a:ext cx="3619500" cy="2781300"/>
            <a:chOff x="8001000" y="2552700"/>
            <a:chExt cx="3619500" cy="2781300"/>
          </a:xfrm>
        </p:grpSpPr>
        <p:sp>
          <p:nvSpPr>
            <p:cNvPr id="33" name="Rectangle 33"/>
            <p:cNvSpPr/>
            <p:nvPr/>
          </p:nvSpPr>
          <p:spPr>
            <a:xfrm>
              <a:off x="8001000" y="2552700"/>
              <a:ext cx="3619500" cy="2781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001000" y="2552700"/>
              <a:ext cx="36195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222742" y="2749868"/>
              <a:ext cx="23036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氧疗方式：按严重程度选择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8258175" y="315277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431530" y="307657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鼻导管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8258175" y="349567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31530" y="34194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面罩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8258175" y="383857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31530" y="37623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经鼻高流量氧疗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8258175" y="418147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31530" y="41052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无创通气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229600" y="4514850"/>
              <a:ext cx="3162300" cy="9525"/>
            </a:xfrm>
            <a:custGeom>
              <a:avLst/>
              <a:gdLst/>
              <a:ahLst/>
              <a:cxnLst/>
              <a:rect l="l" t="t" r="r" b="b"/>
              <a:pathLst>
                <a:path w="3162300" h="9525">
                  <a:moveTo>
                    <a:pt x="0" y="0"/>
                  </a:moveTo>
                  <a:lnTo>
                    <a:pt x="3162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223504" y="4671060"/>
              <a:ext cx="2907792" cy="6537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zh-CN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应及时启动有创机械通气，避免持续的低氧血症或高碳酸血症，导致昏迷甚至呼吸心跳骤停。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65404" y="6438900"/>
            <a:ext cx="11061192" cy="333756"/>
            <a:chOff x="565404" y="6438900"/>
            <a:chExt cx="11061192" cy="333756"/>
          </a:xfrm>
        </p:grpSpPr>
        <p:sp>
          <p:nvSpPr>
            <p:cNvPr id="47" name="Line 47"/>
            <p:cNvSpPr/>
            <p:nvPr/>
          </p:nvSpPr>
          <p:spPr>
            <a:xfrm>
              <a:off x="571500" y="64389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65404" y="6537960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儿童急性呼吸困难 · 诊疗思路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0732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18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7784" y="670560"/>
            <a:ext cx="11062716" cy="766191"/>
            <a:chOff x="557784" y="670560"/>
            <a:chExt cx="11062716" cy="766191"/>
          </a:xfrm>
        </p:grpSpPr>
        <p:sp>
          <p:nvSpPr>
            <p:cNvPr id="2" name="TextBox 2"/>
            <p:cNvSpPr txBox="1"/>
            <p:nvPr/>
          </p:nvSpPr>
          <p:spPr>
            <a:xfrm>
              <a:off x="565404" y="670560"/>
              <a:ext cx="12338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06 / 治疗原则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7784" y="908685"/>
              <a:ext cx="64794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稳定生命体征的同时，快速明确病因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352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63880" y="1571625"/>
            <a:ext cx="1923478" cy="293370"/>
            <a:chOff x="563880" y="1571625"/>
            <a:chExt cx="1923478" cy="293370"/>
          </a:xfrm>
        </p:grpSpPr>
        <p:sp>
          <p:nvSpPr>
            <p:cNvPr id="6" name="TextBox 6"/>
            <p:cNvSpPr txBox="1"/>
            <p:nvPr/>
          </p:nvSpPr>
          <p:spPr>
            <a:xfrm>
              <a:off x="563880" y="1571625"/>
              <a:ext cx="19234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根据病因进行治疗。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71500" y="1905000"/>
            <a:ext cx="11049000" cy="4038600"/>
            <a:chOff x="571500" y="1905000"/>
            <a:chExt cx="11049000" cy="4038600"/>
          </a:xfrm>
        </p:grpSpPr>
        <p:sp>
          <p:nvSpPr>
            <p:cNvPr id="8" name="Rectangle 8"/>
            <p:cNvSpPr/>
            <p:nvPr/>
          </p:nvSpPr>
          <p:spPr>
            <a:xfrm>
              <a:off x="571500" y="1905000"/>
              <a:ext cx="38100" cy="4038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609600" y="1905000"/>
              <a:ext cx="11010900" cy="419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1342" y="20450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BF9F4"/>
                  </a:solidFill>
                  <a:latin typeface="+mn-lt"/>
                  <a:ea typeface="+mn-ea"/>
                  <a:cs typeface="+mn-cs"/>
                </a:rPr>
                <a:t>病因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031742" y="20450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BF9F4"/>
                  </a:solidFill>
                  <a:latin typeface="+mn-lt"/>
                  <a:ea typeface="+mn-ea"/>
                  <a:cs typeface="+mn-cs"/>
                </a:rPr>
                <a:t>治疗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09600" y="2324100"/>
              <a:ext cx="3200400" cy="723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31342" y="26165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喉头水肿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30980" y="260032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给予肾上腺素和糖皮质激素。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" y="3048000"/>
              <a:ext cx="11010900" cy="9525"/>
            </a:xfrm>
            <a:custGeom>
              <a:avLst/>
              <a:gdLst/>
              <a:ahLst/>
              <a:cxnLst/>
              <a:rect l="l" t="t" r="r" b="b"/>
              <a:pathLst>
                <a:path w="11010900" h="9525">
                  <a:moveTo>
                    <a:pt x="0" y="0"/>
                  </a:moveTo>
                  <a:lnTo>
                    <a:pt x="110109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09600" y="3048000"/>
              <a:ext cx="3200400" cy="723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31342" y="33404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气道异物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30980" y="33242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立即行支气管镜取出。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09600" y="3771900"/>
              <a:ext cx="11010900" cy="9525"/>
            </a:xfrm>
            <a:custGeom>
              <a:avLst/>
              <a:gdLst/>
              <a:ahLst/>
              <a:cxnLst/>
              <a:rect l="l" t="t" r="r" b="b"/>
              <a:pathLst>
                <a:path w="11010900" h="9525">
                  <a:moveTo>
                    <a:pt x="0" y="0"/>
                  </a:moveTo>
                  <a:lnTo>
                    <a:pt x="110109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09600" y="3771900"/>
              <a:ext cx="3200400" cy="723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1342" y="406431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大量胸腔积液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30980" y="40481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行胸腔穿刺减压。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09600" y="4495800"/>
              <a:ext cx="11010900" cy="9525"/>
            </a:xfrm>
            <a:custGeom>
              <a:avLst/>
              <a:gdLst/>
              <a:ahLst/>
              <a:cxnLst/>
              <a:rect l="l" t="t" r="r" b="b"/>
              <a:pathLst>
                <a:path w="11010900" h="9525">
                  <a:moveTo>
                    <a:pt x="0" y="0"/>
                  </a:moveTo>
                  <a:lnTo>
                    <a:pt x="110109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09600" y="4495800"/>
              <a:ext cx="3200400" cy="723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1342" y="47882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重症肺炎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030980" y="47720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尽快经验性抗感染治疗。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09600" y="5219700"/>
              <a:ext cx="11010900" cy="9525"/>
            </a:xfrm>
            <a:custGeom>
              <a:avLst/>
              <a:gdLst/>
              <a:ahLst/>
              <a:cxnLst/>
              <a:rect l="l" t="t" r="r" b="b"/>
              <a:pathLst>
                <a:path w="11010900" h="9525">
                  <a:moveTo>
                    <a:pt x="0" y="0"/>
                  </a:moveTo>
                  <a:lnTo>
                    <a:pt x="110109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09600" y="5219700"/>
              <a:ext cx="3200400" cy="723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1342" y="55121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心源性呼吸困难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030980" y="549592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强调利尿、扩血管、强心等治疗。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3810000" y="1905000"/>
              <a:ext cx="9525" cy="4038600"/>
            </a:xfrm>
            <a:custGeom>
              <a:avLst/>
              <a:gdLst/>
              <a:ahLst/>
              <a:cxnLst/>
              <a:rect l="l" t="t" r="r" b="b"/>
              <a:pathLst>
                <a:path w="9525" h="4038600">
                  <a:moveTo>
                    <a:pt x="0" y="0"/>
                  </a:moveTo>
                  <a:lnTo>
                    <a:pt x="0" y="40386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565404" y="6438900"/>
            <a:ext cx="11061192" cy="333756"/>
            <a:chOff x="565404" y="6438900"/>
            <a:chExt cx="11061192" cy="333756"/>
          </a:xfrm>
        </p:grpSpPr>
        <p:sp>
          <p:nvSpPr>
            <p:cNvPr id="33" name="Line 33"/>
            <p:cNvSpPr/>
            <p:nvPr/>
          </p:nvSpPr>
          <p:spPr>
            <a:xfrm>
              <a:off x="571500" y="64389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65404" y="6537960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儿童急性呼吸困难 · 诊疗思路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0732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19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7784" y="670560"/>
            <a:ext cx="11062716" cy="766191"/>
            <a:chOff x="557784" y="670560"/>
            <a:chExt cx="11062716" cy="766191"/>
          </a:xfrm>
        </p:grpSpPr>
        <p:sp>
          <p:nvSpPr>
            <p:cNvPr id="2" name="TextBox 2"/>
            <p:cNvSpPr txBox="1"/>
            <p:nvPr/>
          </p:nvSpPr>
          <p:spPr>
            <a:xfrm>
              <a:off x="565404" y="670560"/>
              <a:ext cx="12338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07 / 呼吸障碍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7784" y="908685"/>
              <a:ext cx="651976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呼吸障碍：把“慢、浅、弱”也纳进来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352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65404" y="1666875"/>
            <a:ext cx="9259443" cy="2084070"/>
            <a:chOff x="565404" y="1666875"/>
            <a:chExt cx="9259443" cy="2084070"/>
          </a:xfrm>
        </p:grpSpPr>
        <p:sp>
          <p:nvSpPr>
            <p:cNvPr id="6" name="TextBox 6"/>
            <p:cNvSpPr txBox="1"/>
            <p:nvPr/>
          </p:nvSpPr>
          <p:spPr>
            <a:xfrm>
              <a:off x="565404" y="16992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44880" y="1666875"/>
              <a:ext cx="7444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根据呼吸困难的定义，呼吸困难既包括呼吸急促（窘迫），又包括呼吸浅慢、呼吸肌麻痹所致空气不够用的窒息感。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65404" y="23850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4880" y="2352675"/>
              <a:ext cx="84963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成人和较大儿童能主动描述这种不适感，而婴幼儿不能准确表达，需要医生依赖客观体征判断。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5404" y="28041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4880" y="2771775"/>
              <a:ext cx="88799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但临床上的普遍认知是“呼吸困难 = 呼吸急促/窘迫”，对表现为“慢、浅、弱”的呼吸困难容易忽视。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5404" y="32232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4880" y="3190875"/>
              <a:ext cx="78447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为此，本文参照心律失常的分类（快速型和缓慢型），提出“呼吸障碍”这一名词，包括快速型和缓慢型 2 个类型。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71500" y="4019550"/>
            <a:ext cx="5334000" cy="1866900"/>
            <a:chOff x="571500" y="4019550"/>
            <a:chExt cx="5334000" cy="1866900"/>
          </a:xfrm>
        </p:grpSpPr>
        <p:sp>
          <p:nvSpPr>
            <p:cNvPr id="15" name="Rectangle 15"/>
            <p:cNvSpPr/>
            <p:nvPr/>
          </p:nvSpPr>
          <p:spPr>
            <a:xfrm>
              <a:off x="571500" y="4019550"/>
              <a:ext cx="5334000" cy="18669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71500" y="4019550"/>
              <a:ext cx="5334000" cy="38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2584" y="4318635"/>
              <a:ext cx="44988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627632" y="4364355"/>
              <a:ext cx="20991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快速型呼吸障碍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68680" y="492442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即表现为呼吸急促或费力的呼吸困难。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876300" y="5334000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70204" y="55092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临床最熟悉的一半。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286500" y="4019550"/>
            <a:ext cx="5334000" cy="1866900"/>
            <a:chOff x="6286500" y="4019550"/>
            <a:chExt cx="5334000" cy="1866900"/>
          </a:xfrm>
        </p:grpSpPr>
        <p:sp>
          <p:nvSpPr>
            <p:cNvPr id="23" name="Rectangle 23"/>
            <p:cNvSpPr/>
            <p:nvPr/>
          </p:nvSpPr>
          <p:spPr>
            <a:xfrm>
              <a:off x="6286500" y="4019550"/>
              <a:ext cx="5334000" cy="1866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4019550"/>
              <a:ext cx="53340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77584" y="4318635"/>
              <a:ext cx="44988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42632" y="4364355"/>
              <a:ext cx="20991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缓慢型呼吸障碍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83680" y="492442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以呼吸频率减慢、通气不足为特征。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591300" y="5334000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85204" y="55092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最容易被忽略的一半。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11181539" y="5454661"/>
              <a:ext cx="192114" cy="165051"/>
              <a:chOff x="11181539" y="5454661"/>
              <a:chExt cx="192114" cy="165051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11277600" y="5514975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 cap="rnd">
                <a:solidFill>
                  <a:schemeClr val="accent2"/>
                </a:solidFill>
                <a:round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1181539" y="5454661"/>
                <a:ext cx="192114" cy="165051"/>
              </a:xfrm>
              <a:custGeom>
                <a:avLst/>
                <a:gdLst/>
                <a:ahLst/>
                <a:cxnLst/>
                <a:rect l="l" t="t" r="r" b="b"/>
                <a:pathLst>
                  <a:path w="192114" h="165051">
                    <a:moveTo>
                      <a:pt x="80468" y="8794"/>
                    </a:moveTo>
                    <a:lnTo>
                      <a:pt x="3259" y="137705"/>
                    </a:lnTo>
                    <a:cubicBezTo>
                      <a:pt x="20" y="143314"/>
                      <a:pt x="0" y="150220"/>
                      <a:pt x="3207" y="155848"/>
                    </a:cubicBezTo>
                    <a:cubicBezTo>
                      <a:pt x="6413" y="161475"/>
                      <a:pt x="12365" y="164979"/>
                      <a:pt x="18842" y="165051"/>
                    </a:cubicBezTo>
                    <a:lnTo>
                      <a:pt x="173280" y="165051"/>
                    </a:lnTo>
                    <a:cubicBezTo>
                      <a:pt x="179753" y="164977"/>
                      <a:pt x="185702" y="161474"/>
                      <a:pt x="188908" y="155850"/>
                    </a:cubicBezTo>
                    <a:cubicBezTo>
                      <a:pt x="192114" y="150226"/>
                      <a:pt x="192097" y="143323"/>
                      <a:pt x="188863" y="137715"/>
                    </a:cubicBezTo>
                    <a:lnTo>
                      <a:pt x="111653" y="8784"/>
                    </a:lnTo>
                    <a:cubicBezTo>
                      <a:pt x="108349" y="3331"/>
                      <a:pt x="102437" y="0"/>
                      <a:pt x="96061" y="0"/>
                    </a:cubicBezTo>
                    <a:cubicBezTo>
                      <a:pt x="89685" y="0"/>
                      <a:pt x="83772" y="3331"/>
                      <a:pt x="80468" y="8784"/>
                    </a:cubicBezTo>
                  </a:path>
                </a:pathLst>
              </a:custGeom>
              <a:noFill/>
              <a:ln w="19050" cap="rnd">
                <a:solidFill>
                  <a:schemeClr val="accent2"/>
                </a:solidFill>
                <a:round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1277600" y="55816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" y="0"/>
                    </a:lnTo>
                  </a:path>
                </a:pathLst>
              </a:custGeom>
              <a:noFill/>
              <a:ln w="19050" cap="rnd">
                <a:solidFill>
                  <a:schemeClr val="accent2"/>
                </a:solidFill>
                <a:round/>
              </a:ln>
            </p:spPr>
          </p:sp>
        </p:grpSp>
      </p:grpSp>
      <p:grpSp>
        <p:nvGrpSpPr>
          <p:cNvPr id="38" name="Group 38"/>
          <p:cNvGrpSpPr/>
          <p:nvPr/>
        </p:nvGrpSpPr>
        <p:grpSpPr>
          <a:xfrm>
            <a:off x="565404" y="6438900"/>
            <a:ext cx="11061192" cy="333756"/>
            <a:chOff x="565404" y="6438900"/>
            <a:chExt cx="11061192" cy="333756"/>
          </a:xfrm>
        </p:grpSpPr>
        <p:sp>
          <p:nvSpPr>
            <p:cNvPr id="35" name="Line 35"/>
            <p:cNvSpPr/>
            <p:nvPr/>
          </p:nvSpPr>
          <p:spPr>
            <a:xfrm>
              <a:off x="571500" y="64389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65404" y="6537960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儿童急性呼吸困难 · 诊疗思路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0732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20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7784" y="670560"/>
            <a:ext cx="11062716" cy="766191"/>
            <a:chOff x="557784" y="670560"/>
            <a:chExt cx="11062716" cy="766191"/>
          </a:xfrm>
        </p:grpSpPr>
        <p:sp>
          <p:nvSpPr>
            <p:cNvPr id="2" name="TextBox 2"/>
            <p:cNvSpPr txBox="1"/>
            <p:nvPr/>
          </p:nvSpPr>
          <p:spPr>
            <a:xfrm>
              <a:off x="565404" y="670560"/>
              <a:ext cx="12338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07 / 呼吸障碍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7784" y="908685"/>
              <a:ext cx="688268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缓慢型呼吸障碍：最容易被漏掉的一类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352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63880" y="1718310"/>
            <a:ext cx="4659630" cy="2947035"/>
            <a:chOff x="563880" y="1718310"/>
            <a:chExt cx="4659630" cy="2947035"/>
          </a:xfrm>
        </p:grpSpPr>
        <p:sp>
          <p:nvSpPr>
            <p:cNvPr id="6" name="TextBox 6"/>
            <p:cNvSpPr txBox="1"/>
            <p:nvPr/>
          </p:nvSpPr>
          <p:spPr>
            <a:xfrm>
              <a:off x="565404" y="1718310"/>
              <a:ext cx="941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特征与表现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63880" y="200977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以呼吸频率减慢、通气不足为特征。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63880" y="231457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患儿常表现为安静、少动、咳声低微、吸吮无力等。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5404" y="2804160"/>
              <a:ext cx="3716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病因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3880" y="3076575"/>
              <a:ext cx="4015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主要是神经肌肉疾病、电解质紊乱以及药物因素（如麻醉手术中阿片类或镇静药物的应用）。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5404" y="3832860"/>
              <a:ext cx="3716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趋势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3880" y="4105275"/>
              <a:ext cx="3825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随着临床上操作和新技术应用的增多，缓慢型呼吸障碍可能会更加常见。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001000" y="1714500"/>
            <a:ext cx="3619500" cy="2209800"/>
            <a:chOff x="8001000" y="1714500"/>
            <a:chExt cx="3619500" cy="2209800"/>
          </a:xfrm>
        </p:grpSpPr>
        <p:sp>
          <p:nvSpPr>
            <p:cNvPr id="14" name="Rectangle 14"/>
            <p:cNvSpPr/>
            <p:nvPr/>
          </p:nvSpPr>
          <p:spPr>
            <a:xfrm>
              <a:off x="8001000" y="1714500"/>
              <a:ext cx="3619500" cy="2209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261604" y="1927860"/>
              <a:ext cx="3716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意义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58556" y="2225040"/>
              <a:ext cx="3218688" cy="13807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rgbClr val="FBF9F4"/>
                  </a:solidFill>
                  <a:latin typeface="+mn-lt"/>
                  <a:ea typeface="+mn-ea"/>
                  <a:cs typeface="+mn-cs"/>
                </a:rPr>
                <a:t>提出这个概念，是提醒广大儿科医生加强对缓慢型呼吸障碍的认识和重视，避免遗漏而导致原本不难挽回的严重后果。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71500" y="4762500"/>
            <a:ext cx="11049000" cy="1200150"/>
            <a:chOff x="571500" y="4762500"/>
            <a:chExt cx="11049000" cy="1200150"/>
          </a:xfrm>
        </p:grpSpPr>
        <p:sp>
          <p:nvSpPr>
            <p:cNvPr id="18" name="Rectangle 18"/>
            <p:cNvSpPr/>
            <p:nvPr/>
          </p:nvSpPr>
          <p:spPr>
            <a:xfrm>
              <a:off x="571500" y="4762500"/>
              <a:ext cx="11049000" cy="12001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94004" y="4918710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带回床旁的三句话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3242" y="5302568"/>
              <a:ext cx="9392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先看危重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2480" y="5591175"/>
              <a:ext cx="24368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ABCDE 与轻 / 中 / 重分度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22242" y="5302568"/>
              <a:ext cx="9392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再定时相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221480" y="5591175"/>
              <a:ext cx="22970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吸气性 / 呼气性 / 混合性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51242" y="5302568"/>
              <a:ext cx="9392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③ 别漏慢型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50480" y="559117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浅慢、节律不整、呼吸暂停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000500" y="4914900"/>
              <a:ext cx="9525" cy="895350"/>
            </a:xfrm>
            <a:custGeom>
              <a:avLst/>
              <a:gdLst/>
              <a:ahLst/>
              <a:cxnLst/>
              <a:rect l="l" t="t" r="r" b="b"/>
              <a:pathLst>
                <a:path w="9525" h="895350">
                  <a:moveTo>
                    <a:pt x="0" y="0"/>
                  </a:moveTo>
                  <a:lnTo>
                    <a:pt x="0" y="89535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7429500" y="4914900"/>
              <a:ext cx="9525" cy="895350"/>
            </a:xfrm>
            <a:custGeom>
              <a:avLst/>
              <a:gdLst/>
              <a:ahLst/>
              <a:cxnLst/>
              <a:rect l="l" t="t" r="r" b="b"/>
              <a:pathLst>
                <a:path w="9525" h="895350">
                  <a:moveTo>
                    <a:pt x="0" y="0"/>
                  </a:moveTo>
                  <a:lnTo>
                    <a:pt x="0" y="89535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565404" y="6438900"/>
            <a:ext cx="11061192" cy="333756"/>
            <a:chOff x="565404" y="6438900"/>
            <a:chExt cx="11061192" cy="333756"/>
          </a:xfrm>
        </p:grpSpPr>
        <p:sp>
          <p:nvSpPr>
            <p:cNvPr id="29" name="Line 29"/>
            <p:cNvSpPr/>
            <p:nvPr/>
          </p:nvSpPr>
          <p:spPr>
            <a:xfrm>
              <a:off x="571500" y="64389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65404" y="6537960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儿童急性呼吸困难 · 诊疗思路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0732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B6A6B"/>
                  </a:solidFill>
                  <a:latin typeface="+mn-lt"/>
                  <a:ea typeface="+mn-ea"/>
                  <a:cs typeface="+mn-cs"/>
                </a:rPr>
                <a:t>21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ediatric-acute-dyspnea">
  <a:themeElements>
    <a:clrScheme name="pediatric-acute-dyspnea">
      <a:dk1>
        <a:srgbClr val="1E2A2C"/>
      </a:dk1>
      <a:lt1>
        <a:srgbClr val="FBF9F4"/>
      </a:lt1>
      <a:dk2>
        <a:srgbClr val="1E2A2C"/>
      </a:dk2>
      <a:lt2>
        <a:srgbClr val="F0EBE0"/>
      </a:lt2>
      <a:accent1>
        <a:srgbClr val="123A46"/>
      </a:accent1>
      <a:accent2>
        <a:srgbClr val="B3402F"/>
      </a:accent2>
      <a:accent3>
        <a:srgbClr val="6E8A8F"/>
      </a:accent3>
      <a:accent4>
        <a:srgbClr val="123A46"/>
      </a:accent4>
      <a:accent5>
        <a:srgbClr val="F5F1E8"/>
      </a:accent5>
      <a:accent6>
        <a:srgbClr val="D5CCB9"/>
      </a:accent6>
      <a:hlink>
        <a:srgbClr val="B3402F"/>
      </a:hlink>
      <a:folHlink>
        <a:srgbClr val="6E8A8F"/>
      </a:folHlink>
    </a:clrScheme>
    <a:fontScheme name="pediatric-acute-dyspnea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ediatric-acute-dyspne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ediatric-acute-dyspnea">
  <a:themeElements>
    <a:clrScheme name="pediatric-acute-dyspnea">
      <a:dk1>
        <a:srgbClr val="1E2A2C"/>
      </a:dk1>
      <a:lt1>
        <a:srgbClr val="FBF9F4"/>
      </a:lt1>
      <a:dk2>
        <a:srgbClr val="1E2A2C"/>
      </a:dk2>
      <a:lt2>
        <a:srgbClr val="F0EBE0"/>
      </a:lt2>
      <a:accent1>
        <a:srgbClr val="123A46"/>
      </a:accent1>
      <a:accent2>
        <a:srgbClr val="B3402F"/>
      </a:accent2>
      <a:accent3>
        <a:srgbClr val="6E8A8F"/>
      </a:accent3>
      <a:accent4>
        <a:srgbClr val="123A46"/>
      </a:accent4>
      <a:accent5>
        <a:srgbClr val="F5F1E8"/>
      </a:accent5>
      <a:accent6>
        <a:srgbClr val="D5CCB9"/>
      </a:accent6>
      <a:hlink>
        <a:srgbClr val="B3402F"/>
      </a:hlink>
      <a:folHlink>
        <a:srgbClr val="6E8A8F"/>
      </a:folHlink>
    </a:clrScheme>
    <a:fontScheme name="pediatric-acute-dyspnea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ediatric-acute-dyspne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2026-10-19T12:45:31Z</dcterms:created>
  <dcterms:modified xsi:type="dcterms:W3CDTF">2026-10-19T12:45:31Z</dcterms:modified>
  <cp:category/>
  <cp:contentStatus/>
</cp:coreProperties>
</file>