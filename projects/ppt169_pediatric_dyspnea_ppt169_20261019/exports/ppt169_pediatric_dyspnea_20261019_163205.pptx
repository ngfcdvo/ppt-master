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  <Relationship Id="rId2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开场先看这条波形：左边快而乱，右边慢而浅。临床上真正容易漏掉的，恰恰是右边这一型。所以今天的主线只有一句——先救命，再定位。前半段讲怎么分层、怎么找病因，后半段讲处理与收束。内容来自中国实用儿科杂志2026年第9期，作者朱昱瑶、付红敏，结合我们科室的常见场景来展开。</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为什么儿童"塌得这么快"？四个解剖生理特点：气道管径细、气道阻力高、呼吸功能储备低、氧代谢需求高。同样程度的黏膜水肿，成人可能只是鼻塞，儿童可能已经明显呼吸困难。所以面对儿童，评估要更早、复评要更勤，不能等典型三凹征出现才行动，那时代偿窗往往已经很窄。</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今天六个部分：定义与分类、病理生理、病因与临床谱、分度与ABCDE、四步诊断法、治疗原则。第五部分是重点，会用"呼吸障碍"这个概念把快速型和缓慢型串起来。提醒一句：这六部分不是并列的知识点，而是一条从识别到处理的链路，后面的每一步都建立在前一步之上。</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定义抓住两个关键词：主观体验和客观体征。患者说"空气不足、呼吸费力、窒息感"，这是主观；张口呼吸、呻吟、三凹征，这是客观。请记住两个不等号：呼吸困难不等于呼吸急促，也不等于肺部一定有阳性体征。婴幼儿说不清、量不准，判断主要靠看。</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分类三个维度：病程、病因、时相。病程以3周为界分急性和慢性；病因分五类，肺源性最常见，但肺外四类必须想到；时相分吸气性、呼气性和混合性。三个维度不是三套分类，而是同一患者的三个切面，问诊时要同时推进，不能只走一条线。</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一次呼吸要经过五个环节：感受器、传入、呼吸中枢、传出、呼吸肌。任何一个环节出错都可能表现为呼吸困难。反过来，看到呼吸困难时，也要顺着这条链去找断点：是感受器失灵、气道不通，还是中枢和神经肌肉出了问题。环路中间这句话，是这一部分的核心。</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四条通路：缺氧与高碳酸、阻力增加、呼吸肌受损、驱动异常。前两条最常见，后两条最容易被忽略。特别注意第四条：呼吸驱动异常时，患者可能既不快也不费力，只是节律乱了、人变困了，这正是缓慢型呼吸困难的核心机制，也是后面反复强调"别漏慢型"的由来。</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时相是最快的解剖定位器。吸气性找"堵"，问题多在喉、声门下和气管；呼气性找"缩"，问题在支气管和细支气管；混合性找"实变、积液或心源"。表里每一行都有提示线索，查体时对着找，比凭印象可靠。注意喉鸣与哮鸣是两回事，相别听错，定位就会跑偏。</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肺外四类病因：心源性、中毒性、血源性、神经精神性。共同特点是肺部体征可能阴性，或与病情不相符。遇到这种情况，必须主动往肺外想，而不是反复听肺。心源性那一行的最后一项"治疗反应"很实用：强力抗感染、雾化止喘都无效时，要回头查心脏。</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心源性和肺源性最难分。七个鉴别点里，我最看重三个：精神状态与肺部病变不匹配、床旁超声看LVEF和下腔静脉塌陷、以及对治疗的反应。心源性呼吸困难的患儿，往往"看起来比片子重"。治疗无效本身，就是最强的心源性提示，别把它当成病程还没到。</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分度决定处置速度。轻度只有频率加快；中度出现辅助肌参与、三凹征、鼻翼扇动和烦躁发绀，吸氧后可改善；重度出现明显紫绀、节律不规则或呼吸暂停，可伴昏迷及循环功能不全，氧疗难以纠正，需要呼吸支持。分度不是背标准，是决定叫不叫人、推不推抢救车。</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ABCDE五分钟分层：气道能不能发声，呼吸频率和三凹征，循环灌注和血压，意识反应，最后暴露找皮疹、外伤和胸壁畸形。每一柱下面都写了危险信号。记住每柱的落点：先保通畅、先保氧合、先保灌注、先保反应，最后才是找病因。</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四步法：起病与病程、时相定位、伴随症状、既往史与治疗反应。四步不是一次完成，信息不足就回到床边重复评估，虚线箭头就是"回头"的意思。临床上最怕问完一遍就下结论，而患儿在这段时间里可能已经变了。诊断是动态的，四步也要跟着动态走。</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吸气性和呼气性，看动作也看体征。吸气性：三凹征、喉鸣、犬吠样咳、声音嘶哑，定位在胸外大气道；呼气性：呼气延长、呼气相哮鸣、肺过度充气，定位在胸内小气道。两者都可以出现三凹征，所以不能只凭一个体征定部位，要结合相别和声音特点。</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两个高危特征。喘鸣提示气道已经明显狭窄，但声音变弱不一定是好转，可能是气流更差。呼吸急促既是代偿，也是衰竭前的信号；由快转慢、变浅，往往比持续增快更危险。数频率的同时，一定要看呼吸做功和节律，三者合起来才是完整的呼吸状态。</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混合性呼吸困难，吸呼都费力，时相切不开。常见三类：肺实质、胸膜、心源性。到这一步，不要再纠结吸气还是呼气，而要转向病史、体征和床旁检查定病因。这也是四步法里"伴随症状"和"既往史"真正发挥作用的地方，检查要跟着病因假设走。</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是今天最想强调的一页。缓慢型呼吸困难，呼吸不快，甚至变慢变浅，唯一线索可能是嗜睡、反应差、发绀。对照表里看得很清楚：快型频率快、做功大、多烦躁；慢型频率正常或减慢、做功可减弱、意识改变。别把"安静"当成好转，安静的患儿更要靠近床边看。</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急救六步：开放气道、氧疗与通气、监护与通路、对因处理、循环支持、转运与复评。顺序不是死的，气道和呼吸永远优先于病因诊断。临床上允许"边处理边找原因"，但不允许"等病因明确再处理"。每一步做完都要回头看前一步是否有效，尤其是通气和氧合。</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不同病因，处理重点不同。气道梗阻先保通畅；下气道痉挛解痉加抗炎；肺实质病变处理肺本身；肺外原因治肺外，呼吸往往随之缓解。一句话：病因处理与支持治疗并行，不要等病因明确才开始氧疗和通气。这条原则，比记住任何一张病因表都更重要。</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收束三句话：先救命，A、B、C先稳住；再定位，时相、病因、严重度三线并行；别漏慢型，呼吸不快、意识改变同样危重。谢谢大家，接下来欢迎结合自己遇到的病例一起讨论，特别是那些"看起来不重、后来却突然恶化"的患儿。</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pediatric_dyspnea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pediatric_dyspnea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361950" y="723900"/>
            <a:ext cx="5158740" cy="3185351"/>
            <a:chOff x="361950" y="723900"/>
            <a:chExt cx="5158740" cy="3185351"/>
          </a:xfrm>
        </p:grpSpPr>
        <p:sp>
          <p:nvSpPr>
            <p:cNvPr id="2" name="Rectangle 2"/>
            <p:cNvSpPr/>
            <p:nvPr/>
          </p:nvSpPr>
          <p:spPr>
            <a:xfrm>
              <a:off x="381000" y="723900"/>
              <a:ext cx="266700" cy="266700"/>
            </a:xfrm>
            <a:prstGeom prst="rect">
              <a:avLst/>
            </a:prstGeom>
            <a:solidFill>
              <a:schemeClr val="accent2"/>
            </a:solidFill>
            <a:ln>
              <a:noFill/>
            </a:ln>
          </p:spPr>
        </p:sp>
        <p:sp>
          <p:nvSpPr>
            <p:cNvPr id="3" name="TextBox 3"/>
            <p:cNvSpPr txBox="1"/>
            <p:nvPr/>
          </p:nvSpPr>
          <p:spPr>
            <a:xfrm>
              <a:off x="774192" y="787718"/>
              <a:ext cx="2832042" cy="264033"/>
            </a:xfrm>
            <a:prstGeom prst="rect">
              <a:avLst/>
            </a:prstGeom>
            <a:noFill/>
            <a:ln>
              <a:noFill/>
            </a:ln>
          </p:spPr>
          <p:txBody>
            <a:bodyPr wrap="none" lIns="0" tIns="0" rIns="0" bIns="0" anchor="t" anchorCtr="0">
              <a:spAutoFit/>
            </a:bodyPr>
            <a:lstStyle/>
            <a:p>
              <a:pPr algn="l"/>
              <a:r>
                <a:rPr lang="en-US" sz="1350" b="1" spc="150" dirty="0">
                  <a:solidFill>
                    <a:schemeClr val="accent3"/>
                  </a:solidFill>
                  <a:latin typeface="+mn-lt"/>
                  <a:ea typeface="+mn-ea"/>
                  <a:cs typeface="+mn-cs"/>
                </a:rPr>
                <a:t>PEDIATRIC ACUTE DYSPNEA</a:t>
              </a:r>
            </a:p>
          </p:txBody>
        </p:sp>
        <p:sp>
          <p:nvSpPr>
            <p:cNvPr id="4" name="TextBox 4"/>
            <p:cNvSpPr txBox="1"/>
            <p:nvPr/>
          </p:nvSpPr>
          <p:spPr>
            <a:xfrm>
              <a:off x="361950" y="1424940"/>
              <a:ext cx="5158740" cy="1771650"/>
            </a:xfrm>
            <a:prstGeom prst="rect">
              <a:avLst/>
            </a:prstGeom>
            <a:noFill/>
            <a:ln>
              <a:noFill/>
            </a:ln>
          </p:spPr>
          <p:txBody>
            <a:bodyPr wrap="square" lIns="0" tIns="0" rIns="0" bIns="0" anchor="t" anchorCtr="0"/>
            <a:lstStyle/>
            <a:p>
              <a:pPr algn="l">
                <a:lnSpc>
                  <a:spcPts val="6600"/>
                </a:lnSpc>
              </a:pPr>
              <a:r>
                <a:rPr lang="zh-CN" sz="4800" b="1" dirty="0">
                  <a:solidFill>
                    <a:schemeClr val="accent1"/>
                  </a:solidFill>
                  <a:latin typeface="+mn-lt"/>
                  <a:ea typeface="+mn-ea"/>
                  <a:cs typeface="+mn-cs"/>
                </a:rPr>
                <a:t>儿童急性呼吸困难先救命，再定位</a:t>
              </a:r>
            </a:p>
          </p:txBody>
        </p:sp>
        <p:sp>
          <p:nvSpPr>
            <p:cNvPr id="5" name="TextBox 5"/>
            <p:cNvSpPr txBox="1"/>
            <p:nvPr/>
          </p:nvSpPr>
          <p:spPr>
            <a:xfrm>
              <a:off x="369570" y="3109912"/>
              <a:ext cx="4295394" cy="440055"/>
            </a:xfrm>
            <a:prstGeom prst="rect">
              <a:avLst/>
            </a:prstGeom>
            <a:noFill/>
            <a:ln>
              <a:noFill/>
            </a:ln>
          </p:spPr>
          <p:txBody>
            <a:bodyPr wrap="none" lIns="0" tIns="0" rIns="0" bIns="0" anchor="t" anchorCtr="0">
              <a:spAutoFit/>
            </a:bodyPr>
            <a:lstStyle/>
            <a:p>
              <a:pPr algn="l"/>
              <a:r>
                <a:rPr lang="zh-CN" sz="2250" dirty="0">
                  <a:solidFill>
                    <a:schemeClr val="accent3"/>
                  </a:solidFill>
                  <a:latin typeface="+mn-lt"/>
                  <a:ea typeface="+mn-ea"/>
                  <a:cs typeface="+mn-cs"/>
                </a:rPr>
                <a:t>从 ABCDE 分层到四步病因定位</a:t>
              </a:r>
            </a:p>
          </p:txBody>
        </p:sp>
        <p:sp>
          <p:nvSpPr>
            <p:cNvPr id="6" name="TextBox 6"/>
            <p:cNvSpPr txBox="1"/>
            <p:nvPr/>
          </p:nvSpPr>
          <p:spPr>
            <a:xfrm>
              <a:off x="374142" y="3645218"/>
              <a:ext cx="2866987" cy="264033"/>
            </a:xfrm>
            <a:prstGeom prst="rect">
              <a:avLst/>
            </a:prstGeom>
            <a:noFill/>
            <a:ln>
              <a:noFill/>
            </a:ln>
          </p:spPr>
          <p:txBody>
            <a:bodyPr wrap="none" lIns="0" tIns="0" rIns="0" bIns="0" anchor="t" anchorCtr="0">
              <a:spAutoFit/>
            </a:bodyPr>
            <a:lstStyle/>
            <a:p>
              <a:pPr algn="l"/>
              <a:r>
                <a:rPr lang="zh-CN" sz="1350" dirty="0">
                  <a:solidFill>
                    <a:schemeClr val="dk1">
                      <a:alphaMod val="65000"/>
                    </a:schemeClr>
                  </a:solidFill>
                  <a:latin typeface="+mn-lt"/>
                  <a:ea typeface="+mn-ea"/>
                  <a:cs typeface="+mn-cs"/>
                </a:rPr>
                <a:t>30 分钟 · 科室业务学习 · 病例讨论</a:t>
              </a:r>
            </a:p>
          </p:txBody>
        </p:sp>
      </p:grpSp>
      <p:grpSp>
        <p:nvGrpSpPr>
          <p:cNvPr id="14" name="Group 14"/>
          <p:cNvGrpSpPr/>
          <p:nvPr/>
        </p:nvGrpSpPr>
        <p:grpSpPr>
          <a:xfrm>
            <a:off x="370332" y="3358515"/>
            <a:ext cx="11440668" cy="2029396"/>
            <a:chOff x="370332" y="3358515"/>
            <a:chExt cx="11440668" cy="2029396"/>
          </a:xfrm>
        </p:grpSpPr>
        <p:sp>
          <p:nvSpPr>
            <p:cNvPr id="8" name="TextBox 8"/>
            <p:cNvSpPr txBox="1"/>
            <p:nvPr/>
          </p:nvSpPr>
          <p:spPr>
            <a:xfrm>
              <a:off x="370332" y="3773805"/>
              <a:ext cx="318173" cy="410718"/>
            </a:xfrm>
            <a:prstGeom prst="rect">
              <a:avLst/>
            </a:prstGeom>
            <a:noFill/>
            <a:ln>
              <a:noFill/>
            </a:ln>
          </p:spPr>
          <p:txBody>
            <a:bodyPr wrap="none" lIns="0" tIns="0" rIns="0" bIns="0" anchor="t" anchorCtr="0">
              <a:spAutoFit/>
            </a:bodyPr>
            <a:lstStyle/>
            <a:p>
              <a:pPr algn="l"/>
              <a:r>
                <a:rPr lang="zh-CN" sz="2100" b="1" dirty="0">
                  <a:solidFill>
                    <a:schemeClr val="accent3"/>
                  </a:solidFill>
                  <a:latin typeface="+mn-lt"/>
                  <a:ea typeface="+mn-ea"/>
                  <a:cs typeface="+mn-cs"/>
                </a:rPr>
                <a:t>快</a:t>
              </a:r>
            </a:p>
          </p:txBody>
        </p:sp>
        <p:sp>
          <p:nvSpPr>
            <p:cNvPr id="9" name="TextBox 9"/>
            <p:cNvSpPr txBox="1"/>
            <p:nvPr/>
          </p:nvSpPr>
          <p:spPr>
            <a:xfrm>
              <a:off x="10329939" y="3358515"/>
              <a:ext cx="928611" cy="1219200"/>
            </a:xfrm>
            <a:prstGeom prst="rect">
              <a:avLst/>
            </a:prstGeom>
            <a:noFill/>
            <a:ln>
              <a:noFill/>
            </a:ln>
          </p:spPr>
          <p:txBody>
            <a:bodyPr wrap="none" lIns="0" tIns="0" rIns="0" bIns="0" anchor="t" anchorCtr="0">
              <a:spAutoFit/>
            </a:bodyPr>
            <a:lstStyle/>
            <a:p>
              <a:pPr algn="r"/>
              <a:r>
                <a:rPr lang="zh-CN" sz="6300" b="1" dirty="0">
                  <a:solidFill>
                    <a:schemeClr val="accent2"/>
                  </a:solidFill>
                  <a:latin typeface="+mn-lt"/>
                  <a:ea typeface="+mn-ea"/>
                  <a:cs typeface="+mn-cs"/>
                </a:rPr>
                <a:t>慢</a:t>
              </a:r>
            </a:p>
          </p:txBody>
        </p:sp>
        <p:sp>
          <p:nvSpPr>
            <p:cNvPr id="10" name="Freeform 10"/>
            <p:cNvSpPr/>
            <p:nvPr/>
          </p:nvSpPr>
          <p:spPr>
            <a:xfrm>
              <a:off x="381000" y="4191000"/>
              <a:ext cx="5334000" cy="1143000"/>
            </a:xfrm>
            <a:custGeom>
              <a:avLst/>
              <a:gdLst/>
              <a:ahLst/>
              <a:cxnLst/>
              <a:rect l="l" t="t" r="r" b="b"/>
              <a:pathLst>
                <a:path w="5334000" h="1143000">
                  <a:moveTo>
                    <a:pt x="0" y="571500"/>
                  </a:moveTo>
                  <a:cubicBezTo>
                    <a:pt x="95250" y="0"/>
                    <a:pt x="285750" y="0"/>
                    <a:pt x="381000" y="571500"/>
                  </a:cubicBezTo>
                  <a:cubicBezTo>
                    <a:pt x="476250" y="1143000"/>
                    <a:pt x="666750" y="1143000"/>
                    <a:pt x="762000" y="571500"/>
                  </a:cubicBezTo>
                  <a:cubicBezTo>
                    <a:pt x="857250" y="0"/>
                    <a:pt x="1047750" y="0"/>
                    <a:pt x="1143000" y="571500"/>
                  </a:cubicBezTo>
                  <a:cubicBezTo>
                    <a:pt x="1238250" y="1143000"/>
                    <a:pt x="1428750" y="1143000"/>
                    <a:pt x="1524000" y="571500"/>
                  </a:cubicBezTo>
                  <a:cubicBezTo>
                    <a:pt x="1619250" y="0"/>
                    <a:pt x="1809750" y="0"/>
                    <a:pt x="1905000" y="571500"/>
                  </a:cubicBezTo>
                  <a:cubicBezTo>
                    <a:pt x="2000250" y="1143000"/>
                    <a:pt x="2190750" y="1143000"/>
                    <a:pt x="2286000" y="571500"/>
                  </a:cubicBezTo>
                  <a:cubicBezTo>
                    <a:pt x="2381250" y="0"/>
                    <a:pt x="2571750" y="0"/>
                    <a:pt x="2667000" y="571500"/>
                  </a:cubicBezTo>
                  <a:cubicBezTo>
                    <a:pt x="2762250" y="1143000"/>
                    <a:pt x="2952750" y="1143000"/>
                    <a:pt x="3048000" y="571500"/>
                  </a:cubicBezTo>
                  <a:cubicBezTo>
                    <a:pt x="3143250" y="0"/>
                    <a:pt x="3333750" y="0"/>
                    <a:pt x="3429000" y="571500"/>
                  </a:cubicBezTo>
                  <a:cubicBezTo>
                    <a:pt x="3524250" y="1143000"/>
                    <a:pt x="3714750" y="1143000"/>
                    <a:pt x="3810000" y="571500"/>
                  </a:cubicBezTo>
                  <a:cubicBezTo>
                    <a:pt x="3905250" y="0"/>
                    <a:pt x="4095750" y="0"/>
                    <a:pt x="4191000" y="571500"/>
                  </a:cubicBezTo>
                  <a:cubicBezTo>
                    <a:pt x="4286250" y="1143000"/>
                    <a:pt x="4476750" y="1143000"/>
                    <a:pt x="4572000" y="571500"/>
                  </a:cubicBezTo>
                  <a:cubicBezTo>
                    <a:pt x="4667250" y="0"/>
                    <a:pt x="4857750" y="0"/>
                    <a:pt x="4953000" y="571500"/>
                  </a:cubicBezTo>
                  <a:cubicBezTo>
                    <a:pt x="5048250" y="1143000"/>
                    <a:pt x="5238750" y="1143000"/>
                    <a:pt x="5334000" y="571500"/>
                  </a:cubicBezTo>
                </a:path>
              </a:pathLst>
            </a:custGeom>
            <a:noFill/>
            <a:ln w="28575" cap="rnd">
              <a:solidFill>
                <a:schemeClr val="accent1"/>
              </a:solidFill>
            </a:ln>
          </p:spPr>
        </p:sp>
        <p:sp>
          <p:nvSpPr>
            <p:cNvPr id="11" name="Freeform 11"/>
            <p:cNvSpPr/>
            <p:nvPr/>
          </p:nvSpPr>
          <p:spPr>
            <a:xfrm>
              <a:off x="5715000" y="4238625"/>
              <a:ext cx="6096000" cy="752475"/>
            </a:xfrm>
            <a:custGeom>
              <a:avLst/>
              <a:gdLst/>
              <a:ahLst/>
              <a:cxnLst/>
              <a:rect l="l" t="t" r="r" b="b"/>
              <a:pathLst>
                <a:path w="6096000" h="752475">
                  <a:moveTo>
                    <a:pt x="0" y="523875"/>
                  </a:moveTo>
                  <a:cubicBezTo>
                    <a:pt x="190500" y="0"/>
                    <a:pt x="571500" y="0"/>
                    <a:pt x="762000" y="523875"/>
                  </a:cubicBezTo>
                  <a:cubicBezTo>
                    <a:pt x="1095375" y="295275"/>
                    <a:pt x="1762125" y="295275"/>
                    <a:pt x="2095500" y="523875"/>
                  </a:cubicBezTo>
                  <a:cubicBezTo>
                    <a:pt x="2428875" y="752475"/>
                    <a:pt x="3095625" y="752475"/>
                    <a:pt x="3429000" y="523875"/>
                  </a:cubicBezTo>
                  <a:cubicBezTo>
                    <a:pt x="3762375" y="295275"/>
                    <a:pt x="4429125" y="295275"/>
                    <a:pt x="4762500" y="523875"/>
                  </a:cubicBezTo>
                  <a:cubicBezTo>
                    <a:pt x="5095875" y="752475"/>
                    <a:pt x="5762625" y="752475"/>
                    <a:pt x="6096000" y="523875"/>
                  </a:cubicBezTo>
                </a:path>
              </a:pathLst>
            </a:custGeom>
            <a:noFill/>
            <a:ln w="28575" cap="rnd">
              <a:solidFill>
                <a:schemeClr val="accent2"/>
              </a:solidFill>
            </a:ln>
          </p:spPr>
        </p:sp>
        <p:sp>
          <p:nvSpPr>
            <p:cNvPr id="12" name="Line 12"/>
            <p:cNvSpPr/>
            <p:nvPr/>
          </p:nvSpPr>
          <p:spPr>
            <a:xfrm>
              <a:off x="5715000" y="4191000"/>
              <a:ext cx="9525" cy="1104900"/>
            </a:xfrm>
            <a:custGeom>
              <a:avLst/>
              <a:gdLst/>
              <a:ahLst/>
              <a:cxnLst/>
              <a:rect l="l" t="t" r="r" b="b"/>
              <a:pathLst>
                <a:path w="9525" h="1104900">
                  <a:moveTo>
                    <a:pt x="0" y="0"/>
                  </a:moveTo>
                  <a:lnTo>
                    <a:pt x="0" y="1104900"/>
                  </a:lnTo>
                </a:path>
              </a:pathLst>
            </a:custGeom>
            <a:noFill/>
            <a:ln w="9525">
              <a:solidFill>
                <a:schemeClr val="dk1">
                  <a:alpha val="30000"/>
                </a:schemeClr>
              </a:solidFill>
            </a:ln>
          </p:spPr>
        </p:sp>
        <p:sp>
          <p:nvSpPr>
            <p:cNvPr id="13" name="TextBox 13"/>
            <p:cNvSpPr txBox="1"/>
            <p:nvPr/>
          </p:nvSpPr>
          <p:spPr>
            <a:xfrm>
              <a:off x="5785866" y="5182552"/>
              <a:ext cx="1141476" cy="205359"/>
            </a:xfrm>
            <a:prstGeom prst="rect">
              <a:avLst/>
            </a:prstGeom>
            <a:noFill/>
            <a:ln>
              <a:noFill/>
            </a:ln>
          </p:spPr>
          <p:txBody>
            <a:bodyPr wrap="none" lIns="0" tIns="0" rIns="0" bIns="0" anchor="t" anchorCtr="0">
              <a:spAutoFit/>
            </a:bodyPr>
            <a:lstStyle/>
            <a:p>
              <a:pPr algn="l"/>
              <a:r>
                <a:rPr lang="zh-CN" sz="1050" dirty="0">
                  <a:solidFill>
                    <a:schemeClr val="dk1">
                      <a:alphaMod val="55000"/>
                    </a:schemeClr>
                  </a:solidFill>
                  <a:latin typeface="+mn-lt"/>
                  <a:ea typeface="+mn-ea"/>
                  <a:cs typeface="+mn-cs"/>
                </a:rPr>
                <a:t>容易被漏掉的一型</a:t>
              </a:r>
            </a:p>
          </p:txBody>
        </p:sp>
      </p:grpSp>
      <p:grpSp>
        <p:nvGrpSpPr>
          <p:cNvPr id="19" name="Group 19"/>
          <p:cNvGrpSpPr/>
          <p:nvPr/>
        </p:nvGrpSpPr>
        <p:grpSpPr>
          <a:xfrm>
            <a:off x="374142" y="5715000"/>
            <a:ext cx="11436858" cy="1013651"/>
            <a:chOff x="374142" y="5715000"/>
            <a:chExt cx="11436858" cy="1013651"/>
          </a:xfrm>
        </p:grpSpPr>
        <p:sp>
          <p:nvSpPr>
            <p:cNvPr id="15" name="Line 15"/>
            <p:cNvSpPr/>
            <p:nvPr/>
          </p:nvSpPr>
          <p:spPr>
            <a:xfrm>
              <a:off x="381000" y="571500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sp>
          <p:nvSpPr>
            <p:cNvPr id="16" name="TextBox 16"/>
            <p:cNvSpPr txBox="1"/>
            <p:nvPr/>
          </p:nvSpPr>
          <p:spPr>
            <a:xfrm>
              <a:off x="374904" y="5928360"/>
              <a:ext cx="6635496"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朱昱瑶，付红敏. 儿童急性呼吸困难的诊疗思路. 中国实用儿科杂志. 2026;41(9):729-732.</a:t>
              </a:r>
            </a:p>
          </p:txBody>
        </p:sp>
        <p:sp>
          <p:nvSpPr>
            <p:cNvPr id="17" name="TextBox 17"/>
            <p:cNvSpPr txBox="1"/>
            <p:nvPr/>
          </p:nvSpPr>
          <p:spPr>
            <a:xfrm>
              <a:off x="375285" y="6165056"/>
              <a:ext cx="2228525" cy="220028"/>
            </a:xfrm>
            <a:prstGeom prst="rect">
              <a:avLst/>
            </a:prstGeom>
            <a:noFill/>
            <a:ln>
              <a:noFill/>
            </a:ln>
          </p:spPr>
          <p:txBody>
            <a:bodyPr wrap="none" lIns="0" tIns="0" rIns="0" bIns="0" anchor="t" anchorCtr="0">
              <a:spAutoFit/>
            </a:bodyPr>
            <a:lstStyle/>
            <a:p>
              <a:pPr algn="l"/>
              <a:r>
                <a:rPr lang="en-US" sz="1120" dirty="0">
                  <a:solidFill>
                    <a:schemeClr val="dk1">
                      <a:alphaMod val="55000"/>
                    </a:schemeClr>
                  </a:solidFill>
                  <a:latin typeface="+mn-lt"/>
                  <a:ea typeface="+mn-ea"/>
                  <a:cs typeface="+mn-cs"/>
                </a:rPr>
                <a:t>DOI 10.19538/j.ek2026090604</a:t>
              </a:r>
            </a:p>
          </p:txBody>
        </p:sp>
        <p:sp>
          <p:nvSpPr>
            <p:cNvPr id="18" name="TextBox 18"/>
            <p:cNvSpPr txBox="1"/>
            <p:nvPr/>
          </p:nvSpPr>
          <p:spPr>
            <a:xfrm>
              <a:off x="374142" y="6464618"/>
              <a:ext cx="3884714"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昆明医科大学附属儿童医院 呼吸与危重症医学科</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473746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为什么儿童“塌得这么快”</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0" name="Group 10"/>
          <p:cNvGrpSpPr/>
          <p:nvPr/>
        </p:nvGrpSpPr>
        <p:grpSpPr>
          <a:xfrm>
            <a:off x="361950" y="1625918"/>
            <a:ext cx="2794444" cy="2582227"/>
            <a:chOff x="361950" y="1625918"/>
            <a:chExt cx="2794444" cy="2582227"/>
          </a:xfrm>
        </p:grpSpPr>
        <p:sp>
          <p:nvSpPr>
            <p:cNvPr id="5" name="TextBox 5"/>
            <p:cNvSpPr txBox="1"/>
            <p:nvPr/>
          </p:nvSpPr>
          <p:spPr>
            <a:xfrm>
              <a:off x="374142" y="1625918"/>
              <a:ext cx="1470641" cy="264033"/>
            </a:xfrm>
            <a:prstGeom prst="rect">
              <a:avLst/>
            </a:prstGeom>
            <a:noFill/>
            <a:ln>
              <a:noFill/>
            </a:ln>
          </p:spPr>
          <p:txBody>
            <a:bodyPr wrap="none" lIns="0" tIns="0" rIns="0" bIns="0" anchor="t" anchorCtr="0">
              <a:spAutoFit/>
            </a:bodyPr>
            <a:lstStyle/>
            <a:p>
              <a:pPr algn="l"/>
              <a:r>
                <a:rPr lang="zh-CN" sz="1350" b="1" spc="150" dirty="0">
                  <a:solidFill>
                    <a:schemeClr val="accent3"/>
                  </a:solidFill>
                  <a:latin typeface="+mn-lt"/>
                  <a:ea typeface="+mn-ea"/>
                  <a:cs typeface="+mn-cs"/>
                </a:rPr>
                <a:t>解剖与生理基础</a:t>
              </a:r>
            </a:p>
          </p:txBody>
        </p:sp>
        <p:sp>
          <p:nvSpPr>
            <p:cNvPr id="6" name="TextBox 6"/>
            <p:cNvSpPr txBox="1"/>
            <p:nvPr/>
          </p:nvSpPr>
          <p:spPr>
            <a:xfrm>
              <a:off x="361950" y="2284095"/>
              <a:ext cx="2794444" cy="762000"/>
            </a:xfrm>
            <a:prstGeom prst="rect">
              <a:avLst/>
            </a:prstGeom>
            <a:noFill/>
            <a:ln>
              <a:noFill/>
            </a:ln>
          </p:spPr>
          <p:txBody>
            <a:bodyPr wrap="none" lIns="0" tIns="0" rIns="0" bIns="0" anchor="t" anchorCtr="0">
              <a:spAutoFit/>
            </a:bodyPr>
            <a:lstStyle/>
            <a:p>
              <a:pPr algn="l"/>
              <a:r>
                <a:rPr lang="zh-CN" sz="3900" b="1" dirty="0">
                  <a:solidFill>
                    <a:schemeClr val="accent1"/>
                  </a:solidFill>
                  <a:latin typeface="+mn-lt"/>
                  <a:ea typeface="+mn-ea"/>
                  <a:cs typeface="+mn-cs"/>
                </a:rPr>
                <a:t>代偿窗窄，</a:t>
              </a:r>
            </a:p>
          </p:txBody>
        </p:sp>
        <p:sp>
          <p:nvSpPr>
            <p:cNvPr id="7" name="TextBox 7"/>
            <p:cNvSpPr txBox="1"/>
            <p:nvPr/>
          </p:nvSpPr>
          <p:spPr>
            <a:xfrm>
              <a:off x="361950" y="2893695"/>
              <a:ext cx="1691907" cy="762000"/>
            </a:xfrm>
            <a:prstGeom prst="rect">
              <a:avLst/>
            </a:prstGeom>
            <a:noFill/>
            <a:ln>
              <a:noFill/>
            </a:ln>
          </p:spPr>
          <p:txBody>
            <a:bodyPr wrap="none" lIns="0" tIns="0" rIns="0" bIns="0" anchor="t" anchorCtr="0">
              <a:spAutoFit/>
            </a:bodyPr>
            <a:lstStyle/>
            <a:p>
              <a:pPr algn="l"/>
              <a:r>
                <a:rPr lang="zh-CN" sz="3900" b="1" dirty="0">
                  <a:solidFill>
                    <a:schemeClr val="accent2"/>
                  </a:solidFill>
                  <a:latin typeface="+mn-lt"/>
                  <a:ea typeface="+mn-ea"/>
                  <a:cs typeface="+mn-cs"/>
                </a:rPr>
                <a:t>恶化快</a:t>
              </a:r>
            </a:p>
          </p:txBody>
        </p:sp>
        <p:sp>
          <p:nvSpPr>
            <p:cNvPr id="8" name="Rectangle 8"/>
            <p:cNvSpPr/>
            <p:nvPr/>
          </p:nvSpPr>
          <p:spPr>
            <a:xfrm>
              <a:off x="381000" y="3657600"/>
              <a:ext cx="495300" cy="38100"/>
            </a:xfrm>
            <a:prstGeom prst="rect">
              <a:avLst/>
            </a:prstGeom>
            <a:solidFill>
              <a:schemeClr val="accent1"/>
            </a:solidFill>
            <a:ln>
              <a:noFill/>
            </a:ln>
          </p:spPr>
        </p:sp>
        <p:sp>
          <p:nvSpPr>
            <p:cNvPr id="9" name="TextBox 9"/>
            <p:cNvSpPr txBox="1"/>
            <p:nvPr/>
          </p:nvSpPr>
          <p:spPr>
            <a:xfrm>
              <a:off x="373380" y="3914775"/>
              <a:ext cx="2640330" cy="293370"/>
            </a:xfrm>
            <a:prstGeom prst="rect">
              <a:avLst/>
            </a:prstGeom>
            <a:noFill/>
            <a:ln>
              <a:noFill/>
            </a:ln>
          </p:spPr>
          <p:txBody>
            <a:bodyPr wrap="none" lIns="0" tIns="0" rIns="0" bIns="0" anchor="t" anchorCtr="0">
              <a:spAutoFit/>
            </a:bodyPr>
            <a:lstStyle/>
            <a:p>
              <a:pPr algn="l"/>
              <a:r>
                <a:rPr lang="zh-CN" sz="1500" dirty="0">
                  <a:solidFill>
                    <a:schemeClr val="dk1">
                      <a:alphaMod val="75000"/>
                    </a:schemeClr>
                  </a:solidFill>
                  <a:latin typeface="+mn-lt"/>
                  <a:ea typeface="+mn-ea"/>
                  <a:cs typeface="+mn-cs"/>
                </a:rPr>
                <a:t>同样的病变，儿童更快失代偿</a:t>
              </a:r>
            </a:p>
          </p:txBody>
        </p:sp>
      </p:grpSp>
      <p:grpSp>
        <p:nvGrpSpPr>
          <p:cNvPr id="28" name="Group 28"/>
          <p:cNvGrpSpPr/>
          <p:nvPr/>
        </p:nvGrpSpPr>
        <p:grpSpPr>
          <a:xfrm>
            <a:off x="3800094" y="1447800"/>
            <a:ext cx="8010906" cy="3438525"/>
            <a:chOff x="3800094" y="1447800"/>
            <a:chExt cx="8010906" cy="3438525"/>
          </a:xfrm>
        </p:grpSpPr>
        <p:sp>
          <p:nvSpPr>
            <p:cNvPr id="11" name="Line 11"/>
            <p:cNvSpPr/>
            <p:nvPr/>
          </p:nvSpPr>
          <p:spPr>
            <a:xfrm>
              <a:off x="3810000" y="1447800"/>
              <a:ext cx="8001000" cy="9525"/>
            </a:xfrm>
            <a:custGeom>
              <a:avLst/>
              <a:gdLst/>
              <a:ahLst/>
              <a:cxnLst/>
              <a:rect l="l" t="t" r="r" b="b"/>
              <a:pathLst>
                <a:path w="8001000" h="9525">
                  <a:moveTo>
                    <a:pt x="0" y="0"/>
                  </a:moveTo>
                  <a:lnTo>
                    <a:pt x="8001000" y="0"/>
                  </a:lnTo>
                </a:path>
              </a:pathLst>
            </a:custGeom>
            <a:noFill/>
            <a:ln w="19050">
              <a:solidFill>
                <a:schemeClr val="accent1"/>
              </a:solidFill>
            </a:ln>
          </p:spPr>
        </p:sp>
        <p:sp>
          <p:nvSpPr>
            <p:cNvPr id="12" name="TextBox 12"/>
            <p:cNvSpPr txBox="1"/>
            <p:nvPr/>
          </p:nvSpPr>
          <p:spPr>
            <a:xfrm>
              <a:off x="3800094" y="1599248"/>
              <a:ext cx="323010"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n-lt"/>
                  <a:ea typeface="+mn-ea"/>
                  <a:cs typeface="+mn-cs"/>
                </a:rPr>
                <a:t>01</a:t>
              </a:r>
            </a:p>
          </p:txBody>
        </p:sp>
        <p:sp>
          <p:nvSpPr>
            <p:cNvPr id="13" name="TextBox 13"/>
            <p:cNvSpPr txBox="1"/>
            <p:nvPr/>
          </p:nvSpPr>
          <p:spPr>
            <a:xfrm>
              <a:off x="4331970" y="1566862"/>
              <a:ext cx="161305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气道管径细</a:t>
              </a:r>
            </a:p>
          </p:txBody>
        </p:sp>
        <p:sp>
          <p:nvSpPr>
            <p:cNvPr id="14" name="TextBox 14"/>
            <p:cNvSpPr txBox="1"/>
            <p:nvPr/>
          </p:nvSpPr>
          <p:spPr>
            <a:xfrm>
              <a:off x="4336542" y="1968818"/>
              <a:ext cx="2921508" cy="264033"/>
            </a:xfrm>
            <a:prstGeom prst="rect">
              <a:avLst/>
            </a:prstGeom>
            <a:noFill/>
            <a:ln>
              <a:noFill/>
            </a:ln>
          </p:spPr>
          <p:txBody>
            <a:bodyPr wrap="none" lIns="0" tIns="0" rIns="0" bIns="0" anchor="t" anchorCtr="0">
              <a:spAutoFit/>
            </a:bodyPr>
            <a:lstStyle/>
            <a:p>
              <a:pPr algn="l"/>
              <a:r>
                <a:rPr lang="zh-CN" sz="1350" dirty="0">
                  <a:solidFill>
                    <a:schemeClr val="dk1">
                      <a:alphaMod val="72000"/>
                    </a:schemeClr>
                  </a:solidFill>
                  <a:latin typeface="+mn-lt"/>
                  <a:ea typeface="+mn-ea"/>
                  <a:cs typeface="+mn-cs"/>
                </a:rPr>
                <a:t>少量分泌物或水肿即可明显增加阻力</a:t>
              </a:r>
            </a:p>
          </p:txBody>
        </p:sp>
        <p:sp>
          <p:nvSpPr>
            <p:cNvPr id="15" name="Line 15"/>
            <p:cNvSpPr/>
            <p:nvPr/>
          </p:nvSpPr>
          <p:spPr>
            <a:xfrm>
              <a:off x="3810000" y="2305050"/>
              <a:ext cx="8001000" cy="9525"/>
            </a:xfrm>
            <a:custGeom>
              <a:avLst/>
              <a:gdLst/>
              <a:ahLst/>
              <a:cxnLst/>
              <a:rect l="l" t="t" r="r" b="b"/>
              <a:pathLst>
                <a:path w="8001000" h="9525">
                  <a:moveTo>
                    <a:pt x="0" y="0"/>
                  </a:moveTo>
                  <a:lnTo>
                    <a:pt x="8001000" y="0"/>
                  </a:lnTo>
                </a:path>
              </a:pathLst>
            </a:custGeom>
            <a:noFill/>
            <a:ln w="9525">
              <a:solidFill>
                <a:schemeClr val="dk1">
                  <a:alpha val="18000"/>
                </a:schemeClr>
              </a:solidFill>
            </a:ln>
          </p:spPr>
        </p:sp>
        <p:sp>
          <p:nvSpPr>
            <p:cNvPr id="16" name="TextBox 16"/>
            <p:cNvSpPr txBox="1"/>
            <p:nvPr/>
          </p:nvSpPr>
          <p:spPr>
            <a:xfrm>
              <a:off x="3800094" y="2456498"/>
              <a:ext cx="323010"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n-lt"/>
                  <a:ea typeface="+mn-ea"/>
                  <a:cs typeface="+mn-cs"/>
                </a:rPr>
                <a:t>02</a:t>
              </a:r>
            </a:p>
          </p:txBody>
        </p:sp>
        <p:sp>
          <p:nvSpPr>
            <p:cNvPr id="17" name="TextBox 17"/>
            <p:cNvSpPr txBox="1"/>
            <p:nvPr/>
          </p:nvSpPr>
          <p:spPr>
            <a:xfrm>
              <a:off x="4331970" y="2424112"/>
              <a:ext cx="161305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气道阻力高</a:t>
              </a:r>
            </a:p>
          </p:txBody>
        </p:sp>
        <p:sp>
          <p:nvSpPr>
            <p:cNvPr id="18" name="TextBox 18"/>
            <p:cNvSpPr txBox="1"/>
            <p:nvPr/>
          </p:nvSpPr>
          <p:spPr>
            <a:xfrm>
              <a:off x="4336542" y="2826068"/>
              <a:ext cx="3103245" cy="264033"/>
            </a:xfrm>
            <a:prstGeom prst="rect">
              <a:avLst/>
            </a:prstGeom>
            <a:noFill/>
            <a:ln>
              <a:noFill/>
            </a:ln>
          </p:spPr>
          <p:txBody>
            <a:bodyPr wrap="none" lIns="0" tIns="0" rIns="0" bIns="0" anchor="t" anchorCtr="0">
              <a:spAutoFit/>
            </a:bodyPr>
            <a:lstStyle/>
            <a:p>
              <a:pPr algn="l"/>
              <a:r>
                <a:rPr lang="zh-CN" sz="1350" dirty="0">
                  <a:solidFill>
                    <a:schemeClr val="dk1">
                      <a:alphaMod val="72000"/>
                    </a:schemeClr>
                  </a:solidFill>
                  <a:latin typeface="+mn-lt"/>
                  <a:ea typeface="+mn-ea"/>
                  <a:cs typeface="+mn-cs"/>
                </a:rPr>
                <a:t>呼吸做功本已偏大，辅助肌很快被动员</a:t>
              </a:r>
            </a:p>
          </p:txBody>
        </p:sp>
        <p:sp>
          <p:nvSpPr>
            <p:cNvPr id="19" name="Line 19"/>
            <p:cNvSpPr/>
            <p:nvPr/>
          </p:nvSpPr>
          <p:spPr>
            <a:xfrm>
              <a:off x="3810000" y="3162300"/>
              <a:ext cx="8001000" cy="9525"/>
            </a:xfrm>
            <a:custGeom>
              <a:avLst/>
              <a:gdLst/>
              <a:ahLst/>
              <a:cxnLst/>
              <a:rect l="l" t="t" r="r" b="b"/>
              <a:pathLst>
                <a:path w="8001000" h="9525">
                  <a:moveTo>
                    <a:pt x="0" y="0"/>
                  </a:moveTo>
                  <a:lnTo>
                    <a:pt x="8001000" y="0"/>
                  </a:lnTo>
                </a:path>
              </a:pathLst>
            </a:custGeom>
            <a:noFill/>
            <a:ln w="9525">
              <a:solidFill>
                <a:schemeClr val="dk1">
                  <a:alpha val="18000"/>
                </a:schemeClr>
              </a:solidFill>
            </a:ln>
          </p:spPr>
        </p:sp>
        <p:sp>
          <p:nvSpPr>
            <p:cNvPr id="20" name="TextBox 20"/>
            <p:cNvSpPr txBox="1"/>
            <p:nvPr/>
          </p:nvSpPr>
          <p:spPr>
            <a:xfrm>
              <a:off x="3800094" y="3313748"/>
              <a:ext cx="323010"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n-lt"/>
                  <a:ea typeface="+mn-ea"/>
                  <a:cs typeface="+mn-cs"/>
                </a:rPr>
                <a:t>03</a:t>
              </a:r>
            </a:p>
          </p:txBody>
        </p:sp>
        <p:sp>
          <p:nvSpPr>
            <p:cNvPr id="21" name="TextBox 21"/>
            <p:cNvSpPr txBox="1"/>
            <p:nvPr/>
          </p:nvSpPr>
          <p:spPr>
            <a:xfrm>
              <a:off x="4331970" y="3281362"/>
              <a:ext cx="2249138"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呼吸功能储备低</a:t>
              </a:r>
            </a:p>
          </p:txBody>
        </p:sp>
        <p:sp>
          <p:nvSpPr>
            <p:cNvPr id="22" name="TextBox 22"/>
            <p:cNvSpPr txBox="1"/>
            <p:nvPr/>
          </p:nvSpPr>
          <p:spPr>
            <a:xfrm>
              <a:off x="4336542" y="3683318"/>
              <a:ext cx="3103245" cy="264033"/>
            </a:xfrm>
            <a:prstGeom prst="rect">
              <a:avLst/>
            </a:prstGeom>
            <a:noFill/>
            <a:ln>
              <a:noFill/>
            </a:ln>
          </p:spPr>
          <p:txBody>
            <a:bodyPr wrap="none" lIns="0" tIns="0" rIns="0" bIns="0" anchor="t" anchorCtr="0">
              <a:spAutoFit/>
            </a:bodyPr>
            <a:lstStyle/>
            <a:p>
              <a:pPr algn="l"/>
              <a:r>
                <a:rPr lang="zh-CN" sz="1350" dirty="0">
                  <a:solidFill>
                    <a:schemeClr val="dk1">
                      <a:alphaMod val="72000"/>
                    </a:schemeClr>
                  </a:solidFill>
                  <a:latin typeface="+mn-lt"/>
                  <a:ea typeface="+mn-ea"/>
                  <a:cs typeface="+mn-cs"/>
                </a:rPr>
                <a:t>代偿空间小，短时间即可滑向呼吸衰竭</a:t>
              </a:r>
            </a:p>
          </p:txBody>
        </p:sp>
        <p:sp>
          <p:nvSpPr>
            <p:cNvPr id="23" name="Line 23"/>
            <p:cNvSpPr/>
            <p:nvPr/>
          </p:nvSpPr>
          <p:spPr>
            <a:xfrm>
              <a:off x="3810000" y="4019550"/>
              <a:ext cx="8001000" cy="9525"/>
            </a:xfrm>
            <a:custGeom>
              <a:avLst/>
              <a:gdLst/>
              <a:ahLst/>
              <a:cxnLst/>
              <a:rect l="l" t="t" r="r" b="b"/>
              <a:pathLst>
                <a:path w="8001000" h="9525">
                  <a:moveTo>
                    <a:pt x="0" y="0"/>
                  </a:moveTo>
                  <a:lnTo>
                    <a:pt x="8001000" y="0"/>
                  </a:lnTo>
                </a:path>
              </a:pathLst>
            </a:custGeom>
            <a:noFill/>
            <a:ln w="9525">
              <a:solidFill>
                <a:schemeClr val="dk1">
                  <a:alpha val="18000"/>
                </a:schemeClr>
              </a:solidFill>
            </a:ln>
          </p:spPr>
        </p:sp>
        <p:sp>
          <p:nvSpPr>
            <p:cNvPr id="24" name="TextBox 24"/>
            <p:cNvSpPr txBox="1"/>
            <p:nvPr/>
          </p:nvSpPr>
          <p:spPr>
            <a:xfrm>
              <a:off x="3800094" y="4170998"/>
              <a:ext cx="323010"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n-lt"/>
                  <a:ea typeface="+mn-ea"/>
                  <a:cs typeface="+mn-cs"/>
                </a:rPr>
                <a:t>04</a:t>
              </a:r>
            </a:p>
          </p:txBody>
        </p:sp>
        <p:sp>
          <p:nvSpPr>
            <p:cNvPr id="25" name="TextBox 25"/>
            <p:cNvSpPr txBox="1"/>
            <p:nvPr/>
          </p:nvSpPr>
          <p:spPr>
            <a:xfrm>
              <a:off x="4331970" y="4138612"/>
              <a:ext cx="1931098"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氧代谢需求高</a:t>
              </a:r>
            </a:p>
          </p:txBody>
        </p:sp>
        <p:sp>
          <p:nvSpPr>
            <p:cNvPr id="26" name="TextBox 26"/>
            <p:cNvSpPr txBox="1"/>
            <p:nvPr/>
          </p:nvSpPr>
          <p:spPr>
            <a:xfrm>
              <a:off x="4336542" y="4540568"/>
              <a:ext cx="2739771" cy="264033"/>
            </a:xfrm>
            <a:prstGeom prst="rect">
              <a:avLst/>
            </a:prstGeom>
            <a:noFill/>
            <a:ln>
              <a:noFill/>
            </a:ln>
          </p:spPr>
          <p:txBody>
            <a:bodyPr wrap="none" lIns="0" tIns="0" rIns="0" bIns="0" anchor="t" anchorCtr="0">
              <a:spAutoFit/>
            </a:bodyPr>
            <a:lstStyle/>
            <a:p>
              <a:pPr algn="l"/>
              <a:r>
                <a:rPr lang="zh-CN" sz="1350" dirty="0">
                  <a:solidFill>
                    <a:schemeClr val="dk1">
                      <a:alphaMod val="72000"/>
                    </a:schemeClr>
                  </a:solidFill>
                  <a:latin typeface="+mn-lt"/>
                  <a:ea typeface="+mn-ea"/>
                  <a:cs typeface="+mn-cs"/>
                </a:rPr>
                <a:t>缺氧耐受差，组织缺氧出现得更早</a:t>
              </a:r>
            </a:p>
          </p:txBody>
        </p:sp>
        <p:sp>
          <p:nvSpPr>
            <p:cNvPr id="27" name="Line 27"/>
            <p:cNvSpPr/>
            <p:nvPr/>
          </p:nvSpPr>
          <p:spPr>
            <a:xfrm>
              <a:off x="3810000" y="4876800"/>
              <a:ext cx="8001000" cy="9525"/>
            </a:xfrm>
            <a:custGeom>
              <a:avLst/>
              <a:gdLst/>
              <a:ahLst/>
              <a:cxnLst/>
              <a:rect l="l" t="t" r="r" b="b"/>
              <a:pathLst>
                <a:path w="8001000" h="9525">
                  <a:moveTo>
                    <a:pt x="0" y="0"/>
                  </a:moveTo>
                  <a:lnTo>
                    <a:pt x="8001000" y="0"/>
                  </a:lnTo>
                </a:path>
              </a:pathLst>
            </a:custGeom>
            <a:noFill/>
            <a:ln w="9525">
              <a:solidFill>
                <a:schemeClr val="dk1">
                  <a:alpha val="18000"/>
                </a:schemeClr>
              </a:solidFill>
            </a:ln>
          </p:spPr>
        </p:sp>
      </p:grpSp>
      <p:grpSp>
        <p:nvGrpSpPr>
          <p:cNvPr id="32" name="Group 32"/>
          <p:cNvGrpSpPr/>
          <p:nvPr/>
        </p:nvGrpSpPr>
        <p:grpSpPr>
          <a:xfrm>
            <a:off x="381000" y="5143500"/>
            <a:ext cx="11430000" cy="1066800"/>
            <a:chOff x="381000" y="5143500"/>
            <a:chExt cx="11430000" cy="1066800"/>
          </a:xfrm>
        </p:grpSpPr>
        <p:sp>
          <p:nvSpPr>
            <p:cNvPr id="29" name="Rectangle 29"/>
            <p:cNvSpPr/>
            <p:nvPr/>
          </p:nvSpPr>
          <p:spPr>
            <a:xfrm>
              <a:off x="381000" y="5143500"/>
              <a:ext cx="11430000" cy="1066800"/>
            </a:xfrm>
            <a:prstGeom prst="rect">
              <a:avLst/>
            </a:prstGeom>
            <a:solidFill>
              <a:schemeClr val="accent1"/>
            </a:solidFill>
            <a:ln>
              <a:noFill/>
            </a:ln>
          </p:spPr>
        </p:sp>
        <p:sp>
          <p:nvSpPr>
            <p:cNvPr id="30" name="TextBox 30"/>
            <p:cNvSpPr txBox="1"/>
            <p:nvPr/>
          </p:nvSpPr>
          <p:spPr>
            <a:xfrm>
              <a:off x="675894" y="5352098"/>
              <a:ext cx="3327425" cy="381381"/>
            </a:xfrm>
            <a:prstGeom prst="rect">
              <a:avLst/>
            </a:prstGeom>
            <a:noFill/>
            <a:ln>
              <a:noFill/>
            </a:ln>
          </p:spPr>
          <p:txBody>
            <a:bodyPr wrap="none" lIns="0" tIns="0" rIns="0" bIns="0" anchor="t" anchorCtr="0">
              <a:spAutoFit/>
            </a:bodyPr>
            <a:lstStyle/>
            <a:p>
              <a:pPr algn="l"/>
              <a:r>
                <a:rPr lang="zh-CN" sz="1950" b="1" dirty="0">
                  <a:solidFill>
                    <a:srgbClr val="FFFFFF"/>
                  </a:solidFill>
                  <a:latin typeface="+mn-lt"/>
                  <a:ea typeface="+mn-ea"/>
                  <a:cs typeface="+mn-cs"/>
                </a:rPr>
                <a:t>肺内外疾病均易致呼吸困难</a:t>
              </a:r>
            </a:p>
          </p:txBody>
        </p:sp>
        <p:sp>
          <p:nvSpPr>
            <p:cNvPr id="31" name="TextBox 31"/>
            <p:cNvSpPr txBox="1"/>
            <p:nvPr/>
          </p:nvSpPr>
          <p:spPr>
            <a:xfrm>
              <a:off x="678180" y="5762625"/>
              <a:ext cx="4659630" cy="293370"/>
            </a:xfrm>
            <a:prstGeom prst="rect">
              <a:avLst/>
            </a:prstGeom>
            <a:noFill/>
            <a:ln>
              <a:noFill/>
            </a:ln>
          </p:spPr>
          <p:txBody>
            <a:bodyPr wrap="none" lIns="0" tIns="0" rIns="0" bIns="0" anchor="t" anchorCtr="0">
              <a:spAutoFit/>
            </a:bodyPr>
            <a:lstStyle/>
            <a:p>
              <a:pPr algn="l"/>
              <a:r>
                <a:rPr lang="zh-CN" sz="1500" dirty="0">
                  <a:solidFill>
                    <a:srgbClr val="FFFFFF">
                      <a:alphaMod val="82000"/>
                    </a:srgbClr>
                  </a:solidFill>
                  <a:latin typeface="+mn-lt"/>
                  <a:ea typeface="+mn-ea"/>
                  <a:cs typeface="+mn-cs"/>
                </a:rPr>
                <a:t>识别不及时可迅速进展为呼吸衰竭，甚至心跳骤停。</a:t>
              </a:r>
            </a:p>
          </p:txBody>
        </p:sp>
      </p:grpSp>
      <p:grpSp>
        <p:nvGrpSpPr>
          <p:cNvPr id="35" name="Group 35"/>
          <p:cNvGrpSpPr/>
          <p:nvPr/>
        </p:nvGrpSpPr>
        <p:grpSpPr>
          <a:xfrm>
            <a:off x="374142" y="6445568"/>
            <a:ext cx="11443716" cy="264033"/>
            <a:chOff x="374142" y="6445568"/>
            <a:chExt cx="11443716" cy="264033"/>
          </a:xfrm>
        </p:grpSpPr>
        <p:sp>
          <p:nvSpPr>
            <p:cNvPr id="33" name="TextBox 33"/>
            <p:cNvSpPr txBox="1"/>
            <p:nvPr/>
          </p:nvSpPr>
          <p:spPr>
            <a:xfrm>
              <a:off x="374142" y="6445568"/>
              <a:ext cx="1176833"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01 识别与定位</a:t>
              </a:r>
            </a:p>
          </p:txBody>
        </p:sp>
        <p:sp>
          <p:nvSpPr>
            <p:cNvPr id="34" name="TextBox 34"/>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02 / 20</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554316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一条从识别到处理的完整链路</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30" name="Group 30"/>
          <p:cNvGrpSpPr/>
          <p:nvPr/>
        </p:nvGrpSpPr>
        <p:grpSpPr>
          <a:xfrm>
            <a:off x="371856" y="1414462"/>
            <a:ext cx="4741755" cy="4037839"/>
            <a:chOff x="371856" y="1414462"/>
            <a:chExt cx="4741755" cy="4037839"/>
          </a:xfrm>
        </p:grpSpPr>
        <p:sp>
          <p:nvSpPr>
            <p:cNvPr id="5" name="Line 5"/>
            <p:cNvSpPr/>
            <p:nvPr/>
          </p:nvSpPr>
          <p:spPr>
            <a:xfrm>
              <a:off x="1866900" y="1485900"/>
              <a:ext cx="9525" cy="3619500"/>
            </a:xfrm>
            <a:custGeom>
              <a:avLst/>
              <a:gdLst/>
              <a:ahLst/>
              <a:cxnLst/>
              <a:rect l="l" t="t" r="r" b="b"/>
              <a:pathLst>
                <a:path w="9525" h="3619500">
                  <a:moveTo>
                    <a:pt x="0" y="0"/>
                  </a:moveTo>
                  <a:lnTo>
                    <a:pt x="0" y="3619500"/>
                  </a:lnTo>
                </a:path>
              </a:pathLst>
            </a:custGeom>
            <a:noFill/>
            <a:ln w="19050">
              <a:solidFill>
                <a:schemeClr val="accent1"/>
              </a:solidFill>
            </a:ln>
          </p:spPr>
        </p:sp>
        <p:sp>
          <p:nvSpPr>
            <p:cNvPr id="6" name="Ellipse 6"/>
            <p:cNvSpPr/>
            <p:nvPr/>
          </p:nvSpPr>
          <p:spPr>
            <a:xfrm>
              <a:off x="1800225" y="1552575"/>
              <a:ext cx="133350" cy="133350"/>
            </a:xfrm>
            <a:prstGeom prst="ellipse">
              <a:avLst/>
            </a:prstGeom>
            <a:solidFill>
              <a:schemeClr val="accent1"/>
            </a:solidFill>
            <a:ln>
              <a:noFill/>
            </a:ln>
          </p:spPr>
        </p:sp>
        <p:sp>
          <p:nvSpPr>
            <p:cNvPr id="7" name="TextBox 7"/>
            <p:cNvSpPr txBox="1"/>
            <p:nvPr/>
          </p:nvSpPr>
          <p:spPr>
            <a:xfrm>
              <a:off x="371856" y="1501140"/>
              <a:ext cx="298163"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01</a:t>
              </a:r>
            </a:p>
          </p:txBody>
        </p:sp>
        <p:sp>
          <p:nvSpPr>
            <p:cNvPr id="8" name="TextBox 8"/>
            <p:cNvSpPr txBox="1"/>
            <p:nvPr/>
          </p:nvSpPr>
          <p:spPr>
            <a:xfrm>
              <a:off x="2160270" y="1414462"/>
              <a:ext cx="161305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定义与分类</a:t>
              </a:r>
            </a:p>
          </p:txBody>
        </p:sp>
        <p:sp>
          <p:nvSpPr>
            <p:cNvPr id="9" name="TextBox 9"/>
            <p:cNvSpPr txBox="1"/>
            <p:nvPr/>
          </p:nvSpPr>
          <p:spPr>
            <a:xfrm>
              <a:off x="2164842" y="1759268"/>
              <a:ext cx="2948769" cy="264033"/>
            </a:xfrm>
            <a:prstGeom prst="rect">
              <a:avLst/>
            </a:prstGeom>
            <a:noFill/>
            <a:ln>
              <a:noFill/>
            </a:ln>
          </p:spPr>
          <p:txBody>
            <a:bodyPr wrap="none" lIns="0" tIns="0" rIns="0" bIns="0" anchor="t" anchorCtr="0">
              <a:spAutoFit/>
            </a:bodyPr>
            <a:lstStyle/>
            <a:p>
              <a:pPr algn="l"/>
              <a:r>
                <a:rPr lang="zh-CN" sz="1350" dirty="0">
                  <a:solidFill>
                    <a:schemeClr val="dk1">
                      <a:alphaMod val="70000"/>
                    </a:schemeClr>
                  </a:solidFill>
                  <a:latin typeface="+mn-lt"/>
                  <a:ea typeface="+mn-ea"/>
                  <a:cs typeface="+mn-cs"/>
                </a:rPr>
                <a:t>主观体验 + 客观体征，三个分类维度</a:t>
              </a:r>
            </a:p>
          </p:txBody>
        </p:sp>
        <p:sp>
          <p:nvSpPr>
            <p:cNvPr id="10" name="Ellipse 10"/>
            <p:cNvSpPr/>
            <p:nvPr/>
          </p:nvSpPr>
          <p:spPr>
            <a:xfrm>
              <a:off x="1800225" y="2238375"/>
              <a:ext cx="133350" cy="133350"/>
            </a:xfrm>
            <a:prstGeom prst="ellipse">
              <a:avLst/>
            </a:prstGeom>
            <a:solidFill>
              <a:schemeClr val="accent1"/>
            </a:solidFill>
            <a:ln>
              <a:noFill/>
            </a:ln>
          </p:spPr>
        </p:sp>
        <p:sp>
          <p:nvSpPr>
            <p:cNvPr id="11" name="TextBox 11"/>
            <p:cNvSpPr txBox="1"/>
            <p:nvPr/>
          </p:nvSpPr>
          <p:spPr>
            <a:xfrm>
              <a:off x="371856" y="2186940"/>
              <a:ext cx="298163"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02</a:t>
              </a:r>
            </a:p>
          </p:txBody>
        </p:sp>
        <p:sp>
          <p:nvSpPr>
            <p:cNvPr id="12" name="TextBox 12"/>
            <p:cNvSpPr txBox="1"/>
            <p:nvPr/>
          </p:nvSpPr>
          <p:spPr>
            <a:xfrm>
              <a:off x="2160270" y="2100262"/>
              <a:ext cx="1931098"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病理生理机制</a:t>
              </a:r>
            </a:p>
          </p:txBody>
        </p:sp>
        <p:sp>
          <p:nvSpPr>
            <p:cNvPr id="13" name="TextBox 13"/>
            <p:cNvSpPr txBox="1"/>
            <p:nvPr/>
          </p:nvSpPr>
          <p:spPr>
            <a:xfrm>
              <a:off x="2164842" y="2445068"/>
              <a:ext cx="2194560" cy="264033"/>
            </a:xfrm>
            <a:prstGeom prst="rect">
              <a:avLst/>
            </a:prstGeom>
            <a:noFill/>
            <a:ln>
              <a:noFill/>
            </a:ln>
          </p:spPr>
          <p:txBody>
            <a:bodyPr wrap="none" lIns="0" tIns="0" rIns="0" bIns="0" anchor="t" anchorCtr="0">
              <a:spAutoFit/>
            </a:bodyPr>
            <a:lstStyle/>
            <a:p>
              <a:pPr algn="l"/>
              <a:r>
                <a:rPr lang="zh-CN" sz="1350" dirty="0">
                  <a:solidFill>
                    <a:schemeClr val="dk1">
                      <a:alphaMod val="70000"/>
                    </a:schemeClr>
                  </a:solidFill>
                  <a:latin typeface="+mn-lt"/>
                  <a:ea typeface="+mn-ea"/>
                  <a:cs typeface="+mn-cs"/>
                </a:rPr>
                <a:t>一条反射弧，四条共同通路</a:t>
              </a:r>
            </a:p>
          </p:txBody>
        </p:sp>
        <p:sp>
          <p:nvSpPr>
            <p:cNvPr id="14" name="Ellipse 14"/>
            <p:cNvSpPr/>
            <p:nvPr/>
          </p:nvSpPr>
          <p:spPr>
            <a:xfrm>
              <a:off x="1800225" y="2924175"/>
              <a:ext cx="133350" cy="133350"/>
            </a:xfrm>
            <a:prstGeom prst="ellipse">
              <a:avLst/>
            </a:prstGeom>
            <a:solidFill>
              <a:schemeClr val="accent1"/>
            </a:solidFill>
            <a:ln>
              <a:noFill/>
            </a:ln>
          </p:spPr>
        </p:sp>
        <p:sp>
          <p:nvSpPr>
            <p:cNvPr id="15" name="TextBox 15"/>
            <p:cNvSpPr txBox="1"/>
            <p:nvPr/>
          </p:nvSpPr>
          <p:spPr>
            <a:xfrm>
              <a:off x="371856" y="2872740"/>
              <a:ext cx="298163"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03</a:t>
              </a:r>
            </a:p>
          </p:txBody>
        </p:sp>
        <p:sp>
          <p:nvSpPr>
            <p:cNvPr id="16" name="TextBox 16"/>
            <p:cNvSpPr txBox="1"/>
            <p:nvPr/>
          </p:nvSpPr>
          <p:spPr>
            <a:xfrm>
              <a:off x="2160270" y="2786062"/>
              <a:ext cx="2249138"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病因与临床表现</a:t>
              </a:r>
            </a:p>
          </p:txBody>
        </p:sp>
        <p:sp>
          <p:nvSpPr>
            <p:cNvPr id="17" name="TextBox 17"/>
            <p:cNvSpPr txBox="1"/>
            <p:nvPr/>
          </p:nvSpPr>
          <p:spPr>
            <a:xfrm>
              <a:off x="2164842" y="3130868"/>
              <a:ext cx="2739771" cy="264033"/>
            </a:xfrm>
            <a:prstGeom prst="rect">
              <a:avLst/>
            </a:prstGeom>
            <a:noFill/>
            <a:ln>
              <a:noFill/>
            </a:ln>
          </p:spPr>
          <p:txBody>
            <a:bodyPr wrap="none" lIns="0" tIns="0" rIns="0" bIns="0" anchor="t" anchorCtr="0">
              <a:spAutoFit/>
            </a:bodyPr>
            <a:lstStyle/>
            <a:p>
              <a:pPr algn="l"/>
              <a:r>
                <a:rPr lang="zh-CN" sz="1350" dirty="0">
                  <a:solidFill>
                    <a:schemeClr val="dk1">
                      <a:alphaMod val="70000"/>
                    </a:schemeClr>
                  </a:solidFill>
                  <a:latin typeface="+mn-lt"/>
                  <a:ea typeface="+mn-ea"/>
                  <a:cs typeface="+mn-cs"/>
                </a:rPr>
                <a:t>时相三分、五类病因、心源与肺源</a:t>
              </a:r>
            </a:p>
          </p:txBody>
        </p:sp>
        <p:sp>
          <p:nvSpPr>
            <p:cNvPr id="18" name="Ellipse 18"/>
            <p:cNvSpPr/>
            <p:nvPr/>
          </p:nvSpPr>
          <p:spPr>
            <a:xfrm>
              <a:off x="1800225" y="3609975"/>
              <a:ext cx="133350" cy="133350"/>
            </a:xfrm>
            <a:prstGeom prst="ellipse">
              <a:avLst/>
            </a:prstGeom>
            <a:solidFill>
              <a:schemeClr val="accent1"/>
            </a:solidFill>
            <a:ln>
              <a:noFill/>
            </a:ln>
          </p:spPr>
        </p:sp>
        <p:sp>
          <p:nvSpPr>
            <p:cNvPr id="19" name="TextBox 19"/>
            <p:cNvSpPr txBox="1"/>
            <p:nvPr/>
          </p:nvSpPr>
          <p:spPr>
            <a:xfrm>
              <a:off x="371856" y="3558540"/>
              <a:ext cx="298163"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04</a:t>
              </a:r>
            </a:p>
          </p:txBody>
        </p:sp>
        <p:sp>
          <p:nvSpPr>
            <p:cNvPr id="20" name="TextBox 20"/>
            <p:cNvSpPr txBox="1"/>
            <p:nvPr/>
          </p:nvSpPr>
          <p:spPr>
            <a:xfrm>
              <a:off x="2160270" y="3471862"/>
              <a:ext cx="2055914"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分度与 ABCDE</a:t>
              </a:r>
            </a:p>
          </p:txBody>
        </p:sp>
        <p:sp>
          <p:nvSpPr>
            <p:cNvPr id="21" name="TextBox 21"/>
            <p:cNvSpPr txBox="1"/>
            <p:nvPr/>
          </p:nvSpPr>
          <p:spPr>
            <a:xfrm>
              <a:off x="2164842" y="3816668"/>
              <a:ext cx="2921508" cy="264033"/>
            </a:xfrm>
            <a:prstGeom prst="rect">
              <a:avLst/>
            </a:prstGeom>
            <a:noFill/>
            <a:ln>
              <a:noFill/>
            </a:ln>
          </p:spPr>
          <p:txBody>
            <a:bodyPr wrap="none" lIns="0" tIns="0" rIns="0" bIns="0" anchor="t" anchorCtr="0">
              <a:spAutoFit/>
            </a:bodyPr>
            <a:lstStyle/>
            <a:p>
              <a:pPr algn="l"/>
              <a:r>
                <a:rPr lang="zh-CN" sz="1350" dirty="0">
                  <a:solidFill>
                    <a:schemeClr val="dk1">
                      <a:alphaMod val="70000"/>
                    </a:schemeClr>
                  </a:solidFill>
                  <a:latin typeface="+mn-lt"/>
                  <a:ea typeface="+mn-ea"/>
                  <a:cs typeface="+mn-cs"/>
                </a:rPr>
                <a:t>轻中重三档，五分钟完成第一次分层</a:t>
              </a:r>
            </a:p>
          </p:txBody>
        </p:sp>
        <p:sp>
          <p:nvSpPr>
            <p:cNvPr id="22" name="Ellipse 22"/>
            <p:cNvSpPr/>
            <p:nvPr/>
          </p:nvSpPr>
          <p:spPr>
            <a:xfrm>
              <a:off x="1800225" y="4295775"/>
              <a:ext cx="133350" cy="133350"/>
            </a:xfrm>
            <a:prstGeom prst="ellipse">
              <a:avLst/>
            </a:prstGeom>
            <a:solidFill>
              <a:schemeClr val="accent2"/>
            </a:solidFill>
            <a:ln>
              <a:noFill/>
            </a:ln>
          </p:spPr>
        </p:sp>
        <p:sp>
          <p:nvSpPr>
            <p:cNvPr id="23" name="TextBox 23"/>
            <p:cNvSpPr txBox="1"/>
            <p:nvPr/>
          </p:nvSpPr>
          <p:spPr>
            <a:xfrm>
              <a:off x="371856" y="4244340"/>
              <a:ext cx="29816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05</a:t>
              </a:r>
            </a:p>
          </p:txBody>
        </p:sp>
        <p:sp>
          <p:nvSpPr>
            <p:cNvPr id="24" name="TextBox 24"/>
            <p:cNvSpPr txBox="1"/>
            <p:nvPr/>
          </p:nvSpPr>
          <p:spPr>
            <a:xfrm>
              <a:off x="2160270" y="4157662"/>
              <a:ext cx="2249138"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病因诊断四步法</a:t>
              </a:r>
            </a:p>
          </p:txBody>
        </p:sp>
        <p:sp>
          <p:nvSpPr>
            <p:cNvPr id="25" name="TextBox 25"/>
            <p:cNvSpPr txBox="1"/>
            <p:nvPr/>
          </p:nvSpPr>
          <p:spPr>
            <a:xfrm>
              <a:off x="2164842" y="4502468"/>
              <a:ext cx="2921508" cy="264033"/>
            </a:xfrm>
            <a:prstGeom prst="rect">
              <a:avLst/>
            </a:prstGeom>
            <a:noFill/>
            <a:ln>
              <a:noFill/>
            </a:ln>
          </p:spPr>
          <p:txBody>
            <a:bodyPr wrap="none" lIns="0" tIns="0" rIns="0" bIns="0" anchor="t" anchorCtr="0">
              <a:spAutoFit/>
            </a:bodyPr>
            <a:lstStyle/>
            <a:p>
              <a:pPr algn="l"/>
              <a:r>
                <a:rPr lang="zh-CN" sz="1350" dirty="0">
                  <a:solidFill>
                    <a:schemeClr val="dk1">
                      <a:alphaMod val="70000"/>
                    </a:schemeClr>
                  </a:solidFill>
                  <a:latin typeface="+mn-lt"/>
                  <a:ea typeface="+mn-ea"/>
                  <a:cs typeface="+mn-cs"/>
                </a:rPr>
                <a:t>四个连续判断，把病因收窄到可处理</a:t>
              </a:r>
            </a:p>
          </p:txBody>
        </p:sp>
        <p:sp>
          <p:nvSpPr>
            <p:cNvPr id="26" name="Ellipse 26"/>
            <p:cNvSpPr/>
            <p:nvPr/>
          </p:nvSpPr>
          <p:spPr>
            <a:xfrm>
              <a:off x="1800225" y="4981575"/>
              <a:ext cx="133350" cy="133350"/>
            </a:xfrm>
            <a:prstGeom prst="ellipse">
              <a:avLst/>
            </a:prstGeom>
            <a:solidFill>
              <a:schemeClr val="accent1"/>
            </a:solidFill>
            <a:ln>
              <a:noFill/>
            </a:ln>
          </p:spPr>
        </p:sp>
        <p:sp>
          <p:nvSpPr>
            <p:cNvPr id="27" name="TextBox 27"/>
            <p:cNvSpPr txBox="1"/>
            <p:nvPr/>
          </p:nvSpPr>
          <p:spPr>
            <a:xfrm>
              <a:off x="371856" y="4930140"/>
              <a:ext cx="298163"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06</a:t>
              </a:r>
            </a:p>
          </p:txBody>
        </p:sp>
        <p:sp>
          <p:nvSpPr>
            <p:cNvPr id="28" name="TextBox 28"/>
            <p:cNvSpPr txBox="1"/>
            <p:nvPr/>
          </p:nvSpPr>
          <p:spPr>
            <a:xfrm>
              <a:off x="2160270" y="4843462"/>
              <a:ext cx="129501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治疗原则</a:t>
              </a:r>
            </a:p>
          </p:txBody>
        </p:sp>
        <p:sp>
          <p:nvSpPr>
            <p:cNvPr id="29" name="TextBox 29"/>
            <p:cNvSpPr txBox="1"/>
            <p:nvPr/>
          </p:nvSpPr>
          <p:spPr>
            <a:xfrm>
              <a:off x="2164842" y="5188268"/>
              <a:ext cx="2558034" cy="264033"/>
            </a:xfrm>
            <a:prstGeom prst="rect">
              <a:avLst/>
            </a:prstGeom>
            <a:noFill/>
            <a:ln>
              <a:noFill/>
            </a:ln>
          </p:spPr>
          <p:txBody>
            <a:bodyPr wrap="none" lIns="0" tIns="0" rIns="0" bIns="0" anchor="t" anchorCtr="0">
              <a:spAutoFit/>
            </a:bodyPr>
            <a:lstStyle/>
            <a:p>
              <a:pPr algn="l"/>
              <a:r>
                <a:rPr lang="zh-CN" sz="1350" dirty="0">
                  <a:solidFill>
                    <a:schemeClr val="dk1">
                      <a:alphaMod val="70000"/>
                    </a:schemeClr>
                  </a:solidFill>
                  <a:latin typeface="+mn-lt"/>
                  <a:ea typeface="+mn-ea"/>
                  <a:cs typeface="+mn-cs"/>
                </a:rPr>
                <a:t>先稳定生命体征，病因治疗同步</a:t>
              </a:r>
            </a:p>
          </p:txBody>
        </p:sp>
      </p:grpSp>
      <p:grpSp>
        <p:nvGrpSpPr>
          <p:cNvPr id="39" name="Group 39"/>
          <p:cNvGrpSpPr/>
          <p:nvPr/>
        </p:nvGrpSpPr>
        <p:grpSpPr>
          <a:xfrm>
            <a:off x="7429500" y="1428750"/>
            <a:ext cx="4381500" cy="4095750"/>
            <a:chOff x="7429500" y="1428750"/>
            <a:chExt cx="4381500" cy="4095750"/>
          </a:xfrm>
        </p:grpSpPr>
        <p:sp>
          <p:nvSpPr>
            <p:cNvPr id="31" name="Rectangle 31"/>
            <p:cNvSpPr/>
            <p:nvPr/>
          </p:nvSpPr>
          <p:spPr>
            <a:xfrm>
              <a:off x="7429500" y="1428750"/>
              <a:ext cx="4381500" cy="4095750"/>
            </a:xfrm>
            <a:prstGeom prst="rect">
              <a:avLst/>
            </a:prstGeom>
            <a:solidFill>
              <a:schemeClr val="lt2"/>
            </a:solidFill>
            <a:ln>
              <a:noFill/>
            </a:ln>
          </p:spPr>
        </p:sp>
        <p:sp>
          <p:nvSpPr>
            <p:cNvPr id="32" name="TextBox 32"/>
            <p:cNvSpPr txBox="1"/>
            <p:nvPr/>
          </p:nvSpPr>
          <p:spPr>
            <a:xfrm>
              <a:off x="7721346" y="1744028"/>
              <a:ext cx="2909468" cy="498729"/>
            </a:xfrm>
            <a:prstGeom prst="rect">
              <a:avLst/>
            </a:prstGeom>
            <a:noFill/>
            <a:ln>
              <a:noFill/>
            </a:ln>
          </p:spPr>
          <p:txBody>
            <a:bodyPr wrap="none" lIns="0" tIns="0" rIns="0" bIns="0" anchor="t" anchorCtr="0">
              <a:spAutoFit/>
            </a:bodyPr>
            <a:lstStyle/>
            <a:p>
              <a:pPr algn="l"/>
              <a:r>
                <a:rPr lang="zh-CN" sz="2550" b="1" dirty="0">
                  <a:solidFill>
                    <a:schemeClr val="accent1"/>
                  </a:solidFill>
                  <a:latin typeface="+mn-lt"/>
                  <a:ea typeface="+mn-ea"/>
                  <a:cs typeface="+mn-cs"/>
                </a:rPr>
                <a:t>今天只练一条路径</a:t>
              </a:r>
            </a:p>
          </p:txBody>
        </p:sp>
        <p:sp>
          <p:nvSpPr>
            <p:cNvPr id="33" name="Line 33"/>
            <p:cNvSpPr/>
            <p:nvPr/>
          </p:nvSpPr>
          <p:spPr>
            <a:xfrm>
              <a:off x="7734300" y="2286000"/>
              <a:ext cx="3771900" cy="9525"/>
            </a:xfrm>
            <a:custGeom>
              <a:avLst/>
              <a:gdLst/>
              <a:ahLst/>
              <a:cxnLst/>
              <a:rect l="l" t="t" r="r" b="b"/>
              <a:pathLst>
                <a:path w="3771900" h="9525">
                  <a:moveTo>
                    <a:pt x="0" y="0"/>
                  </a:moveTo>
                  <a:lnTo>
                    <a:pt x="3771900" y="0"/>
                  </a:lnTo>
                </a:path>
              </a:pathLst>
            </a:custGeom>
            <a:noFill/>
            <a:ln w="9525">
              <a:solidFill>
                <a:schemeClr val="accent1"/>
              </a:solidFill>
            </a:ln>
          </p:spPr>
        </p:sp>
        <p:sp>
          <p:nvSpPr>
            <p:cNvPr id="34" name="TextBox 34"/>
            <p:cNvSpPr txBox="1"/>
            <p:nvPr/>
          </p:nvSpPr>
          <p:spPr>
            <a:xfrm>
              <a:off x="7725156" y="2567940"/>
              <a:ext cx="1812798" cy="1228344"/>
            </a:xfrm>
            <a:prstGeom prst="rect">
              <a:avLst/>
            </a:prstGeom>
            <a:noFill/>
            <a:ln>
              <a:noFill/>
            </a:ln>
          </p:spPr>
          <p:txBody>
            <a:bodyPr wrap="square" lIns="0" tIns="0" rIns="0" bIns="0" anchor="t" anchorCtr="0"/>
            <a:lstStyle/>
            <a:p>
              <a:pPr algn="l">
                <a:lnSpc>
                  <a:spcPts val="3450"/>
                </a:lnSpc>
              </a:pPr>
              <a:r>
                <a:rPr lang="zh-CN" sz="1800" dirty="0">
                  <a:solidFill>
                    <a:schemeClr val="dk1"/>
                  </a:solidFill>
                  <a:latin typeface="+mn-lt"/>
                  <a:ea typeface="+mn-ea"/>
                  <a:cs typeface="+mn-cs"/>
                </a:rPr>
                <a:t>① 先评估：重不重② 再定位：像什么③ 后处理：先稳住</a:t>
              </a:r>
            </a:p>
          </p:txBody>
        </p:sp>
        <p:sp>
          <p:nvSpPr>
            <p:cNvPr id="35" name="Line 35"/>
            <p:cNvSpPr/>
            <p:nvPr/>
          </p:nvSpPr>
          <p:spPr>
            <a:xfrm>
              <a:off x="7734300" y="4038600"/>
              <a:ext cx="3771900" cy="9525"/>
            </a:xfrm>
            <a:custGeom>
              <a:avLst/>
              <a:gdLst/>
              <a:ahLst/>
              <a:cxnLst/>
              <a:rect l="l" t="t" r="r" b="b"/>
              <a:pathLst>
                <a:path w="3771900" h="9525">
                  <a:moveTo>
                    <a:pt x="0" y="0"/>
                  </a:moveTo>
                  <a:lnTo>
                    <a:pt x="3771900" y="0"/>
                  </a:lnTo>
                </a:path>
              </a:pathLst>
            </a:custGeom>
            <a:noFill/>
            <a:ln w="9525">
              <a:solidFill>
                <a:schemeClr val="dk1">
                  <a:alpha val="20000"/>
                </a:schemeClr>
              </a:solidFill>
            </a:ln>
          </p:spPr>
        </p:sp>
        <p:sp>
          <p:nvSpPr>
            <p:cNvPr id="36" name="TextBox 36"/>
            <p:cNvSpPr txBox="1"/>
            <p:nvPr/>
          </p:nvSpPr>
          <p:spPr>
            <a:xfrm>
              <a:off x="7727442" y="4292918"/>
              <a:ext cx="626574"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新概念</a:t>
              </a:r>
            </a:p>
          </p:txBody>
        </p:sp>
        <p:sp>
          <p:nvSpPr>
            <p:cNvPr id="37" name="TextBox 37"/>
            <p:cNvSpPr txBox="1"/>
            <p:nvPr/>
          </p:nvSpPr>
          <p:spPr>
            <a:xfrm>
              <a:off x="7722870" y="4595812"/>
              <a:ext cx="129501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呼吸障碍</a:t>
              </a:r>
            </a:p>
          </p:txBody>
        </p:sp>
        <p:sp>
          <p:nvSpPr>
            <p:cNvPr id="38" name="TextBox 38"/>
            <p:cNvSpPr txBox="1"/>
            <p:nvPr/>
          </p:nvSpPr>
          <p:spPr>
            <a:xfrm>
              <a:off x="7725156" y="5006340"/>
              <a:ext cx="175084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快速型 / 缓慢型</a:t>
              </a:r>
            </a:p>
          </p:txBody>
        </p:sp>
      </p:grpSp>
      <p:grpSp>
        <p:nvGrpSpPr>
          <p:cNvPr id="42" name="Group 42"/>
          <p:cNvGrpSpPr/>
          <p:nvPr/>
        </p:nvGrpSpPr>
        <p:grpSpPr>
          <a:xfrm>
            <a:off x="374142" y="6445568"/>
            <a:ext cx="11443716" cy="264033"/>
            <a:chOff x="374142" y="6445568"/>
            <a:chExt cx="11443716" cy="264033"/>
          </a:xfrm>
        </p:grpSpPr>
        <p:sp>
          <p:nvSpPr>
            <p:cNvPr id="40" name="TextBox 40"/>
            <p:cNvSpPr txBox="1"/>
            <p:nvPr/>
          </p:nvSpPr>
          <p:spPr>
            <a:xfrm>
              <a:off x="374142" y="6445568"/>
              <a:ext cx="1176833"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01 识别与定位</a:t>
              </a:r>
            </a:p>
          </p:txBody>
        </p:sp>
        <p:sp>
          <p:nvSpPr>
            <p:cNvPr id="41" name="TextBox 41"/>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03 / 20</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473746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呼吸困难不只是“喘得快”</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7" name="Group 17"/>
          <p:cNvGrpSpPr/>
          <p:nvPr/>
        </p:nvGrpSpPr>
        <p:grpSpPr>
          <a:xfrm>
            <a:off x="368046" y="1443037"/>
            <a:ext cx="3109341" cy="3247264"/>
            <a:chOff x="368046" y="1443037"/>
            <a:chExt cx="3109341" cy="3247264"/>
          </a:xfrm>
        </p:grpSpPr>
        <p:grpSp>
          <p:nvGrpSpPr>
            <p:cNvPr id="10" name="Group 10"/>
            <p:cNvGrpSpPr/>
            <p:nvPr/>
          </p:nvGrpSpPr>
          <p:grpSpPr>
            <a:xfrm>
              <a:off x="433387" y="1443037"/>
              <a:ext cx="331787" cy="314325"/>
              <a:chOff x="433387" y="1443037"/>
              <a:chExt cx="331787" cy="314325"/>
            </a:xfrm>
          </p:grpSpPr>
          <p:sp>
            <p:nvSpPr>
              <p:cNvPr id="5" name="Freeform 5"/>
              <p:cNvSpPr/>
              <p:nvPr/>
            </p:nvSpPr>
            <p:spPr>
              <a:xfrm>
                <a:off x="433387" y="1460500"/>
                <a:ext cx="192087" cy="192087"/>
              </a:xfrm>
              <a:custGeom>
                <a:avLst/>
                <a:gdLst/>
                <a:ahLst/>
                <a:cxnLst/>
                <a:rect l="l" t="t" r="r" b="b"/>
                <a:pathLst>
                  <a:path w="192087" h="192087">
                    <a:moveTo>
                      <a:pt x="52387" y="0"/>
                    </a:moveTo>
                    <a:lnTo>
                      <a:pt x="34925" y="0"/>
                    </a:lnTo>
                    <a:cubicBezTo>
                      <a:pt x="15636" y="0"/>
                      <a:pt x="0" y="15636"/>
                      <a:pt x="0" y="34925"/>
                    </a:cubicBezTo>
                    <a:lnTo>
                      <a:pt x="0" y="96044"/>
                    </a:lnTo>
                    <a:cubicBezTo>
                      <a:pt x="0" y="149087"/>
                      <a:pt x="43000" y="192087"/>
                      <a:pt x="96044" y="192087"/>
                    </a:cubicBezTo>
                    <a:cubicBezTo>
                      <a:pt x="149087" y="192087"/>
                      <a:pt x="192087" y="149087"/>
                      <a:pt x="192087" y="96044"/>
                    </a:cubicBezTo>
                    <a:lnTo>
                      <a:pt x="192087" y="34925"/>
                    </a:lnTo>
                    <a:cubicBezTo>
                      <a:pt x="192087" y="15636"/>
                      <a:pt x="176451" y="0"/>
                      <a:pt x="157162" y="0"/>
                    </a:cubicBezTo>
                    <a:lnTo>
                      <a:pt x="139700" y="0"/>
                    </a:lnTo>
                  </a:path>
                </a:pathLst>
              </a:custGeom>
              <a:noFill/>
              <a:ln w="34925">
                <a:solidFill>
                  <a:schemeClr val="accent1"/>
                </a:solidFill>
              </a:ln>
            </p:spPr>
          </p:sp>
          <p:sp>
            <p:nvSpPr>
              <p:cNvPr id="6" name="Freeform 6"/>
              <p:cNvSpPr/>
              <p:nvPr/>
            </p:nvSpPr>
            <p:spPr>
              <a:xfrm>
                <a:off x="520700" y="1600200"/>
                <a:ext cx="209550" cy="157162"/>
              </a:xfrm>
              <a:custGeom>
                <a:avLst/>
                <a:gdLst/>
                <a:ahLst/>
                <a:cxnLst/>
                <a:rect l="l" t="t" r="r" b="b"/>
                <a:pathLst>
                  <a:path w="209550" h="157162">
                    <a:moveTo>
                      <a:pt x="0" y="52387"/>
                    </a:moveTo>
                    <a:cubicBezTo>
                      <a:pt x="0" y="110253"/>
                      <a:pt x="46909" y="157162"/>
                      <a:pt x="104775" y="157162"/>
                    </a:cubicBezTo>
                    <a:cubicBezTo>
                      <a:pt x="162640" y="157162"/>
                      <a:pt x="209550" y="110253"/>
                      <a:pt x="209550" y="52387"/>
                    </a:cubicBezTo>
                    <a:lnTo>
                      <a:pt x="209550" y="0"/>
                    </a:lnTo>
                  </a:path>
                </a:pathLst>
              </a:custGeom>
              <a:noFill/>
              <a:ln w="34925">
                <a:solidFill>
                  <a:schemeClr val="accent1"/>
                </a:solidFill>
              </a:ln>
            </p:spPr>
          </p:sp>
          <p:sp>
            <p:nvSpPr>
              <p:cNvPr id="7" name="Freeform 7"/>
              <p:cNvSpPr/>
              <p:nvPr/>
            </p:nvSpPr>
            <p:spPr>
              <a:xfrm>
                <a:off x="573087" y="14430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8" name="Freeform 8"/>
              <p:cNvSpPr/>
              <p:nvPr/>
            </p:nvSpPr>
            <p:spPr>
              <a:xfrm>
                <a:off x="485775" y="14430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9" name="Freeform 9"/>
              <p:cNvSpPr/>
              <p:nvPr/>
            </p:nvSpPr>
            <p:spPr>
              <a:xfrm>
                <a:off x="695324" y="1530350"/>
                <a:ext cx="69850" cy="69850"/>
              </a:xfrm>
              <a:custGeom>
                <a:avLst/>
                <a:gdLst/>
                <a:ahLst/>
                <a:cxnLst/>
                <a:rect l="l" t="t" r="r" b="b"/>
                <a:pathLst>
                  <a:path w="69850" h="69850">
                    <a:moveTo>
                      <a:pt x="0" y="34925"/>
                    </a:moveTo>
                    <a:cubicBezTo>
                      <a:pt x="0" y="54213"/>
                      <a:pt x="15636" y="69850"/>
                      <a:pt x="34925" y="69850"/>
                    </a:cubicBezTo>
                    <a:cubicBezTo>
                      <a:pt x="54213" y="69850"/>
                      <a:pt x="69850" y="54213"/>
                      <a:pt x="69850" y="34925"/>
                    </a:cubicBezTo>
                    <a:cubicBezTo>
                      <a:pt x="69850" y="15636"/>
                      <a:pt x="54213" y="0"/>
                      <a:pt x="34925" y="0"/>
                    </a:cubicBezTo>
                    <a:cubicBezTo>
                      <a:pt x="15636" y="0"/>
                      <a:pt x="0" y="15636"/>
                      <a:pt x="0" y="34925"/>
                    </a:cubicBezTo>
                  </a:path>
                </a:pathLst>
              </a:custGeom>
              <a:noFill/>
              <a:ln w="34925">
                <a:solidFill>
                  <a:schemeClr val="accent1"/>
                </a:solidFill>
              </a:ln>
            </p:spPr>
          </p:sp>
        </p:grpSp>
        <p:sp>
          <p:nvSpPr>
            <p:cNvPr id="11" name="TextBox 11"/>
            <p:cNvSpPr txBox="1"/>
            <p:nvPr/>
          </p:nvSpPr>
          <p:spPr>
            <a:xfrm>
              <a:off x="983742" y="1568768"/>
              <a:ext cx="837590" cy="264033"/>
            </a:xfrm>
            <a:prstGeom prst="rect">
              <a:avLst/>
            </a:prstGeom>
            <a:noFill/>
            <a:ln>
              <a:noFill/>
            </a:ln>
          </p:spPr>
          <p:txBody>
            <a:bodyPr wrap="none" lIns="0" tIns="0" rIns="0" bIns="0" anchor="t" anchorCtr="0">
              <a:spAutoFit/>
            </a:bodyPr>
            <a:lstStyle/>
            <a:p>
              <a:pPr algn="l"/>
              <a:r>
                <a:rPr lang="zh-CN" sz="1350" b="1" spc="150" dirty="0">
                  <a:solidFill>
                    <a:schemeClr val="accent3"/>
                  </a:solidFill>
                  <a:latin typeface="+mn-lt"/>
                  <a:ea typeface="+mn-ea"/>
                  <a:cs typeface="+mn-cs"/>
                </a:rPr>
                <a:t>主观体验</a:t>
              </a:r>
            </a:p>
          </p:txBody>
        </p:sp>
        <p:sp>
          <p:nvSpPr>
            <p:cNvPr id="12" name="TextBox 12"/>
            <p:cNvSpPr txBox="1"/>
            <p:nvPr/>
          </p:nvSpPr>
          <p:spPr>
            <a:xfrm>
              <a:off x="368046" y="2391728"/>
              <a:ext cx="1467688" cy="498729"/>
            </a:xfrm>
            <a:prstGeom prst="rect">
              <a:avLst/>
            </a:prstGeom>
            <a:noFill/>
            <a:ln>
              <a:noFill/>
            </a:ln>
          </p:spPr>
          <p:txBody>
            <a:bodyPr wrap="none" lIns="0" tIns="0" rIns="0" bIns="0" anchor="t" anchorCtr="0">
              <a:spAutoFit/>
            </a:bodyPr>
            <a:lstStyle/>
            <a:p>
              <a:pPr algn="l"/>
              <a:r>
                <a:rPr lang="zh-CN" sz="2550" b="1" dirty="0">
                  <a:solidFill>
                    <a:schemeClr val="accent1"/>
                  </a:solidFill>
                  <a:latin typeface="+mn-lt"/>
                  <a:ea typeface="+mn-ea"/>
                  <a:cs typeface="+mn-cs"/>
                </a:rPr>
                <a:t>空气不足</a:t>
              </a:r>
            </a:p>
          </p:txBody>
        </p:sp>
        <p:sp>
          <p:nvSpPr>
            <p:cNvPr id="13" name="TextBox 13"/>
            <p:cNvSpPr txBox="1"/>
            <p:nvPr/>
          </p:nvSpPr>
          <p:spPr>
            <a:xfrm>
              <a:off x="368046" y="2982278"/>
              <a:ext cx="1467688" cy="498729"/>
            </a:xfrm>
            <a:prstGeom prst="rect">
              <a:avLst/>
            </a:prstGeom>
            <a:noFill/>
            <a:ln>
              <a:noFill/>
            </a:ln>
          </p:spPr>
          <p:txBody>
            <a:bodyPr wrap="none" lIns="0" tIns="0" rIns="0" bIns="0" anchor="t" anchorCtr="0">
              <a:spAutoFit/>
            </a:bodyPr>
            <a:lstStyle/>
            <a:p>
              <a:pPr algn="l"/>
              <a:r>
                <a:rPr lang="zh-CN" sz="2550" b="1" dirty="0">
                  <a:solidFill>
                    <a:schemeClr val="accent1"/>
                  </a:solidFill>
                  <a:latin typeface="+mn-lt"/>
                  <a:ea typeface="+mn-ea"/>
                  <a:cs typeface="+mn-cs"/>
                </a:rPr>
                <a:t>呼吸费力</a:t>
              </a:r>
            </a:p>
          </p:txBody>
        </p:sp>
        <p:sp>
          <p:nvSpPr>
            <p:cNvPr id="14" name="TextBox 14"/>
            <p:cNvSpPr txBox="1"/>
            <p:nvPr/>
          </p:nvSpPr>
          <p:spPr>
            <a:xfrm>
              <a:off x="368046" y="3572828"/>
              <a:ext cx="1107243" cy="498729"/>
            </a:xfrm>
            <a:prstGeom prst="rect">
              <a:avLst/>
            </a:prstGeom>
            <a:noFill/>
            <a:ln>
              <a:noFill/>
            </a:ln>
          </p:spPr>
          <p:txBody>
            <a:bodyPr wrap="none" lIns="0" tIns="0" rIns="0" bIns="0" anchor="t" anchorCtr="0">
              <a:spAutoFit/>
            </a:bodyPr>
            <a:lstStyle/>
            <a:p>
              <a:pPr algn="l"/>
              <a:r>
                <a:rPr lang="zh-CN" sz="2550" b="1" dirty="0">
                  <a:solidFill>
                    <a:schemeClr val="accent1"/>
                  </a:solidFill>
                  <a:latin typeface="+mn-lt"/>
                  <a:ea typeface="+mn-ea"/>
                  <a:cs typeface="+mn-cs"/>
                </a:rPr>
                <a:t>窒息感</a:t>
              </a:r>
            </a:p>
          </p:txBody>
        </p:sp>
        <p:sp>
          <p:nvSpPr>
            <p:cNvPr id="15" name="Rectangle 15"/>
            <p:cNvSpPr/>
            <p:nvPr/>
          </p:nvSpPr>
          <p:spPr>
            <a:xfrm>
              <a:off x="381000" y="4152900"/>
              <a:ext cx="457200" cy="28575"/>
            </a:xfrm>
            <a:prstGeom prst="rect">
              <a:avLst/>
            </a:prstGeom>
            <a:solidFill>
              <a:schemeClr val="accent3"/>
            </a:solidFill>
            <a:ln>
              <a:noFill/>
            </a:ln>
          </p:spPr>
        </p:sp>
        <p:sp>
          <p:nvSpPr>
            <p:cNvPr id="16" name="TextBox 16"/>
            <p:cNvSpPr txBox="1"/>
            <p:nvPr/>
          </p:nvSpPr>
          <p:spPr>
            <a:xfrm>
              <a:off x="374142" y="4426268"/>
              <a:ext cx="3103245" cy="264033"/>
            </a:xfrm>
            <a:prstGeom prst="rect">
              <a:avLst/>
            </a:prstGeom>
            <a:noFill/>
            <a:ln>
              <a:noFill/>
            </a:ln>
          </p:spPr>
          <p:txBody>
            <a:bodyPr wrap="none" lIns="0" tIns="0" rIns="0" bIns="0" anchor="t" anchorCtr="0">
              <a:spAutoFit/>
            </a:bodyPr>
            <a:lstStyle/>
            <a:p>
              <a:pPr algn="l"/>
              <a:r>
                <a:rPr lang="zh-CN" sz="1350" dirty="0">
                  <a:solidFill>
                    <a:schemeClr val="dk1">
                      <a:alphaMod val="70000"/>
                    </a:schemeClr>
                  </a:solidFill>
                  <a:latin typeface="+mn-lt"/>
                  <a:ea typeface="+mn-ea"/>
                  <a:cs typeface="+mn-cs"/>
                </a:rPr>
                <a:t>患者自觉的呼吸不适，说不出、量不准</a:t>
              </a:r>
            </a:p>
          </p:txBody>
        </p:sp>
      </p:grpSp>
      <p:grpSp>
        <p:nvGrpSpPr>
          <p:cNvPr id="25" name="Group 25"/>
          <p:cNvGrpSpPr/>
          <p:nvPr/>
        </p:nvGrpSpPr>
        <p:grpSpPr>
          <a:xfrm>
            <a:off x="6096000" y="1428750"/>
            <a:ext cx="3599231" cy="3333750"/>
            <a:chOff x="6096000" y="1428750"/>
            <a:chExt cx="3599231" cy="3333750"/>
          </a:xfrm>
        </p:grpSpPr>
        <p:sp>
          <p:nvSpPr>
            <p:cNvPr id="18" name="Line 18"/>
            <p:cNvSpPr/>
            <p:nvPr/>
          </p:nvSpPr>
          <p:spPr>
            <a:xfrm>
              <a:off x="6096000" y="1428750"/>
              <a:ext cx="9525" cy="3333750"/>
            </a:xfrm>
            <a:custGeom>
              <a:avLst/>
              <a:gdLst/>
              <a:ahLst/>
              <a:cxnLst/>
              <a:rect l="l" t="t" r="r" b="b"/>
              <a:pathLst>
                <a:path w="9525" h="3333750">
                  <a:moveTo>
                    <a:pt x="0" y="0"/>
                  </a:moveTo>
                  <a:lnTo>
                    <a:pt x="0" y="3333750"/>
                  </a:lnTo>
                </a:path>
              </a:pathLst>
            </a:custGeom>
            <a:noFill/>
            <a:ln w="9525">
              <a:solidFill>
                <a:schemeClr val="dk1">
                  <a:alpha val="25000"/>
                </a:schemeClr>
              </a:solidFill>
            </a:ln>
          </p:spPr>
        </p:sp>
        <p:sp>
          <p:nvSpPr>
            <p:cNvPr id="19" name="TextBox 19"/>
            <p:cNvSpPr txBox="1"/>
            <p:nvPr/>
          </p:nvSpPr>
          <p:spPr>
            <a:xfrm>
              <a:off x="6470142" y="1568768"/>
              <a:ext cx="837590" cy="264033"/>
            </a:xfrm>
            <a:prstGeom prst="rect">
              <a:avLst/>
            </a:prstGeom>
            <a:noFill/>
            <a:ln>
              <a:noFill/>
            </a:ln>
          </p:spPr>
          <p:txBody>
            <a:bodyPr wrap="none" lIns="0" tIns="0" rIns="0" bIns="0" anchor="t" anchorCtr="0">
              <a:spAutoFit/>
            </a:bodyPr>
            <a:lstStyle/>
            <a:p>
              <a:pPr algn="l"/>
              <a:r>
                <a:rPr lang="zh-CN" sz="1350" b="1" spc="150" dirty="0">
                  <a:solidFill>
                    <a:schemeClr val="accent3"/>
                  </a:solidFill>
                  <a:latin typeface="+mn-lt"/>
                  <a:ea typeface="+mn-ea"/>
                  <a:cs typeface="+mn-cs"/>
                </a:rPr>
                <a:t>客观体征</a:t>
              </a:r>
            </a:p>
          </p:txBody>
        </p:sp>
        <p:sp>
          <p:nvSpPr>
            <p:cNvPr id="20" name="Line 20"/>
            <p:cNvSpPr/>
            <p:nvPr/>
          </p:nvSpPr>
          <p:spPr>
            <a:xfrm>
              <a:off x="6477000" y="1981200"/>
              <a:ext cx="9525" cy="1714500"/>
            </a:xfrm>
            <a:custGeom>
              <a:avLst/>
              <a:gdLst/>
              <a:ahLst/>
              <a:cxnLst/>
              <a:rect l="l" t="t" r="r" b="b"/>
              <a:pathLst>
                <a:path w="9525" h="1714500">
                  <a:moveTo>
                    <a:pt x="0" y="0"/>
                  </a:moveTo>
                  <a:lnTo>
                    <a:pt x="0" y="1714500"/>
                  </a:lnTo>
                </a:path>
              </a:pathLst>
            </a:custGeom>
            <a:noFill/>
            <a:ln w="19050">
              <a:solidFill>
                <a:schemeClr val="accent1"/>
              </a:solidFill>
            </a:ln>
          </p:spPr>
        </p:sp>
        <p:sp>
          <p:nvSpPr>
            <p:cNvPr id="21" name="TextBox 21"/>
            <p:cNvSpPr txBox="1"/>
            <p:nvPr/>
          </p:nvSpPr>
          <p:spPr>
            <a:xfrm>
              <a:off x="6696456" y="2091690"/>
              <a:ext cx="299877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张口呼吸 · 点头呼吸 · 呻吟</a:t>
              </a:r>
            </a:p>
          </p:txBody>
        </p:sp>
        <p:sp>
          <p:nvSpPr>
            <p:cNvPr id="22" name="TextBox 22"/>
            <p:cNvSpPr txBox="1"/>
            <p:nvPr/>
          </p:nvSpPr>
          <p:spPr>
            <a:xfrm>
              <a:off x="6696456" y="2567940"/>
              <a:ext cx="199316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鼻翼扇动 · 三凹征</a:t>
              </a:r>
            </a:p>
          </p:txBody>
        </p:sp>
        <p:sp>
          <p:nvSpPr>
            <p:cNvPr id="23" name="TextBox 23"/>
            <p:cNvSpPr txBox="1"/>
            <p:nvPr/>
          </p:nvSpPr>
          <p:spPr>
            <a:xfrm>
              <a:off x="6696456" y="3044190"/>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呼吸频率、深度与节律改变</a:t>
              </a:r>
            </a:p>
          </p:txBody>
        </p:sp>
        <p:sp>
          <p:nvSpPr>
            <p:cNvPr id="24" name="TextBox 24"/>
            <p:cNvSpPr txBox="1"/>
            <p:nvPr/>
          </p:nvSpPr>
          <p:spPr>
            <a:xfrm>
              <a:off x="6470142" y="3759518"/>
              <a:ext cx="2012823" cy="264033"/>
            </a:xfrm>
            <a:prstGeom prst="rect">
              <a:avLst/>
            </a:prstGeom>
            <a:noFill/>
            <a:ln>
              <a:noFill/>
            </a:ln>
          </p:spPr>
          <p:txBody>
            <a:bodyPr wrap="none" lIns="0" tIns="0" rIns="0" bIns="0" anchor="t" anchorCtr="0">
              <a:spAutoFit/>
            </a:bodyPr>
            <a:lstStyle/>
            <a:p>
              <a:pPr algn="l"/>
              <a:r>
                <a:rPr lang="zh-CN" sz="1350" dirty="0">
                  <a:solidFill>
                    <a:schemeClr val="dk1">
                      <a:alphaMod val="70000"/>
                    </a:schemeClr>
                  </a:solidFill>
                  <a:latin typeface="+mn-lt"/>
                  <a:ea typeface="+mn-ea"/>
                  <a:cs typeface="+mn-cs"/>
                </a:rPr>
                <a:t>可以只有体征，没有主诉</a:t>
              </a:r>
            </a:p>
          </p:txBody>
        </p:sp>
      </p:grpSp>
      <p:grpSp>
        <p:nvGrpSpPr>
          <p:cNvPr id="29" name="Group 29"/>
          <p:cNvGrpSpPr/>
          <p:nvPr/>
        </p:nvGrpSpPr>
        <p:grpSpPr>
          <a:xfrm>
            <a:off x="371094" y="5143500"/>
            <a:ext cx="11439906" cy="899351"/>
            <a:chOff x="371094" y="5143500"/>
            <a:chExt cx="11439906" cy="899351"/>
          </a:xfrm>
        </p:grpSpPr>
        <p:sp>
          <p:nvSpPr>
            <p:cNvPr id="26" name="Rectangle 26"/>
            <p:cNvSpPr/>
            <p:nvPr/>
          </p:nvSpPr>
          <p:spPr>
            <a:xfrm>
              <a:off x="381000" y="5143500"/>
              <a:ext cx="11430000" cy="38100"/>
            </a:xfrm>
            <a:prstGeom prst="rect">
              <a:avLst/>
            </a:prstGeom>
            <a:solidFill>
              <a:schemeClr val="accent2"/>
            </a:solidFill>
            <a:ln>
              <a:noFill/>
            </a:ln>
          </p:spPr>
        </p:sp>
        <p:sp>
          <p:nvSpPr>
            <p:cNvPr id="27" name="TextBox 27"/>
            <p:cNvSpPr txBox="1"/>
            <p:nvPr/>
          </p:nvSpPr>
          <p:spPr>
            <a:xfrm>
              <a:off x="371094" y="5390198"/>
              <a:ext cx="6993364"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n-lt"/>
                  <a:ea typeface="+mn-ea"/>
                  <a:cs typeface="+mn-cs"/>
                </a:rPr>
                <a:t xml:space="preserve">呼吸困难 </a:t>
              </a:r>
              <a:r>
                <a:rPr lang="en-US" sz="1950" b="1" dirty="0">
                  <a:solidFill>
                    <a:schemeClr val="accent2"/>
                  </a:solidFill>
                  <a:latin typeface="+mn-lt"/>
                  <a:ea typeface="+mn-ea"/>
                  <a:cs typeface="+mn-cs"/>
                </a:rPr>
                <a:t>≠</a:t>
              </a:r>
              <a:r>
                <a:rPr lang="zh-CN" sz="1950" b="1" dirty="0">
                  <a:solidFill>
                    <a:schemeClr val="accent1"/>
                  </a:solidFill>
                  <a:latin typeface="+mn-lt"/>
                  <a:ea typeface="+mn-ea"/>
                  <a:cs typeface="+mn-cs"/>
                </a:rPr>
                <a:t xml:space="preserve"> 呼吸急促</a:t>
              </a:r>
              <a:r>
                <a:rPr lang="zh-CN" sz="1950" b="1" dirty="0">
                  <a:solidFill>
                    <a:schemeClr val="accent2"/>
                  </a:solidFill>
                  <a:latin typeface="+mn-lt"/>
                  <a:ea typeface="+mn-ea"/>
                  <a:cs typeface="+mn-cs"/>
                </a:rPr>
                <a:t xml:space="preserve">　　</a:t>
              </a:r>
              <a:r>
                <a:rPr lang="zh-CN" sz="1950" b="1" dirty="0">
                  <a:solidFill>
                    <a:schemeClr val="accent1"/>
                  </a:solidFill>
                  <a:latin typeface="+mn-lt"/>
                  <a:ea typeface="+mn-ea"/>
                  <a:cs typeface="+mn-cs"/>
                </a:rPr>
                <a:t xml:space="preserve">呼吸困难 </a:t>
              </a:r>
              <a:r>
                <a:rPr lang="en-US" sz="1950" b="1" dirty="0">
                  <a:solidFill>
                    <a:schemeClr val="accent2"/>
                  </a:solidFill>
                  <a:latin typeface="+mn-lt"/>
                  <a:ea typeface="+mn-ea"/>
                  <a:cs typeface="+mn-cs"/>
                </a:rPr>
                <a:t>≠</a:t>
              </a:r>
              <a:r>
                <a:rPr lang="zh-CN" sz="1950" b="1" dirty="0">
                  <a:solidFill>
                    <a:schemeClr val="accent1"/>
                  </a:solidFill>
                  <a:latin typeface="+mn-lt"/>
                  <a:ea typeface="+mn-ea"/>
                  <a:cs typeface="+mn-cs"/>
                </a:rPr>
                <a:t xml:space="preserve"> 肺部一定有阳性体征</a:t>
              </a:r>
            </a:p>
          </p:txBody>
        </p:sp>
        <p:sp>
          <p:nvSpPr>
            <p:cNvPr id="28" name="TextBox 28"/>
            <p:cNvSpPr txBox="1"/>
            <p:nvPr/>
          </p:nvSpPr>
          <p:spPr>
            <a:xfrm>
              <a:off x="374142" y="5778818"/>
              <a:ext cx="6737985" cy="264033"/>
            </a:xfrm>
            <a:prstGeom prst="rect">
              <a:avLst/>
            </a:prstGeom>
            <a:noFill/>
            <a:ln>
              <a:noFill/>
            </a:ln>
          </p:spPr>
          <p:txBody>
            <a:bodyPr wrap="none" lIns="0" tIns="0" rIns="0" bIns="0" anchor="t" anchorCtr="0">
              <a:spAutoFit/>
            </a:bodyPr>
            <a:lstStyle/>
            <a:p>
              <a:pPr algn="l"/>
              <a:r>
                <a:rPr lang="zh-CN" sz="1350" dirty="0">
                  <a:solidFill>
                    <a:schemeClr val="dk1">
                      <a:alphaMod val="70000"/>
                    </a:schemeClr>
                  </a:solidFill>
                  <a:latin typeface="+mn-lt"/>
                  <a:ea typeface="+mn-ea"/>
                  <a:cs typeface="+mn-cs"/>
                </a:rPr>
                <a:t>婴幼儿受年龄、语言及社会心理因素限制，不能准确描述，主要依靠客观体征判断。</a:t>
              </a:r>
            </a:p>
          </p:txBody>
        </p:sp>
      </p:grpSp>
      <p:grpSp>
        <p:nvGrpSpPr>
          <p:cNvPr id="32" name="Group 32"/>
          <p:cNvGrpSpPr/>
          <p:nvPr/>
        </p:nvGrpSpPr>
        <p:grpSpPr>
          <a:xfrm>
            <a:off x="374142" y="6445568"/>
            <a:ext cx="11443716" cy="264033"/>
            <a:chOff x="374142" y="6445568"/>
            <a:chExt cx="11443716" cy="264033"/>
          </a:xfrm>
        </p:grpSpPr>
        <p:sp>
          <p:nvSpPr>
            <p:cNvPr id="30" name="TextBox 30"/>
            <p:cNvSpPr txBox="1"/>
            <p:nvPr/>
          </p:nvSpPr>
          <p:spPr>
            <a:xfrm>
              <a:off x="374142" y="6445568"/>
              <a:ext cx="2085518"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02 定义、分类与病理生理</a:t>
              </a:r>
            </a:p>
          </p:txBody>
        </p:sp>
        <p:sp>
          <p:nvSpPr>
            <p:cNvPr id="31" name="TextBox 31"/>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04 / 20</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5585574"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三个维度，把“呼吸困难”拆开</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5" name="Group 15"/>
          <p:cNvGrpSpPr/>
          <p:nvPr/>
        </p:nvGrpSpPr>
        <p:grpSpPr>
          <a:xfrm>
            <a:off x="381000" y="1333500"/>
            <a:ext cx="11430000" cy="1238250"/>
            <a:chOff x="381000" y="1333500"/>
            <a:chExt cx="11430000" cy="1238250"/>
          </a:xfrm>
        </p:grpSpPr>
        <p:sp>
          <p:nvSpPr>
            <p:cNvPr id="5" name="Rectangle 5"/>
            <p:cNvSpPr/>
            <p:nvPr/>
          </p:nvSpPr>
          <p:spPr>
            <a:xfrm>
              <a:off x="381000" y="1333500"/>
              <a:ext cx="11430000" cy="1238250"/>
            </a:xfrm>
            <a:prstGeom prst="rect">
              <a:avLst/>
            </a:prstGeom>
            <a:solidFill>
              <a:schemeClr val="lt2"/>
            </a:solidFill>
            <a:ln>
              <a:noFill/>
            </a:ln>
          </p:spPr>
        </p:sp>
        <p:sp>
          <p:nvSpPr>
            <p:cNvPr id="6" name="TextBox 6"/>
            <p:cNvSpPr txBox="1"/>
            <p:nvPr/>
          </p:nvSpPr>
          <p:spPr>
            <a:xfrm>
              <a:off x="600456" y="1596390"/>
              <a:ext cx="5271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病程</a:t>
              </a:r>
            </a:p>
          </p:txBody>
        </p:sp>
        <p:sp>
          <p:nvSpPr>
            <p:cNvPr id="7" name="TextBox 7"/>
            <p:cNvSpPr txBox="1"/>
            <p:nvPr/>
          </p:nvSpPr>
          <p:spPr>
            <a:xfrm>
              <a:off x="602742" y="1968818"/>
              <a:ext cx="922401" cy="264033"/>
            </a:xfrm>
            <a:prstGeom prst="rect">
              <a:avLst/>
            </a:prstGeom>
            <a:noFill/>
            <a:ln>
              <a:noFill/>
            </a:ln>
          </p:spPr>
          <p:txBody>
            <a:bodyPr wrap="none" lIns="0" tIns="0" rIns="0" bIns="0" anchor="t" anchorCtr="0">
              <a:spAutoFit/>
            </a:bodyPr>
            <a:lstStyle/>
            <a:p>
              <a:pPr algn="l"/>
              <a:r>
                <a:rPr lang="zh-CN" sz="1350" dirty="0">
                  <a:solidFill>
                    <a:schemeClr val="dk1">
                      <a:alphaMod val="60000"/>
                    </a:schemeClr>
                  </a:solidFill>
                  <a:latin typeface="+mn-lt"/>
                  <a:ea typeface="+mn-ea"/>
                  <a:cs typeface="+mn-cs"/>
                </a:rPr>
                <a:t>按时间长短</a:t>
              </a:r>
            </a:p>
          </p:txBody>
        </p:sp>
        <p:sp>
          <p:nvSpPr>
            <p:cNvPr id="8" name="Line 8"/>
            <p:cNvSpPr/>
            <p:nvPr/>
          </p:nvSpPr>
          <p:spPr>
            <a:xfrm>
              <a:off x="2286000" y="1524000"/>
              <a:ext cx="9525" cy="857250"/>
            </a:xfrm>
            <a:custGeom>
              <a:avLst/>
              <a:gdLst/>
              <a:ahLst/>
              <a:cxnLst/>
              <a:rect l="l" t="t" r="r" b="b"/>
              <a:pathLst>
                <a:path w="9525" h="857250">
                  <a:moveTo>
                    <a:pt x="0" y="0"/>
                  </a:moveTo>
                  <a:lnTo>
                    <a:pt x="0" y="857250"/>
                  </a:lnTo>
                </a:path>
              </a:pathLst>
            </a:custGeom>
            <a:noFill/>
            <a:ln w="9525">
              <a:solidFill>
                <a:schemeClr val="dk1">
                  <a:alpha val="20000"/>
                </a:schemeClr>
              </a:solidFill>
            </a:ln>
          </p:spPr>
        </p:sp>
        <p:sp>
          <p:nvSpPr>
            <p:cNvPr id="9" name="TextBox 9"/>
            <p:cNvSpPr txBox="1"/>
            <p:nvPr/>
          </p:nvSpPr>
          <p:spPr>
            <a:xfrm>
              <a:off x="2619756" y="1615440"/>
              <a:ext cx="5271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急性</a:t>
              </a:r>
            </a:p>
          </p:txBody>
        </p:sp>
        <p:sp>
          <p:nvSpPr>
            <p:cNvPr id="10" name="TextBox 10"/>
            <p:cNvSpPr txBox="1"/>
            <p:nvPr/>
          </p:nvSpPr>
          <p:spPr>
            <a:xfrm>
              <a:off x="2617470" y="1966912"/>
              <a:ext cx="881567"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 3 周</a:t>
              </a:r>
            </a:p>
          </p:txBody>
        </p:sp>
        <p:sp>
          <p:nvSpPr>
            <p:cNvPr id="11" name="Line 11"/>
            <p:cNvSpPr/>
            <p:nvPr/>
          </p:nvSpPr>
          <p:spPr>
            <a:xfrm>
              <a:off x="4953000" y="1524000"/>
              <a:ext cx="9525" cy="857250"/>
            </a:xfrm>
            <a:custGeom>
              <a:avLst/>
              <a:gdLst/>
              <a:ahLst/>
              <a:cxnLst/>
              <a:rect l="l" t="t" r="r" b="b"/>
              <a:pathLst>
                <a:path w="9525" h="857250">
                  <a:moveTo>
                    <a:pt x="0" y="0"/>
                  </a:moveTo>
                  <a:lnTo>
                    <a:pt x="0" y="857250"/>
                  </a:lnTo>
                </a:path>
              </a:pathLst>
            </a:custGeom>
            <a:noFill/>
            <a:ln w="9525">
              <a:solidFill>
                <a:schemeClr val="dk1">
                  <a:alpha val="20000"/>
                </a:schemeClr>
              </a:solidFill>
            </a:ln>
          </p:spPr>
        </p:sp>
        <p:sp>
          <p:nvSpPr>
            <p:cNvPr id="12" name="TextBox 12"/>
            <p:cNvSpPr txBox="1"/>
            <p:nvPr/>
          </p:nvSpPr>
          <p:spPr>
            <a:xfrm>
              <a:off x="5286756" y="1615440"/>
              <a:ext cx="5271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慢性</a:t>
              </a:r>
            </a:p>
          </p:txBody>
        </p:sp>
        <p:sp>
          <p:nvSpPr>
            <p:cNvPr id="13" name="TextBox 13"/>
            <p:cNvSpPr txBox="1"/>
            <p:nvPr/>
          </p:nvSpPr>
          <p:spPr>
            <a:xfrm>
              <a:off x="5284470" y="1966912"/>
              <a:ext cx="881567" cy="440055"/>
            </a:xfrm>
            <a:prstGeom prst="rect">
              <a:avLst/>
            </a:prstGeom>
            <a:noFill/>
            <a:ln>
              <a:noFill/>
            </a:ln>
          </p:spPr>
          <p:txBody>
            <a:bodyPr wrap="none" lIns="0" tIns="0" rIns="0" bIns="0" anchor="t" anchorCtr="0">
              <a:spAutoFit/>
            </a:bodyPr>
            <a:lstStyle/>
            <a:p>
              <a:pPr algn="l"/>
              <a:r>
                <a:rPr lang="zh-CN" sz="2250" b="1" dirty="0">
                  <a:solidFill>
                    <a:schemeClr val="accent3"/>
                  </a:solidFill>
                  <a:latin typeface="+mn-lt"/>
                  <a:ea typeface="+mn-ea"/>
                  <a:cs typeface="+mn-cs"/>
                </a:rPr>
                <a:t>&gt; 3 周</a:t>
              </a:r>
            </a:p>
          </p:txBody>
        </p:sp>
        <p:sp>
          <p:nvSpPr>
            <p:cNvPr id="14" name="TextBox 14"/>
            <p:cNvSpPr txBox="1"/>
            <p:nvPr/>
          </p:nvSpPr>
          <p:spPr>
            <a:xfrm>
              <a:off x="7994142" y="1949768"/>
              <a:ext cx="2194560" cy="264033"/>
            </a:xfrm>
            <a:prstGeom prst="rect">
              <a:avLst/>
            </a:prstGeom>
            <a:noFill/>
            <a:ln>
              <a:noFill/>
            </a:ln>
          </p:spPr>
          <p:txBody>
            <a:bodyPr wrap="none" lIns="0" tIns="0" rIns="0" bIns="0" anchor="t" anchorCtr="0">
              <a:spAutoFit/>
            </a:bodyPr>
            <a:lstStyle/>
            <a:p>
              <a:pPr algn="l"/>
              <a:r>
                <a:rPr lang="zh-CN" sz="1350" dirty="0">
                  <a:solidFill>
                    <a:schemeClr val="dk1">
                      <a:alphaMod val="65000"/>
                    </a:schemeClr>
                  </a:solidFill>
                  <a:latin typeface="+mn-lt"/>
                  <a:ea typeface="+mn-ea"/>
                  <a:cs typeface="+mn-cs"/>
                </a:rPr>
                <a:t>儿科急诊所见多为急性起病</a:t>
              </a:r>
            </a:p>
          </p:txBody>
        </p:sp>
      </p:grpSp>
      <p:grpSp>
        <p:nvGrpSpPr>
          <p:cNvPr id="39" name="Group 39"/>
          <p:cNvGrpSpPr/>
          <p:nvPr/>
        </p:nvGrpSpPr>
        <p:grpSpPr>
          <a:xfrm>
            <a:off x="381000" y="2686050"/>
            <a:ext cx="11430000" cy="1809750"/>
            <a:chOff x="381000" y="2686050"/>
            <a:chExt cx="11430000" cy="1809750"/>
          </a:xfrm>
        </p:grpSpPr>
        <p:sp>
          <p:nvSpPr>
            <p:cNvPr id="16" name="Rectangle 16"/>
            <p:cNvSpPr/>
            <p:nvPr/>
          </p:nvSpPr>
          <p:spPr>
            <a:xfrm>
              <a:off x="381000" y="2686050"/>
              <a:ext cx="11430000" cy="1809750"/>
            </a:xfrm>
            <a:prstGeom prst="rect">
              <a:avLst/>
            </a:prstGeom>
            <a:solidFill>
              <a:schemeClr val="lt2"/>
            </a:solidFill>
            <a:ln>
              <a:noFill/>
            </a:ln>
          </p:spPr>
        </p:sp>
        <p:sp>
          <p:nvSpPr>
            <p:cNvPr id="17" name="TextBox 17"/>
            <p:cNvSpPr txBox="1"/>
            <p:nvPr/>
          </p:nvSpPr>
          <p:spPr>
            <a:xfrm>
              <a:off x="600456" y="3006090"/>
              <a:ext cx="5271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病因</a:t>
              </a:r>
            </a:p>
          </p:txBody>
        </p:sp>
        <p:sp>
          <p:nvSpPr>
            <p:cNvPr id="18" name="TextBox 18"/>
            <p:cNvSpPr txBox="1"/>
            <p:nvPr/>
          </p:nvSpPr>
          <p:spPr>
            <a:xfrm>
              <a:off x="602742" y="3378518"/>
              <a:ext cx="922401" cy="264033"/>
            </a:xfrm>
            <a:prstGeom prst="rect">
              <a:avLst/>
            </a:prstGeom>
            <a:noFill/>
            <a:ln>
              <a:noFill/>
            </a:ln>
          </p:spPr>
          <p:txBody>
            <a:bodyPr wrap="none" lIns="0" tIns="0" rIns="0" bIns="0" anchor="t" anchorCtr="0">
              <a:spAutoFit/>
            </a:bodyPr>
            <a:lstStyle/>
            <a:p>
              <a:pPr algn="l"/>
              <a:r>
                <a:rPr lang="zh-CN" sz="1350" dirty="0">
                  <a:solidFill>
                    <a:schemeClr val="dk1">
                      <a:alphaMod val="60000"/>
                    </a:schemeClr>
                  </a:solidFill>
                  <a:latin typeface="+mn-lt"/>
                  <a:ea typeface="+mn-ea"/>
                  <a:cs typeface="+mn-cs"/>
                </a:rPr>
                <a:t>肺内与肺外</a:t>
              </a:r>
            </a:p>
          </p:txBody>
        </p:sp>
        <p:sp>
          <p:nvSpPr>
            <p:cNvPr id="19" name="Line 19"/>
            <p:cNvSpPr/>
            <p:nvPr/>
          </p:nvSpPr>
          <p:spPr>
            <a:xfrm>
              <a:off x="2286000" y="2876550"/>
              <a:ext cx="9525" cy="1428750"/>
            </a:xfrm>
            <a:custGeom>
              <a:avLst/>
              <a:gdLst/>
              <a:ahLst/>
              <a:cxnLst/>
              <a:rect l="l" t="t" r="r" b="b"/>
              <a:pathLst>
                <a:path w="9525" h="1428750">
                  <a:moveTo>
                    <a:pt x="0" y="0"/>
                  </a:moveTo>
                  <a:lnTo>
                    <a:pt x="0" y="1428750"/>
                  </a:lnTo>
                </a:path>
              </a:pathLst>
            </a:custGeom>
            <a:noFill/>
            <a:ln w="9525">
              <a:solidFill>
                <a:schemeClr val="dk1">
                  <a:alpha val="20000"/>
                </a:schemeClr>
              </a:solidFill>
            </a:ln>
          </p:spPr>
        </p:sp>
        <p:sp>
          <p:nvSpPr>
            <p:cNvPr id="20" name="TextBox 20"/>
            <p:cNvSpPr txBox="1"/>
            <p:nvPr/>
          </p:nvSpPr>
          <p:spPr>
            <a:xfrm>
              <a:off x="2506218" y="3022282"/>
              <a:ext cx="716451"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肺源性</a:t>
              </a:r>
            </a:p>
          </p:txBody>
        </p:sp>
        <p:sp>
          <p:nvSpPr>
            <p:cNvPr id="21" name="TextBox 21"/>
            <p:cNvSpPr txBox="1"/>
            <p:nvPr/>
          </p:nvSpPr>
          <p:spPr>
            <a:xfrm>
              <a:off x="2507742" y="3378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气道、肺实质、</a:t>
              </a:r>
            </a:p>
          </p:txBody>
        </p:sp>
        <p:sp>
          <p:nvSpPr>
            <p:cNvPr id="22" name="TextBox 22"/>
            <p:cNvSpPr txBox="1"/>
            <p:nvPr/>
          </p:nvSpPr>
          <p:spPr>
            <a:xfrm>
              <a:off x="2507742" y="36261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胸膜病变</a:t>
              </a:r>
            </a:p>
          </p:txBody>
        </p:sp>
        <p:sp>
          <p:nvSpPr>
            <p:cNvPr id="23" name="Line 23"/>
            <p:cNvSpPr/>
            <p:nvPr/>
          </p:nvSpPr>
          <p:spPr>
            <a:xfrm>
              <a:off x="4305300" y="2876550"/>
              <a:ext cx="9525" cy="1428750"/>
            </a:xfrm>
            <a:custGeom>
              <a:avLst/>
              <a:gdLst/>
              <a:ahLst/>
              <a:cxnLst/>
              <a:rect l="l" t="t" r="r" b="b"/>
              <a:pathLst>
                <a:path w="9525" h="1428750">
                  <a:moveTo>
                    <a:pt x="0" y="0"/>
                  </a:moveTo>
                  <a:lnTo>
                    <a:pt x="0" y="1428750"/>
                  </a:lnTo>
                </a:path>
              </a:pathLst>
            </a:custGeom>
            <a:noFill/>
            <a:ln w="9525">
              <a:solidFill>
                <a:schemeClr val="dk1">
                  <a:alpha val="20000"/>
                </a:schemeClr>
              </a:solidFill>
            </a:ln>
          </p:spPr>
        </p:sp>
        <p:sp>
          <p:nvSpPr>
            <p:cNvPr id="24" name="TextBox 24"/>
            <p:cNvSpPr txBox="1"/>
            <p:nvPr/>
          </p:nvSpPr>
          <p:spPr>
            <a:xfrm>
              <a:off x="4525518" y="3022282"/>
              <a:ext cx="716451"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心源性</a:t>
              </a:r>
            </a:p>
          </p:txBody>
        </p:sp>
        <p:sp>
          <p:nvSpPr>
            <p:cNvPr id="25" name="TextBox 25"/>
            <p:cNvSpPr txBox="1"/>
            <p:nvPr/>
          </p:nvSpPr>
          <p:spPr>
            <a:xfrm>
              <a:off x="4527042" y="33785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左心功能不全</a:t>
              </a:r>
            </a:p>
          </p:txBody>
        </p:sp>
        <p:sp>
          <p:nvSpPr>
            <p:cNvPr id="26" name="TextBox 26"/>
            <p:cNvSpPr txBox="1"/>
            <p:nvPr/>
          </p:nvSpPr>
          <p:spPr>
            <a:xfrm>
              <a:off x="4527042" y="36261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致肺淤血</a:t>
              </a:r>
            </a:p>
          </p:txBody>
        </p:sp>
        <p:sp>
          <p:nvSpPr>
            <p:cNvPr id="27" name="Line 27"/>
            <p:cNvSpPr/>
            <p:nvPr/>
          </p:nvSpPr>
          <p:spPr>
            <a:xfrm>
              <a:off x="6324600" y="2876550"/>
              <a:ext cx="9525" cy="1428750"/>
            </a:xfrm>
            <a:custGeom>
              <a:avLst/>
              <a:gdLst/>
              <a:ahLst/>
              <a:cxnLst/>
              <a:rect l="l" t="t" r="r" b="b"/>
              <a:pathLst>
                <a:path w="9525" h="1428750">
                  <a:moveTo>
                    <a:pt x="0" y="0"/>
                  </a:moveTo>
                  <a:lnTo>
                    <a:pt x="0" y="1428750"/>
                  </a:lnTo>
                </a:path>
              </a:pathLst>
            </a:custGeom>
            <a:noFill/>
            <a:ln w="9525">
              <a:solidFill>
                <a:schemeClr val="dk1">
                  <a:alpha val="20000"/>
                </a:schemeClr>
              </a:solidFill>
            </a:ln>
          </p:spPr>
        </p:sp>
        <p:sp>
          <p:nvSpPr>
            <p:cNvPr id="28" name="TextBox 28"/>
            <p:cNvSpPr txBox="1"/>
            <p:nvPr/>
          </p:nvSpPr>
          <p:spPr>
            <a:xfrm>
              <a:off x="6544818" y="3022282"/>
              <a:ext cx="716451"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中毒性</a:t>
              </a:r>
            </a:p>
          </p:txBody>
        </p:sp>
        <p:sp>
          <p:nvSpPr>
            <p:cNvPr id="29" name="TextBox 29"/>
            <p:cNvSpPr txBox="1"/>
            <p:nvPr/>
          </p:nvSpPr>
          <p:spPr>
            <a:xfrm>
              <a:off x="6546342" y="33785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代谢性酸中毒</a:t>
              </a:r>
            </a:p>
          </p:txBody>
        </p:sp>
        <p:sp>
          <p:nvSpPr>
            <p:cNvPr id="30" name="TextBox 30"/>
            <p:cNvSpPr txBox="1"/>
            <p:nvPr/>
          </p:nvSpPr>
          <p:spPr>
            <a:xfrm>
              <a:off x="6546342" y="3626168"/>
              <a:ext cx="94966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药物 / 毒物</a:t>
              </a:r>
            </a:p>
          </p:txBody>
        </p:sp>
        <p:sp>
          <p:nvSpPr>
            <p:cNvPr id="31" name="Line 31"/>
            <p:cNvSpPr/>
            <p:nvPr/>
          </p:nvSpPr>
          <p:spPr>
            <a:xfrm>
              <a:off x="8343900" y="2876550"/>
              <a:ext cx="9525" cy="1428750"/>
            </a:xfrm>
            <a:custGeom>
              <a:avLst/>
              <a:gdLst/>
              <a:ahLst/>
              <a:cxnLst/>
              <a:rect l="l" t="t" r="r" b="b"/>
              <a:pathLst>
                <a:path w="9525" h="1428750">
                  <a:moveTo>
                    <a:pt x="0" y="0"/>
                  </a:moveTo>
                  <a:lnTo>
                    <a:pt x="0" y="1428750"/>
                  </a:lnTo>
                </a:path>
              </a:pathLst>
            </a:custGeom>
            <a:noFill/>
            <a:ln w="9525">
              <a:solidFill>
                <a:schemeClr val="dk1">
                  <a:alpha val="20000"/>
                </a:schemeClr>
              </a:solidFill>
            </a:ln>
          </p:spPr>
        </p:sp>
        <p:sp>
          <p:nvSpPr>
            <p:cNvPr id="32" name="TextBox 32"/>
            <p:cNvSpPr txBox="1"/>
            <p:nvPr/>
          </p:nvSpPr>
          <p:spPr>
            <a:xfrm>
              <a:off x="8564118" y="3022282"/>
              <a:ext cx="716451"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血源性</a:t>
              </a:r>
            </a:p>
          </p:txBody>
        </p:sp>
        <p:sp>
          <p:nvSpPr>
            <p:cNvPr id="33" name="TextBox 33"/>
            <p:cNvSpPr txBox="1"/>
            <p:nvPr/>
          </p:nvSpPr>
          <p:spPr>
            <a:xfrm>
              <a:off x="8565642" y="3378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血红蛋白量</a:t>
              </a:r>
            </a:p>
          </p:txBody>
        </p:sp>
        <p:sp>
          <p:nvSpPr>
            <p:cNvPr id="34" name="TextBox 34"/>
            <p:cNvSpPr txBox="1"/>
            <p:nvPr/>
          </p:nvSpPr>
          <p:spPr>
            <a:xfrm>
              <a:off x="8565642" y="36261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与质异常</a:t>
              </a:r>
            </a:p>
          </p:txBody>
        </p:sp>
        <p:sp>
          <p:nvSpPr>
            <p:cNvPr id="35" name="Line 35"/>
            <p:cNvSpPr/>
            <p:nvPr/>
          </p:nvSpPr>
          <p:spPr>
            <a:xfrm>
              <a:off x="10363200" y="2876550"/>
              <a:ext cx="9525" cy="1428750"/>
            </a:xfrm>
            <a:custGeom>
              <a:avLst/>
              <a:gdLst/>
              <a:ahLst/>
              <a:cxnLst/>
              <a:rect l="l" t="t" r="r" b="b"/>
              <a:pathLst>
                <a:path w="9525" h="1428750">
                  <a:moveTo>
                    <a:pt x="0" y="0"/>
                  </a:moveTo>
                  <a:lnTo>
                    <a:pt x="0" y="1428750"/>
                  </a:lnTo>
                </a:path>
              </a:pathLst>
            </a:custGeom>
            <a:noFill/>
            <a:ln w="9525">
              <a:solidFill>
                <a:schemeClr val="dk1">
                  <a:alpha val="20000"/>
                </a:schemeClr>
              </a:solidFill>
            </a:ln>
          </p:spPr>
        </p:sp>
        <p:sp>
          <p:nvSpPr>
            <p:cNvPr id="36" name="TextBox 36"/>
            <p:cNvSpPr txBox="1"/>
            <p:nvPr/>
          </p:nvSpPr>
          <p:spPr>
            <a:xfrm>
              <a:off x="10583418" y="3022282"/>
              <a:ext cx="1182910"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神经精神性</a:t>
              </a:r>
            </a:p>
          </p:txBody>
        </p:sp>
        <p:sp>
          <p:nvSpPr>
            <p:cNvPr id="37" name="TextBox 37"/>
            <p:cNvSpPr txBox="1"/>
            <p:nvPr/>
          </p:nvSpPr>
          <p:spPr>
            <a:xfrm>
              <a:off x="10584942" y="33785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中枢病变</a:t>
              </a:r>
            </a:p>
          </p:txBody>
        </p:sp>
        <p:sp>
          <p:nvSpPr>
            <p:cNvPr id="38" name="TextBox 38"/>
            <p:cNvSpPr txBox="1"/>
            <p:nvPr/>
          </p:nvSpPr>
          <p:spPr>
            <a:xfrm>
              <a:off x="10584942" y="3626168"/>
              <a:ext cx="94966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癔症 / 焦虑</a:t>
              </a:r>
            </a:p>
          </p:txBody>
        </p:sp>
      </p:grpSp>
      <p:grpSp>
        <p:nvGrpSpPr>
          <p:cNvPr id="52" name="Group 52"/>
          <p:cNvGrpSpPr/>
          <p:nvPr/>
        </p:nvGrpSpPr>
        <p:grpSpPr>
          <a:xfrm>
            <a:off x="381000" y="4610100"/>
            <a:ext cx="11430000" cy="1200150"/>
            <a:chOff x="381000" y="4610100"/>
            <a:chExt cx="11430000" cy="1200150"/>
          </a:xfrm>
        </p:grpSpPr>
        <p:sp>
          <p:nvSpPr>
            <p:cNvPr id="40" name="Rectangle 40"/>
            <p:cNvSpPr/>
            <p:nvPr/>
          </p:nvSpPr>
          <p:spPr>
            <a:xfrm>
              <a:off x="381000" y="4610100"/>
              <a:ext cx="11430000" cy="1200150"/>
            </a:xfrm>
            <a:prstGeom prst="rect">
              <a:avLst/>
            </a:prstGeom>
            <a:solidFill>
              <a:schemeClr val="lt2"/>
            </a:solidFill>
            <a:ln>
              <a:noFill/>
            </a:ln>
          </p:spPr>
        </p:sp>
        <p:sp>
          <p:nvSpPr>
            <p:cNvPr id="41" name="TextBox 41"/>
            <p:cNvSpPr txBox="1"/>
            <p:nvPr/>
          </p:nvSpPr>
          <p:spPr>
            <a:xfrm>
              <a:off x="600456" y="4853940"/>
              <a:ext cx="5271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时相</a:t>
              </a:r>
            </a:p>
          </p:txBody>
        </p:sp>
        <p:sp>
          <p:nvSpPr>
            <p:cNvPr id="42" name="TextBox 42"/>
            <p:cNvSpPr txBox="1"/>
            <p:nvPr/>
          </p:nvSpPr>
          <p:spPr>
            <a:xfrm>
              <a:off x="602742" y="5207318"/>
              <a:ext cx="949662" cy="264033"/>
            </a:xfrm>
            <a:prstGeom prst="rect">
              <a:avLst/>
            </a:prstGeom>
            <a:noFill/>
            <a:ln>
              <a:noFill/>
            </a:ln>
          </p:spPr>
          <p:txBody>
            <a:bodyPr wrap="none" lIns="0" tIns="0" rIns="0" bIns="0" anchor="t" anchorCtr="0">
              <a:spAutoFit/>
            </a:bodyPr>
            <a:lstStyle/>
            <a:p>
              <a:pPr algn="l"/>
              <a:r>
                <a:rPr lang="zh-CN" sz="1350" dirty="0">
                  <a:solidFill>
                    <a:schemeClr val="dk1">
                      <a:alphaMod val="60000"/>
                    </a:schemeClr>
                  </a:solidFill>
                  <a:latin typeface="+mn-lt"/>
                  <a:ea typeface="+mn-ea"/>
                  <a:cs typeface="+mn-cs"/>
                </a:rPr>
                <a:t>吸气 / 呼气</a:t>
              </a:r>
            </a:p>
          </p:txBody>
        </p:sp>
        <p:sp>
          <p:nvSpPr>
            <p:cNvPr id="43" name="Line 43"/>
            <p:cNvSpPr/>
            <p:nvPr/>
          </p:nvSpPr>
          <p:spPr>
            <a:xfrm>
              <a:off x="2286000" y="4800600"/>
              <a:ext cx="9525" cy="819150"/>
            </a:xfrm>
            <a:custGeom>
              <a:avLst/>
              <a:gdLst/>
              <a:ahLst/>
              <a:cxnLst/>
              <a:rect l="l" t="t" r="r" b="b"/>
              <a:pathLst>
                <a:path w="9525" h="819150">
                  <a:moveTo>
                    <a:pt x="0" y="0"/>
                  </a:moveTo>
                  <a:lnTo>
                    <a:pt x="0" y="819150"/>
                  </a:lnTo>
                </a:path>
              </a:pathLst>
            </a:custGeom>
            <a:noFill/>
            <a:ln w="9525">
              <a:solidFill>
                <a:schemeClr val="dk1">
                  <a:alpha val="20000"/>
                </a:schemeClr>
              </a:solidFill>
            </a:ln>
          </p:spPr>
        </p:sp>
        <p:sp>
          <p:nvSpPr>
            <p:cNvPr id="44" name="TextBox 44"/>
            <p:cNvSpPr txBox="1"/>
            <p:nvPr/>
          </p:nvSpPr>
          <p:spPr>
            <a:xfrm>
              <a:off x="2505456" y="48539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吸气性</a:t>
              </a:r>
            </a:p>
          </p:txBody>
        </p:sp>
        <p:sp>
          <p:nvSpPr>
            <p:cNvPr id="45" name="TextBox 45"/>
            <p:cNvSpPr txBox="1"/>
            <p:nvPr/>
          </p:nvSpPr>
          <p:spPr>
            <a:xfrm>
              <a:off x="2507742" y="5226368"/>
              <a:ext cx="255803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胸外大气道：喉、声门下、气管</a:t>
              </a:r>
            </a:p>
          </p:txBody>
        </p:sp>
        <p:sp>
          <p:nvSpPr>
            <p:cNvPr id="46" name="Line 46"/>
            <p:cNvSpPr/>
            <p:nvPr/>
          </p:nvSpPr>
          <p:spPr>
            <a:xfrm>
              <a:off x="5715000" y="4800600"/>
              <a:ext cx="9525" cy="819150"/>
            </a:xfrm>
            <a:custGeom>
              <a:avLst/>
              <a:gdLst/>
              <a:ahLst/>
              <a:cxnLst/>
              <a:rect l="l" t="t" r="r" b="b"/>
              <a:pathLst>
                <a:path w="9525" h="819150">
                  <a:moveTo>
                    <a:pt x="0" y="0"/>
                  </a:moveTo>
                  <a:lnTo>
                    <a:pt x="0" y="819150"/>
                  </a:lnTo>
                </a:path>
              </a:pathLst>
            </a:custGeom>
            <a:noFill/>
            <a:ln w="9525">
              <a:solidFill>
                <a:schemeClr val="dk1">
                  <a:alpha val="20000"/>
                </a:schemeClr>
              </a:solidFill>
            </a:ln>
          </p:spPr>
        </p:sp>
        <p:sp>
          <p:nvSpPr>
            <p:cNvPr id="47" name="TextBox 47"/>
            <p:cNvSpPr txBox="1"/>
            <p:nvPr/>
          </p:nvSpPr>
          <p:spPr>
            <a:xfrm>
              <a:off x="5934456" y="48539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呼气性</a:t>
              </a:r>
            </a:p>
          </p:txBody>
        </p:sp>
        <p:sp>
          <p:nvSpPr>
            <p:cNvPr id="48" name="TextBox 48"/>
            <p:cNvSpPr txBox="1"/>
            <p:nvPr/>
          </p:nvSpPr>
          <p:spPr>
            <a:xfrm>
              <a:off x="5936742" y="5226368"/>
              <a:ext cx="255803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胸内小气道：支气管、细支气管</a:t>
              </a:r>
            </a:p>
          </p:txBody>
        </p:sp>
        <p:sp>
          <p:nvSpPr>
            <p:cNvPr id="49" name="Line 49"/>
            <p:cNvSpPr/>
            <p:nvPr/>
          </p:nvSpPr>
          <p:spPr>
            <a:xfrm>
              <a:off x="9144000" y="4800600"/>
              <a:ext cx="9525" cy="819150"/>
            </a:xfrm>
            <a:custGeom>
              <a:avLst/>
              <a:gdLst/>
              <a:ahLst/>
              <a:cxnLst/>
              <a:rect l="l" t="t" r="r" b="b"/>
              <a:pathLst>
                <a:path w="9525" h="819150">
                  <a:moveTo>
                    <a:pt x="0" y="0"/>
                  </a:moveTo>
                  <a:lnTo>
                    <a:pt x="0" y="819150"/>
                  </a:lnTo>
                </a:path>
              </a:pathLst>
            </a:custGeom>
            <a:noFill/>
            <a:ln w="9525">
              <a:solidFill>
                <a:schemeClr val="dk1">
                  <a:alpha val="20000"/>
                </a:schemeClr>
              </a:solidFill>
            </a:ln>
          </p:spPr>
        </p:sp>
        <p:sp>
          <p:nvSpPr>
            <p:cNvPr id="50" name="TextBox 50"/>
            <p:cNvSpPr txBox="1"/>
            <p:nvPr/>
          </p:nvSpPr>
          <p:spPr>
            <a:xfrm>
              <a:off x="9363456" y="48539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混合性</a:t>
              </a:r>
            </a:p>
          </p:txBody>
        </p:sp>
        <p:sp>
          <p:nvSpPr>
            <p:cNvPr id="51" name="TextBox 51"/>
            <p:cNvSpPr txBox="1"/>
            <p:nvPr/>
          </p:nvSpPr>
          <p:spPr>
            <a:xfrm>
              <a:off x="9365742" y="5226368"/>
              <a:ext cx="188560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肺实质 / 胸膜 / 心源性</a:t>
              </a:r>
            </a:p>
          </p:txBody>
        </p:sp>
      </p:grpSp>
      <p:grpSp>
        <p:nvGrpSpPr>
          <p:cNvPr id="55" name="Group 55"/>
          <p:cNvGrpSpPr/>
          <p:nvPr/>
        </p:nvGrpSpPr>
        <p:grpSpPr>
          <a:xfrm>
            <a:off x="381000" y="5962650"/>
            <a:ext cx="4539996" cy="308801"/>
            <a:chOff x="381000" y="5962650"/>
            <a:chExt cx="4539996" cy="308801"/>
          </a:xfrm>
        </p:grpSpPr>
        <p:sp>
          <p:nvSpPr>
            <p:cNvPr id="53" name="Rectangle 53"/>
            <p:cNvSpPr/>
            <p:nvPr/>
          </p:nvSpPr>
          <p:spPr>
            <a:xfrm>
              <a:off x="381000" y="5962650"/>
              <a:ext cx="38100" cy="228600"/>
            </a:xfrm>
            <a:prstGeom prst="rect">
              <a:avLst/>
            </a:prstGeom>
            <a:solidFill>
              <a:schemeClr val="accent2"/>
            </a:solidFill>
            <a:ln>
              <a:noFill/>
            </a:ln>
          </p:spPr>
        </p:sp>
        <p:sp>
          <p:nvSpPr>
            <p:cNvPr id="54" name="TextBox 54"/>
            <p:cNvSpPr txBox="1"/>
            <p:nvPr/>
          </p:nvSpPr>
          <p:spPr>
            <a:xfrm>
              <a:off x="545592" y="6007418"/>
              <a:ext cx="4375404" cy="264033"/>
            </a:xfrm>
            <a:prstGeom prst="rect">
              <a:avLst/>
            </a:prstGeom>
            <a:noFill/>
            <a:ln>
              <a:noFill/>
            </a:ln>
          </p:spPr>
          <p:txBody>
            <a:bodyPr wrap="none" lIns="0" tIns="0" rIns="0" bIns="0" anchor="t" anchorCtr="0">
              <a:spAutoFit/>
            </a:bodyPr>
            <a:lstStyle/>
            <a:p>
              <a:pPr algn="l"/>
              <a:r>
                <a:rPr lang="zh-CN" sz="1350" dirty="0">
                  <a:solidFill>
                    <a:schemeClr val="dk1">
                      <a:alphaMod val="75000"/>
                    </a:schemeClr>
                  </a:solidFill>
                  <a:latin typeface="+mn-lt"/>
                  <a:ea typeface="+mn-ea"/>
                  <a:cs typeface="+mn-cs"/>
                </a:rPr>
                <a:t>小儿多为急性起病、进展快，需紧急明确病因并处理。</a:t>
              </a:r>
            </a:p>
          </p:txBody>
        </p:sp>
      </p:grpSp>
      <p:grpSp>
        <p:nvGrpSpPr>
          <p:cNvPr id="58" name="Group 58"/>
          <p:cNvGrpSpPr/>
          <p:nvPr/>
        </p:nvGrpSpPr>
        <p:grpSpPr>
          <a:xfrm>
            <a:off x="374142" y="6445568"/>
            <a:ext cx="11443716" cy="264033"/>
            <a:chOff x="374142" y="6445568"/>
            <a:chExt cx="11443716" cy="264033"/>
          </a:xfrm>
        </p:grpSpPr>
        <p:sp>
          <p:nvSpPr>
            <p:cNvPr id="56" name="TextBox 56"/>
            <p:cNvSpPr txBox="1"/>
            <p:nvPr/>
          </p:nvSpPr>
          <p:spPr>
            <a:xfrm>
              <a:off x="374142" y="6445568"/>
              <a:ext cx="2085518"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02 定义、分类与病理生理</a:t>
              </a:r>
            </a:p>
          </p:txBody>
        </p:sp>
        <p:sp>
          <p:nvSpPr>
            <p:cNvPr id="57" name="TextBox 57"/>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05 / 20</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5119116"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一次呼吸，要经过五个环节</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30" name="Group 30"/>
          <p:cNvGrpSpPr/>
          <p:nvPr/>
        </p:nvGrpSpPr>
        <p:grpSpPr>
          <a:xfrm>
            <a:off x="4110228" y="1565910"/>
            <a:ext cx="5495544" cy="4292346"/>
            <a:chOff x="4110228" y="1565910"/>
            <a:chExt cx="5495544" cy="4292346"/>
          </a:xfrm>
        </p:grpSpPr>
        <p:sp>
          <p:nvSpPr>
            <p:cNvPr id="5" name="Ellipse 5"/>
            <p:cNvSpPr/>
            <p:nvPr/>
          </p:nvSpPr>
          <p:spPr>
            <a:xfrm>
              <a:off x="5334000" y="2286000"/>
              <a:ext cx="3048000" cy="3048000"/>
            </a:xfrm>
            <a:prstGeom prst="ellipse">
              <a:avLst/>
            </a:prstGeom>
            <a:noFill/>
            <a:ln w="9525">
              <a:solidFill>
                <a:schemeClr val="dk1">
                  <a:alpha val="22000"/>
                </a:schemeClr>
              </a:solidFill>
              <a:custDash>
                <a:ds d="400000" sp="600000"/>
              </a:custDash>
            </a:ln>
          </p:spPr>
        </p:sp>
        <p:sp>
          <p:nvSpPr>
            <p:cNvPr id="6" name="Ellipse 6"/>
            <p:cNvSpPr/>
            <p:nvPr/>
          </p:nvSpPr>
          <p:spPr>
            <a:xfrm>
              <a:off x="6362700" y="1790700"/>
              <a:ext cx="990600" cy="990600"/>
            </a:xfrm>
            <a:prstGeom prst="ellipse">
              <a:avLst/>
            </a:prstGeom>
            <a:solidFill>
              <a:schemeClr val="lt1"/>
            </a:solidFill>
            <a:ln w="19050">
              <a:solidFill>
                <a:schemeClr val="accent1"/>
              </a:solidFill>
            </a:ln>
          </p:spPr>
        </p:sp>
        <p:sp>
          <p:nvSpPr>
            <p:cNvPr id="7" name="TextBox 7"/>
            <p:cNvSpPr txBox="1"/>
            <p:nvPr/>
          </p:nvSpPr>
          <p:spPr>
            <a:xfrm>
              <a:off x="6758612" y="2042160"/>
              <a:ext cx="1987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01</a:t>
              </a:r>
            </a:p>
          </p:txBody>
        </p:sp>
        <p:sp>
          <p:nvSpPr>
            <p:cNvPr id="8" name="TextBox 8"/>
            <p:cNvSpPr txBox="1"/>
            <p:nvPr/>
          </p:nvSpPr>
          <p:spPr>
            <a:xfrm>
              <a:off x="6532340" y="2257425"/>
              <a:ext cx="651320"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mn-lt"/>
                  <a:ea typeface="+mn-ea"/>
                  <a:cs typeface="+mn-cs"/>
                </a:rPr>
                <a:t>感受器</a:t>
              </a:r>
            </a:p>
          </p:txBody>
        </p:sp>
        <p:sp>
          <p:nvSpPr>
            <p:cNvPr id="9" name="TextBox 9"/>
            <p:cNvSpPr txBox="1"/>
            <p:nvPr/>
          </p:nvSpPr>
          <p:spPr>
            <a:xfrm>
              <a:off x="6193612" y="1565910"/>
              <a:ext cx="1328776" cy="234696"/>
            </a:xfrm>
            <a:prstGeom prst="rect">
              <a:avLst/>
            </a:prstGeom>
            <a:noFill/>
            <a:ln>
              <a:noFill/>
            </a:ln>
          </p:spPr>
          <p:txBody>
            <a:bodyPr wrap="none" lIns="0" tIns="0" rIns="0" bIns="0" anchor="t" anchorCtr="0">
              <a:spAutoFit/>
            </a:bodyPr>
            <a:lstStyle/>
            <a:p>
              <a:pPr algn="ctr"/>
              <a:r>
                <a:rPr lang="zh-CN" sz="1200" dirty="0">
                  <a:solidFill>
                    <a:schemeClr val="dk1">
                      <a:alphaMod val="70000"/>
                    </a:schemeClr>
                  </a:solidFill>
                  <a:latin typeface="+mn-lt"/>
                  <a:ea typeface="+mn-ea"/>
                  <a:cs typeface="+mn-cs"/>
                </a:rPr>
                <a:t>化学 / 机械感受器</a:t>
              </a:r>
            </a:p>
          </p:txBody>
        </p:sp>
        <p:sp>
          <p:nvSpPr>
            <p:cNvPr id="10" name="Ellipse 10"/>
            <p:cNvSpPr/>
            <p:nvPr/>
          </p:nvSpPr>
          <p:spPr>
            <a:xfrm>
              <a:off x="7810500" y="2838450"/>
              <a:ext cx="990600" cy="990600"/>
            </a:xfrm>
            <a:prstGeom prst="ellipse">
              <a:avLst/>
            </a:prstGeom>
            <a:solidFill>
              <a:schemeClr val="lt1"/>
            </a:solidFill>
            <a:ln w="19050">
              <a:solidFill>
                <a:schemeClr val="accent1"/>
              </a:solidFill>
            </a:ln>
          </p:spPr>
        </p:sp>
        <p:sp>
          <p:nvSpPr>
            <p:cNvPr id="11" name="TextBox 11"/>
            <p:cNvSpPr txBox="1"/>
            <p:nvPr/>
          </p:nvSpPr>
          <p:spPr>
            <a:xfrm>
              <a:off x="8206412" y="3089910"/>
              <a:ext cx="1987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02</a:t>
              </a:r>
            </a:p>
          </p:txBody>
        </p:sp>
        <p:sp>
          <p:nvSpPr>
            <p:cNvPr id="12" name="TextBox 12"/>
            <p:cNvSpPr txBox="1"/>
            <p:nvPr/>
          </p:nvSpPr>
          <p:spPr>
            <a:xfrm>
              <a:off x="8086154" y="3305175"/>
              <a:ext cx="439293"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mn-lt"/>
                  <a:ea typeface="+mn-ea"/>
                  <a:cs typeface="+mn-cs"/>
                </a:rPr>
                <a:t>传入</a:t>
              </a:r>
            </a:p>
          </p:txBody>
        </p:sp>
        <p:sp>
          <p:nvSpPr>
            <p:cNvPr id="13" name="TextBox 13"/>
            <p:cNvSpPr txBox="1"/>
            <p:nvPr/>
          </p:nvSpPr>
          <p:spPr>
            <a:xfrm>
              <a:off x="8947404" y="3261360"/>
              <a:ext cx="658368" cy="234696"/>
            </a:xfrm>
            <a:prstGeom prst="rect">
              <a:avLst/>
            </a:prstGeom>
            <a:noFill/>
            <a:ln>
              <a:noFill/>
            </a:ln>
          </p:spPr>
          <p:txBody>
            <a:bodyPr wrap="none" lIns="0" tIns="0" rIns="0" bIns="0" anchor="t" anchorCtr="0">
              <a:spAutoFit/>
            </a:bodyPr>
            <a:lstStyle/>
            <a:p>
              <a:pPr algn="l"/>
              <a:r>
                <a:rPr lang="zh-CN" sz="1200" dirty="0">
                  <a:solidFill>
                    <a:schemeClr val="dk1">
                      <a:alphaMod val="70000"/>
                    </a:schemeClr>
                  </a:solidFill>
                  <a:latin typeface="+mn-lt"/>
                  <a:ea typeface="+mn-ea"/>
                  <a:cs typeface="+mn-cs"/>
                </a:rPr>
                <a:t>迷走神经</a:t>
              </a:r>
            </a:p>
          </p:txBody>
        </p:sp>
        <p:sp>
          <p:nvSpPr>
            <p:cNvPr id="14" name="TextBox 14"/>
            <p:cNvSpPr txBox="1"/>
            <p:nvPr/>
          </p:nvSpPr>
          <p:spPr>
            <a:xfrm>
              <a:off x="8947404" y="3470910"/>
              <a:ext cx="658368" cy="234696"/>
            </a:xfrm>
            <a:prstGeom prst="rect">
              <a:avLst/>
            </a:prstGeom>
            <a:noFill/>
            <a:ln>
              <a:noFill/>
            </a:ln>
          </p:spPr>
          <p:txBody>
            <a:bodyPr wrap="none" lIns="0" tIns="0" rIns="0" bIns="0" anchor="t" anchorCtr="0">
              <a:spAutoFit/>
            </a:bodyPr>
            <a:lstStyle/>
            <a:p>
              <a:pPr algn="l"/>
              <a:r>
                <a:rPr lang="zh-CN" sz="1200" dirty="0">
                  <a:solidFill>
                    <a:schemeClr val="dk1">
                      <a:alphaMod val="70000"/>
                    </a:schemeClr>
                  </a:solidFill>
                  <a:latin typeface="+mn-lt"/>
                  <a:ea typeface="+mn-ea"/>
                  <a:cs typeface="+mn-cs"/>
                </a:rPr>
                <a:t>舌咽神经</a:t>
              </a:r>
            </a:p>
          </p:txBody>
        </p:sp>
        <p:sp>
          <p:nvSpPr>
            <p:cNvPr id="15" name="Ellipse 15"/>
            <p:cNvSpPr/>
            <p:nvPr/>
          </p:nvSpPr>
          <p:spPr>
            <a:xfrm>
              <a:off x="7305675" y="4543425"/>
              <a:ext cx="990600" cy="990600"/>
            </a:xfrm>
            <a:prstGeom prst="ellipse">
              <a:avLst/>
            </a:prstGeom>
            <a:solidFill>
              <a:schemeClr val="lt1"/>
            </a:solidFill>
            <a:ln w="19050">
              <a:solidFill>
                <a:schemeClr val="accent1"/>
              </a:solidFill>
            </a:ln>
          </p:spPr>
        </p:sp>
        <p:sp>
          <p:nvSpPr>
            <p:cNvPr id="16" name="TextBox 16"/>
            <p:cNvSpPr txBox="1"/>
            <p:nvPr/>
          </p:nvSpPr>
          <p:spPr>
            <a:xfrm>
              <a:off x="7701587" y="4794885"/>
              <a:ext cx="1987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03</a:t>
              </a:r>
            </a:p>
          </p:txBody>
        </p:sp>
        <p:sp>
          <p:nvSpPr>
            <p:cNvPr id="17" name="TextBox 17"/>
            <p:cNvSpPr txBox="1"/>
            <p:nvPr/>
          </p:nvSpPr>
          <p:spPr>
            <a:xfrm>
              <a:off x="7369302" y="5010150"/>
              <a:ext cx="863346"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mn-lt"/>
                  <a:ea typeface="+mn-ea"/>
                  <a:cs typeface="+mn-cs"/>
                </a:rPr>
                <a:t>呼吸中枢</a:t>
              </a:r>
            </a:p>
          </p:txBody>
        </p:sp>
        <p:sp>
          <p:nvSpPr>
            <p:cNvPr id="18" name="TextBox 18"/>
            <p:cNvSpPr txBox="1"/>
            <p:nvPr/>
          </p:nvSpPr>
          <p:spPr>
            <a:xfrm>
              <a:off x="7471791" y="5623560"/>
              <a:ext cx="658368" cy="234696"/>
            </a:xfrm>
            <a:prstGeom prst="rect">
              <a:avLst/>
            </a:prstGeom>
            <a:noFill/>
            <a:ln>
              <a:noFill/>
            </a:ln>
          </p:spPr>
          <p:txBody>
            <a:bodyPr wrap="none" lIns="0" tIns="0" rIns="0" bIns="0" anchor="t" anchorCtr="0">
              <a:spAutoFit/>
            </a:bodyPr>
            <a:lstStyle/>
            <a:p>
              <a:pPr algn="ctr"/>
              <a:r>
                <a:rPr lang="zh-CN" sz="1200" dirty="0">
                  <a:solidFill>
                    <a:schemeClr val="dk1">
                      <a:alphaMod val="70000"/>
                    </a:schemeClr>
                  </a:solidFill>
                  <a:latin typeface="+mn-lt"/>
                  <a:ea typeface="+mn-ea"/>
                  <a:cs typeface="+mn-cs"/>
                </a:rPr>
                <a:t>脑干整合</a:t>
              </a:r>
            </a:p>
          </p:txBody>
        </p:sp>
        <p:sp>
          <p:nvSpPr>
            <p:cNvPr id="19" name="Ellipse 19"/>
            <p:cNvSpPr/>
            <p:nvPr/>
          </p:nvSpPr>
          <p:spPr>
            <a:xfrm>
              <a:off x="5419725" y="4543425"/>
              <a:ext cx="990600" cy="990600"/>
            </a:xfrm>
            <a:prstGeom prst="ellipse">
              <a:avLst/>
            </a:prstGeom>
            <a:solidFill>
              <a:schemeClr val="lt1"/>
            </a:solidFill>
            <a:ln w="19050">
              <a:solidFill>
                <a:schemeClr val="accent1"/>
              </a:solidFill>
            </a:ln>
          </p:spPr>
        </p:sp>
        <p:sp>
          <p:nvSpPr>
            <p:cNvPr id="20" name="TextBox 20"/>
            <p:cNvSpPr txBox="1"/>
            <p:nvPr/>
          </p:nvSpPr>
          <p:spPr>
            <a:xfrm>
              <a:off x="5815637" y="4794885"/>
              <a:ext cx="1987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04</a:t>
              </a:r>
            </a:p>
          </p:txBody>
        </p:sp>
        <p:sp>
          <p:nvSpPr>
            <p:cNvPr id="21" name="TextBox 21"/>
            <p:cNvSpPr txBox="1"/>
            <p:nvPr/>
          </p:nvSpPr>
          <p:spPr>
            <a:xfrm>
              <a:off x="5695379" y="5010150"/>
              <a:ext cx="439293"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mn-lt"/>
                  <a:ea typeface="+mn-ea"/>
                  <a:cs typeface="+mn-cs"/>
                </a:rPr>
                <a:t>传出</a:t>
              </a:r>
            </a:p>
          </p:txBody>
        </p:sp>
        <p:sp>
          <p:nvSpPr>
            <p:cNvPr id="22" name="TextBox 22"/>
            <p:cNvSpPr txBox="1"/>
            <p:nvPr/>
          </p:nvSpPr>
          <p:spPr>
            <a:xfrm>
              <a:off x="5250637" y="5623560"/>
              <a:ext cx="1328776" cy="234696"/>
            </a:xfrm>
            <a:prstGeom prst="rect">
              <a:avLst/>
            </a:prstGeom>
            <a:noFill/>
            <a:ln>
              <a:noFill/>
            </a:ln>
          </p:spPr>
          <p:txBody>
            <a:bodyPr wrap="none" lIns="0" tIns="0" rIns="0" bIns="0" anchor="t" anchorCtr="0">
              <a:spAutoFit/>
            </a:bodyPr>
            <a:lstStyle/>
            <a:p>
              <a:pPr algn="ctr"/>
              <a:r>
                <a:rPr lang="zh-CN" sz="1200" dirty="0">
                  <a:solidFill>
                    <a:schemeClr val="dk1">
                      <a:alphaMod val="70000"/>
                    </a:schemeClr>
                  </a:solidFill>
                  <a:latin typeface="+mn-lt"/>
                  <a:ea typeface="+mn-ea"/>
                  <a:cs typeface="+mn-cs"/>
                </a:rPr>
                <a:t>膈神经 · 肋间神经</a:t>
              </a:r>
            </a:p>
          </p:txBody>
        </p:sp>
        <p:sp>
          <p:nvSpPr>
            <p:cNvPr id="23" name="Ellipse 23"/>
            <p:cNvSpPr/>
            <p:nvPr/>
          </p:nvSpPr>
          <p:spPr>
            <a:xfrm>
              <a:off x="4914900" y="2838450"/>
              <a:ext cx="990600" cy="990600"/>
            </a:xfrm>
            <a:prstGeom prst="ellipse">
              <a:avLst/>
            </a:prstGeom>
            <a:solidFill>
              <a:schemeClr val="lt1"/>
            </a:solidFill>
            <a:ln w="19050">
              <a:solidFill>
                <a:schemeClr val="accent1"/>
              </a:solidFill>
            </a:ln>
          </p:spPr>
        </p:sp>
        <p:sp>
          <p:nvSpPr>
            <p:cNvPr id="24" name="TextBox 24"/>
            <p:cNvSpPr txBox="1"/>
            <p:nvPr/>
          </p:nvSpPr>
          <p:spPr>
            <a:xfrm>
              <a:off x="5310812" y="3089910"/>
              <a:ext cx="1987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05</a:t>
              </a:r>
            </a:p>
          </p:txBody>
        </p:sp>
        <p:sp>
          <p:nvSpPr>
            <p:cNvPr id="25" name="TextBox 25"/>
            <p:cNvSpPr txBox="1"/>
            <p:nvPr/>
          </p:nvSpPr>
          <p:spPr>
            <a:xfrm>
              <a:off x="5084540" y="3305175"/>
              <a:ext cx="651320"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mn-lt"/>
                  <a:ea typeface="+mn-ea"/>
                  <a:cs typeface="+mn-cs"/>
                </a:rPr>
                <a:t>呼吸肌</a:t>
              </a:r>
            </a:p>
          </p:txBody>
        </p:sp>
        <p:sp>
          <p:nvSpPr>
            <p:cNvPr id="26" name="TextBox 26"/>
            <p:cNvSpPr txBox="1"/>
            <p:nvPr/>
          </p:nvSpPr>
          <p:spPr>
            <a:xfrm>
              <a:off x="4433316" y="3261360"/>
              <a:ext cx="335280" cy="234696"/>
            </a:xfrm>
            <a:prstGeom prst="rect">
              <a:avLst/>
            </a:prstGeom>
            <a:noFill/>
            <a:ln>
              <a:noFill/>
            </a:ln>
          </p:spPr>
          <p:txBody>
            <a:bodyPr wrap="none" lIns="0" tIns="0" rIns="0" bIns="0" anchor="t" anchorCtr="0">
              <a:spAutoFit/>
            </a:bodyPr>
            <a:lstStyle/>
            <a:p>
              <a:pPr algn="r"/>
              <a:r>
                <a:rPr lang="zh-CN" sz="1200" dirty="0">
                  <a:solidFill>
                    <a:schemeClr val="dk1">
                      <a:alphaMod val="70000"/>
                    </a:schemeClr>
                  </a:solidFill>
                  <a:latin typeface="+mn-lt"/>
                  <a:ea typeface="+mn-ea"/>
                  <a:cs typeface="+mn-cs"/>
                </a:rPr>
                <a:t>膈肌</a:t>
              </a:r>
            </a:p>
          </p:txBody>
        </p:sp>
        <p:sp>
          <p:nvSpPr>
            <p:cNvPr id="27" name="TextBox 27"/>
            <p:cNvSpPr txBox="1"/>
            <p:nvPr/>
          </p:nvSpPr>
          <p:spPr>
            <a:xfrm>
              <a:off x="4110228" y="3470910"/>
              <a:ext cx="658368" cy="234696"/>
            </a:xfrm>
            <a:prstGeom prst="rect">
              <a:avLst/>
            </a:prstGeom>
            <a:noFill/>
            <a:ln>
              <a:noFill/>
            </a:ln>
          </p:spPr>
          <p:txBody>
            <a:bodyPr wrap="none" lIns="0" tIns="0" rIns="0" bIns="0" anchor="t" anchorCtr="0">
              <a:spAutoFit/>
            </a:bodyPr>
            <a:lstStyle/>
            <a:p>
              <a:pPr algn="r"/>
              <a:r>
                <a:rPr lang="zh-CN" sz="1200" dirty="0">
                  <a:solidFill>
                    <a:schemeClr val="dk1">
                      <a:alphaMod val="70000"/>
                    </a:schemeClr>
                  </a:solidFill>
                  <a:latin typeface="+mn-lt"/>
                  <a:ea typeface="+mn-ea"/>
                  <a:cs typeface="+mn-cs"/>
                </a:rPr>
                <a:t>肋间外肌</a:t>
              </a:r>
            </a:p>
          </p:txBody>
        </p:sp>
        <p:sp>
          <p:nvSpPr>
            <p:cNvPr id="28" name="TextBox 28"/>
            <p:cNvSpPr txBox="1"/>
            <p:nvPr/>
          </p:nvSpPr>
          <p:spPr>
            <a:xfrm>
              <a:off x="6085561" y="3444240"/>
              <a:ext cx="1544879"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任一环节出错</a:t>
              </a:r>
            </a:p>
          </p:txBody>
        </p:sp>
        <p:sp>
          <p:nvSpPr>
            <p:cNvPr id="29" name="TextBox 29"/>
            <p:cNvSpPr txBox="1"/>
            <p:nvPr/>
          </p:nvSpPr>
          <p:spPr>
            <a:xfrm>
              <a:off x="6000750" y="3749040"/>
              <a:ext cx="1714500"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都可致呼吸困难</a:t>
              </a:r>
            </a:p>
          </p:txBody>
        </p:sp>
      </p:grpSp>
      <p:grpSp>
        <p:nvGrpSpPr>
          <p:cNvPr id="40" name="Group 40"/>
          <p:cNvGrpSpPr/>
          <p:nvPr/>
        </p:nvGrpSpPr>
        <p:grpSpPr>
          <a:xfrm>
            <a:off x="372618" y="2711768"/>
            <a:ext cx="3818382" cy="3083433"/>
            <a:chOff x="372618" y="2711768"/>
            <a:chExt cx="3818382" cy="3083433"/>
          </a:xfrm>
        </p:grpSpPr>
        <p:sp>
          <p:nvSpPr>
            <p:cNvPr id="31" name="TextBox 31"/>
            <p:cNvSpPr txBox="1"/>
            <p:nvPr/>
          </p:nvSpPr>
          <p:spPr>
            <a:xfrm>
              <a:off x="374142" y="2711768"/>
              <a:ext cx="837590"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三类断点</a:t>
              </a:r>
            </a:p>
          </p:txBody>
        </p:sp>
        <p:sp>
          <p:nvSpPr>
            <p:cNvPr id="32" name="Line 32"/>
            <p:cNvSpPr/>
            <p:nvPr/>
          </p:nvSpPr>
          <p:spPr>
            <a:xfrm>
              <a:off x="381000" y="3009900"/>
              <a:ext cx="3810000" cy="9525"/>
            </a:xfrm>
            <a:custGeom>
              <a:avLst/>
              <a:gdLst/>
              <a:ahLst/>
              <a:cxnLst/>
              <a:rect l="l" t="t" r="r" b="b"/>
              <a:pathLst>
                <a:path w="3810000" h="9525">
                  <a:moveTo>
                    <a:pt x="0" y="0"/>
                  </a:moveTo>
                  <a:lnTo>
                    <a:pt x="3810000" y="0"/>
                  </a:lnTo>
                </a:path>
              </a:pathLst>
            </a:custGeom>
            <a:noFill/>
            <a:ln w="19050">
              <a:solidFill>
                <a:schemeClr val="accent1"/>
              </a:solidFill>
            </a:ln>
          </p:spPr>
        </p:sp>
        <p:sp>
          <p:nvSpPr>
            <p:cNvPr id="33" name="TextBox 33"/>
            <p:cNvSpPr txBox="1"/>
            <p:nvPr/>
          </p:nvSpPr>
          <p:spPr>
            <a:xfrm>
              <a:off x="372618" y="3288982"/>
              <a:ext cx="91469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① 感受器</a:t>
              </a:r>
            </a:p>
          </p:txBody>
        </p:sp>
        <p:sp>
          <p:nvSpPr>
            <p:cNvPr id="34" name="TextBox 34"/>
            <p:cNvSpPr txBox="1"/>
            <p:nvPr/>
          </p:nvSpPr>
          <p:spPr>
            <a:xfrm>
              <a:off x="374142" y="3607118"/>
              <a:ext cx="2012823" cy="264033"/>
            </a:xfrm>
            <a:prstGeom prst="rect">
              <a:avLst/>
            </a:prstGeom>
            <a:noFill/>
            <a:ln>
              <a:noFill/>
            </a:ln>
          </p:spPr>
          <p:txBody>
            <a:bodyPr wrap="none" lIns="0" tIns="0" rIns="0" bIns="0" anchor="t" anchorCtr="0">
              <a:spAutoFit/>
            </a:bodyPr>
            <a:lstStyle/>
            <a:p>
              <a:pPr algn="l"/>
              <a:r>
                <a:rPr lang="zh-CN" sz="1350" dirty="0">
                  <a:solidFill>
                    <a:schemeClr val="dk1">
                      <a:alphaMod val="78000"/>
                    </a:schemeClr>
                  </a:solidFill>
                  <a:latin typeface="+mn-lt"/>
                  <a:ea typeface="+mn-ea"/>
                  <a:cs typeface="+mn-cs"/>
                </a:rPr>
                <a:t>内环境变化，感受器失灵</a:t>
              </a:r>
            </a:p>
          </p:txBody>
        </p:sp>
        <p:sp>
          <p:nvSpPr>
            <p:cNvPr id="35" name="TextBox 35"/>
            <p:cNvSpPr txBox="1"/>
            <p:nvPr/>
          </p:nvSpPr>
          <p:spPr>
            <a:xfrm>
              <a:off x="372618" y="4050982"/>
              <a:ext cx="681467"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② 气道</a:t>
              </a:r>
            </a:p>
          </p:txBody>
        </p:sp>
        <p:sp>
          <p:nvSpPr>
            <p:cNvPr id="36" name="TextBox 36"/>
            <p:cNvSpPr txBox="1"/>
            <p:nvPr/>
          </p:nvSpPr>
          <p:spPr>
            <a:xfrm>
              <a:off x="374142" y="4369118"/>
              <a:ext cx="1467612" cy="264033"/>
            </a:xfrm>
            <a:prstGeom prst="rect">
              <a:avLst/>
            </a:prstGeom>
            <a:noFill/>
            <a:ln>
              <a:noFill/>
            </a:ln>
          </p:spPr>
          <p:txBody>
            <a:bodyPr wrap="none" lIns="0" tIns="0" rIns="0" bIns="0" anchor="t" anchorCtr="0">
              <a:spAutoFit/>
            </a:bodyPr>
            <a:lstStyle/>
            <a:p>
              <a:pPr algn="l"/>
              <a:r>
                <a:rPr lang="zh-CN" sz="1350" dirty="0">
                  <a:solidFill>
                    <a:schemeClr val="dk1">
                      <a:alphaMod val="78000"/>
                    </a:schemeClr>
                  </a:solidFill>
                  <a:latin typeface="+mn-lt"/>
                  <a:ea typeface="+mn-ea"/>
                  <a:cs typeface="+mn-cs"/>
                </a:rPr>
                <a:t>不通畅，通气受阻</a:t>
              </a:r>
            </a:p>
          </p:txBody>
        </p:sp>
        <p:sp>
          <p:nvSpPr>
            <p:cNvPr id="37" name="TextBox 37"/>
            <p:cNvSpPr txBox="1"/>
            <p:nvPr/>
          </p:nvSpPr>
          <p:spPr>
            <a:xfrm>
              <a:off x="372618" y="4812982"/>
              <a:ext cx="1847613"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③ 中枢与神经肌肉</a:t>
              </a:r>
            </a:p>
          </p:txBody>
        </p:sp>
        <p:sp>
          <p:nvSpPr>
            <p:cNvPr id="38" name="TextBox 38"/>
            <p:cNvSpPr txBox="1"/>
            <p:nvPr/>
          </p:nvSpPr>
          <p:spPr>
            <a:xfrm>
              <a:off x="374142" y="5131118"/>
              <a:ext cx="2558034" cy="264033"/>
            </a:xfrm>
            <a:prstGeom prst="rect">
              <a:avLst/>
            </a:prstGeom>
            <a:noFill/>
            <a:ln>
              <a:noFill/>
            </a:ln>
          </p:spPr>
          <p:txBody>
            <a:bodyPr wrap="none" lIns="0" tIns="0" rIns="0" bIns="0" anchor="t" anchorCtr="0">
              <a:spAutoFit/>
            </a:bodyPr>
            <a:lstStyle/>
            <a:p>
              <a:pPr algn="l"/>
              <a:r>
                <a:rPr lang="zh-CN" sz="1350" dirty="0">
                  <a:solidFill>
                    <a:schemeClr val="dk1">
                      <a:alphaMod val="78000"/>
                    </a:schemeClr>
                  </a:solidFill>
                  <a:latin typeface="+mn-lt"/>
                  <a:ea typeface="+mn-ea"/>
                  <a:cs typeface="+mn-cs"/>
                </a:rPr>
                <a:t>驱动或肌力异常，呼吸变浅变慢</a:t>
              </a:r>
            </a:p>
          </p:txBody>
        </p:sp>
        <p:sp>
          <p:nvSpPr>
            <p:cNvPr id="39" name="TextBox 39"/>
            <p:cNvSpPr txBox="1"/>
            <p:nvPr/>
          </p:nvSpPr>
          <p:spPr>
            <a:xfrm>
              <a:off x="374142" y="5531168"/>
              <a:ext cx="3103245"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原文推论：三类因素均可引起呼吸困难</a:t>
              </a:r>
            </a:p>
          </p:txBody>
        </p:sp>
      </p:grpSp>
      <p:grpSp>
        <p:nvGrpSpPr>
          <p:cNvPr id="43" name="Group 43"/>
          <p:cNvGrpSpPr/>
          <p:nvPr/>
        </p:nvGrpSpPr>
        <p:grpSpPr>
          <a:xfrm>
            <a:off x="374142" y="6445568"/>
            <a:ext cx="11443716" cy="264033"/>
            <a:chOff x="374142" y="6445568"/>
            <a:chExt cx="11443716" cy="264033"/>
          </a:xfrm>
        </p:grpSpPr>
        <p:sp>
          <p:nvSpPr>
            <p:cNvPr id="41" name="TextBox 41"/>
            <p:cNvSpPr txBox="1"/>
            <p:nvPr/>
          </p:nvSpPr>
          <p:spPr>
            <a:xfrm>
              <a:off x="374142" y="6445568"/>
              <a:ext cx="2085518"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02 定义、分类与病理生理</a:t>
              </a:r>
            </a:p>
          </p:txBody>
        </p:sp>
        <p:sp>
          <p:nvSpPr>
            <p:cNvPr id="42" name="TextBox 42"/>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06 / 20</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596722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四条通路，都会把呼吸推向困难</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6" name="Group 16"/>
          <p:cNvGrpSpPr/>
          <p:nvPr/>
        </p:nvGrpSpPr>
        <p:grpSpPr>
          <a:xfrm>
            <a:off x="371856" y="1447800"/>
            <a:ext cx="11439144" cy="1089851"/>
            <a:chOff x="371856" y="1447800"/>
            <a:chExt cx="11439144" cy="1089851"/>
          </a:xfrm>
        </p:grpSpPr>
        <p:sp>
          <p:nvSpPr>
            <p:cNvPr id="5" name="TextBox 5"/>
            <p:cNvSpPr txBox="1"/>
            <p:nvPr/>
          </p:nvSpPr>
          <p:spPr>
            <a:xfrm>
              <a:off x="371856" y="1520190"/>
              <a:ext cx="29816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01</a:t>
              </a:r>
            </a:p>
          </p:txBody>
        </p:sp>
        <p:sp>
          <p:nvSpPr>
            <p:cNvPr id="6" name="TextBox 6"/>
            <p:cNvSpPr txBox="1"/>
            <p:nvPr/>
          </p:nvSpPr>
          <p:spPr>
            <a:xfrm>
              <a:off x="371856" y="18249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缺氧与高碳酸</a:t>
              </a:r>
            </a:p>
          </p:txBody>
        </p:sp>
        <p:sp>
          <p:nvSpPr>
            <p:cNvPr id="7" name="TextBox 7"/>
            <p:cNvSpPr txBox="1"/>
            <p:nvPr/>
          </p:nvSpPr>
          <p:spPr>
            <a:xfrm>
              <a:off x="374142" y="2140268"/>
              <a:ext cx="1467612" cy="264033"/>
            </a:xfrm>
            <a:prstGeom prst="rect">
              <a:avLst/>
            </a:prstGeom>
            <a:noFill/>
            <a:ln>
              <a:noFill/>
            </a:ln>
          </p:spPr>
          <p:txBody>
            <a:bodyPr wrap="none" lIns="0" tIns="0" rIns="0" bIns="0" anchor="t" anchorCtr="0">
              <a:spAutoFit/>
            </a:bodyPr>
            <a:lstStyle/>
            <a:p>
              <a:pPr algn="l"/>
              <a:r>
                <a:rPr lang="zh-CN" sz="1350" dirty="0">
                  <a:solidFill>
                    <a:schemeClr val="dk1">
                      <a:alphaMod val="65000"/>
                    </a:schemeClr>
                  </a:solidFill>
                  <a:latin typeface="+mn-lt"/>
                  <a:ea typeface="+mn-ea"/>
                  <a:cs typeface="+mn-cs"/>
                </a:rPr>
                <a:t>最重要的化学通路</a:t>
              </a:r>
            </a:p>
          </p:txBody>
        </p:sp>
        <p:sp>
          <p:nvSpPr>
            <p:cNvPr id="8" name="Line 8"/>
            <p:cNvSpPr/>
            <p:nvPr/>
          </p:nvSpPr>
          <p:spPr>
            <a:xfrm>
              <a:off x="2819400" y="1447800"/>
              <a:ext cx="9525" cy="952500"/>
            </a:xfrm>
            <a:custGeom>
              <a:avLst/>
              <a:gdLst/>
              <a:ahLst/>
              <a:cxnLst/>
              <a:rect l="l" t="t" r="r" b="b"/>
              <a:pathLst>
                <a:path w="9525" h="952500">
                  <a:moveTo>
                    <a:pt x="0" y="0"/>
                  </a:moveTo>
                  <a:lnTo>
                    <a:pt x="0" y="952500"/>
                  </a:lnTo>
                </a:path>
              </a:pathLst>
            </a:custGeom>
            <a:noFill/>
            <a:ln w="9525">
              <a:solidFill>
                <a:schemeClr val="dk1">
                  <a:alpha val="20000"/>
                </a:schemeClr>
              </a:solidFill>
            </a:ln>
          </p:spPr>
        </p:sp>
        <p:sp>
          <p:nvSpPr>
            <p:cNvPr id="9" name="TextBox 9"/>
            <p:cNvSpPr txBox="1"/>
            <p:nvPr/>
          </p:nvSpPr>
          <p:spPr>
            <a:xfrm>
              <a:off x="3041142" y="1568768"/>
              <a:ext cx="1724770"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 xml:space="preserve">触发 </a:t>
              </a:r>
              <a:r>
                <a:rPr lang="zh-CN" sz="1350" dirty="0">
                  <a:solidFill>
                    <a:schemeClr val="dk1"/>
                  </a:solidFill>
                  <a:latin typeface="+mn-lt"/>
                  <a:ea typeface="+mn-ea"/>
                  <a:cs typeface="+mn-cs"/>
                </a:rPr>
                <a:t>各种肺内外疾病</a:t>
              </a:r>
            </a:p>
          </p:txBody>
        </p:sp>
        <p:sp>
          <p:nvSpPr>
            <p:cNvPr id="10" name="TextBox 10"/>
            <p:cNvSpPr txBox="1"/>
            <p:nvPr/>
          </p:nvSpPr>
          <p:spPr>
            <a:xfrm>
              <a:off x="3041142" y="1816418"/>
              <a:ext cx="390561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 xml:space="preserve">生理 </a:t>
              </a:r>
              <a:r>
                <a:rPr lang="zh-CN" sz="1350" dirty="0">
                  <a:solidFill>
                    <a:schemeClr val="dk1"/>
                  </a:solidFill>
                  <a:latin typeface="+mn-lt"/>
                  <a:ea typeface="+mn-ea"/>
                  <a:cs typeface="+mn-cs"/>
                </a:rPr>
                <a:t>刺激颈动脉体、主动脉弓及中枢化学感受器</a:t>
              </a:r>
            </a:p>
          </p:txBody>
        </p:sp>
        <p:sp>
          <p:nvSpPr>
            <p:cNvPr id="11" name="TextBox 11"/>
            <p:cNvSpPr txBox="1"/>
            <p:nvPr/>
          </p:nvSpPr>
          <p:spPr>
            <a:xfrm>
              <a:off x="3041142" y="2045018"/>
              <a:ext cx="3271266" cy="4926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CO₂ 生成 H⁺，反射性兴奋呼吸中枢肺淤血、炎症、间质水肿刺激肺牵张感受器</a:t>
              </a:r>
            </a:p>
          </p:txBody>
        </p:sp>
        <p:sp>
          <p:nvSpPr>
            <p:cNvPr id="12" name="Line 12"/>
            <p:cNvSpPr/>
            <p:nvPr/>
          </p:nvSpPr>
          <p:spPr>
            <a:xfrm>
              <a:off x="7200900" y="1447800"/>
              <a:ext cx="9525" cy="952500"/>
            </a:xfrm>
            <a:custGeom>
              <a:avLst/>
              <a:gdLst/>
              <a:ahLst/>
              <a:cxnLst/>
              <a:rect l="l" t="t" r="r" b="b"/>
              <a:pathLst>
                <a:path w="9525" h="952500">
                  <a:moveTo>
                    <a:pt x="0" y="0"/>
                  </a:moveTo>
                  <a:lnTo>
                    <a:pt x="0" y="952500"/>
                  </a:lnTo>
                </a:path>
              </a:pathLst>
            </a:custGeom>
            <a:noFill/>
            <a:ln w="9525">
              <a:solidFill>
                <a:schemeClr val="dk1">
                  <a:alpha val="20000"/>
                </a:schemeClr>
              </a:solidFill>
            </a:ln>
          </p:spPr>
        </p:sp>
        <p:sp>
          <p:nvSpPr>
            <p:cNvPr id="13" name="TextBox 13"/>
            <p:cNvSpPr txBox="1"/>
            <p:nvPr/>
          </p:nvSpPr>
          <p:spPr>
            <a:xfrm>
              <a:off x="7423404" y="1546860"/>
              <a:ext cx="751256" cy="234696"/>
            </a:xfrm>
            <a:prstGeom prst="rect">
              <a:avLst/>
            </a:prstGeom>
            <a:noFill/>
            <a:ln>
              <a:noFill/>
            </a:ln>
          </p:spPr>
          <p:txBody>
            <a:bodyPr wrap="none" lIns="0" tIns="0" rIns="0" bIns="0" anchor="t" anchorCtr="0">
              <a:spAutoFit/>
            </a:bodyPr>
            <a:lstStyle/>
            <a:p>
              <a:pPr algn="l"/>
              <a:r>
                <a:rPr lang="zh-CN" sz="1200" b="1" spc="150" dirty="0">
                  <a:solidFill>
                    <a:schemeClr val="accent3"/>
                  </a:solidFill>
                  <a:latin typeface="+mn-lt"/>
                  <a:ea typeface="+mn-ea"/>
                  <a:cs typeface="+mn-cs"/>
                </a:rPr>
                <a:t>临床对应</a:t>
              </a:r>
            </a:p>
          </p:txBody>
        </p:sp>
        <p:sp>
          <p:nvSpPr>
            <p:cNvPr id="14" name="TextBox 14"/>
            <p:cNvSpPr txBox="1"/>
            <p:nvPr/>
          </p:nvSpPr>
          <p:spPr>
            <a:xfrm>
              <a:off x="7420356" y="1824990"/>
              <a:ext cx="230817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呼吸急促、呼吸困难</a:t>
              </a:r>
            </a:p>
          </p:txBody>
        </p:sp>
        <p:sp>
          <p:nvSpPr>
            <p:cNvPr id="15" name="Line 15"/>
            <p:cNvSpPr/>
            <p:nvPr/>
          </p:nvSpPr>
          <p:spPr>
            <a:xfrm>
              <a:off x="381000" y="251460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grpSp>
      <p:grpSp>
        <p:nvGrpSpPr>
          <p:cNvPr id="28" name="Group 28"/>
          <p:cNvGrpSpPr/>
          <p:nvPr/>
        </p:nvGrpSpPr>
        <p:grpSpPr>
          <a:xfrm>
            <a:off x="371856" y="2590800"/>
            <a:ext cx="11439144" cy="1076325"/>
            <a:chOff x="371856" y="2590800"/>
            <a:chExt cx="11439144" cy="1076325"/>
          </a:xfrm>
        </p:grpSpPr>
        <p:sp>
          <p:nvSpPr>
            <p:cNvPr id="17" name="TextBox 17"/>
            <p:cNvSpPr txBox="1"/>
            <p:nvPr/>
          </p:nvSpPr>
          <p:spPr>
            <a:xfrm>
              <a:off x="371856" y="2663190"/>
              <a:ext cx="29816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02</a:t>
              </a:r>
            </a:p>
          </p:txBody>
        </p:sp>
        <p:sp>
          <p:nvSpPr>
            <p:cNvPr id="18" name="TextBox 18"/>
            <p:cNvSpPr txBox="1"/>
            <p:nvPr/>
          </p:nvSpPr>
          <p:spPr>
            <a:xfrm>
              <a:off x="371856" y="296799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阻力增加</a:t>
              </a:r>
            </a:p>
          </p:txBody>
        </p:sp>
        <p:sp>
          <p:nvSpPr>
            <p:cNvPr id="19" name="TextBox 19"/>
            <p:cNvSpPr txBox="1"/>
            <p:nvPr/>
          </p:nvSpPr>
          <p:spPr>
            <a:xfrm>
              <a:off x="374142" y="3283268"/>
              <a:ext cx="1467612" cy="264033"/>
            </a:xfrm>
            <a:prstGeom prst="rect">
              <a:avLst/>
            </a:prstGeom>
            <a:noFill/>
            <a:ln>
              <a:noFill/>
            </a:ln>
          </p:spPr>
          <p:txBody>
            <a:bodyPr wrap="none" lIns="0" tIns="0" rIns="0" bIns="0" anchor="t" anchorCtr="0">
              <a:spAutoFit/>
            </a:bodyPr>
            <a:lstStyle/>
            <a:p>
              <a:pPr algn="l"/>
              <a:r>
                <a:rPr lang="zh-CN" sz="1350" dirty="0">
                  <a:solidFill>
                    <a:schemeClr val="dk1">
                      <a:alphaMod val="65000"/>
                    </a:schemeClr>
                  </a:solidFill>
                  <a:latin typeface="+mn-lt"/>
                  <a:ea typeface="+mn-ea"/>
                  <a:cs typeface="+mn-cs"/>
                </a:rPr>
                <a:t>用力也换不来通气</a:t>
              </a:r>
            </a:p>
          </p:txBody>
        </p:sp>
        <p:sp>
          <p:nvSpPr>
            <p:cNvPr id="20" name="Line 20"/>
            <p:cNvSpPr/>
            <p:nvPr/>
          </p:nvSpPr>
          <p:spPr>
            <a:xfrm>
              <a:off x="2819400" y="2590800"/>
              <a:ext cx="9525" cy="952500"/>
            </a:xfrm>
            <a:custGeom>
              <a:avLst/>
              <a:gdLst/>
              <a:ahLst/>
              <a:cxnLst/>
              <a:rect l="l" t="t" r="r" b="b"/>
              <a:pathLst>
                <a:path w="9525" h="952500">
                  <a:moveTo>
                    <a:pt x="0" y="0"/>
                  </a:moveTo>
                  <a:lnTo>
                    <a:pt x="0" y="952500"/>
                  </a:lnTo>
                </a:path>
              </a:pathLst>
            </a:custGeom>
            <a:noFill/>
            <a:ln w="9525">
              <a:solidFill>
                <a:schemeClr val="dk1">
                  <a:alpha val="20000"/>
                </a:schemeClr>
              </a:solidFill>
            </a:ln>
          </p:spPr>
        </p:sp>
        <p:sp>
          <p:nvSpPr>
            <p:cNvPr id="21" name="TextBox 21"/>
            <p:cNvSpPr txBox="1"/>
            <p:nvPr/>
          </p:nvSpPr>
          <p:spPr>
            <a:xfrm>
              <a:off x="3041142" y="2711768"/>
              <a:ext cx="3178666"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 xml:space="preserve">触发 </a:t>
              </a:r>
              <a:r>
                <a:rPr lang="zh-CN" sz="1350" dirty="0">
                  <a:solidFill>
                    <a:schemeClr val="dk1"/>
                  </a:solidFill>
                  <a:latin typeface="+mn-lt"/>
                  <a:ea typeface="+mn-ea"/>
                  <a:cs typeface="+mn-cs"/>
                </a:rPr>
                <a:t>上呼吸道梗阻、下气道平滑肌痉挛</a:t>
              </a:r>
            </a:p>
          </p:txBody>
        </p:sp>
        <p:sp>
          <p:nvSpPr>
            <p:cNvPr id="22" name="TextBox 22"/>
            <p:cNvSpPr txBox="1"/>
            <p:nvPr/>
          </p:nvSpPr>
          <p:spPr>
            <a:xfrm>
              <a:off x="3041142" y="295941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气胸、大量胸腔积液</a:t>
              </a:r>
            </a:p>
          </p:txBody>
        </p:sp>
        <p:sp>
          <p:nvSpPr>
            <p:cNvPr id="23" name="TextBox 23"/>
            <p:cNvSpPr txBox="1"/>
            <p:nvPr/>
          </p:nvSpPr>
          <p:spPr>
            <a:xfrm>
              <a:off x="3041142" y="3207068"/>
              <a:ext cx="372387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 xml:space="preserve">生理 </a:t>
              </a:r>
              <a:r>
                <a:rPr lang="zh-CN" sz="1350" dirty="0">
                  <a:solidFill>
                    <a:schemeClr val="dk1"/>
                  </a:solidFill>
                  <a:latin typeface="+mn-lt"/>
                  <a:ea typeface="+mn-ea"/>
                  <a:cs typeface="+mn-cs"/>
                </a:rPr>
                <a:t>呼吸肌本体感受器激活，反射性做功增强</a:t>
              </a:r>
            </a:p>
          </p:txBody>
        </p:sp>
        <p:sp>
          <p:nvSpPr>
            <p:cNvPr id="24" name="Line 24"/>
            <p:cNvSpPr/>
            <p:nvPr/>
          </p:nvSpPr>
          <p:spPr>
            <a:xfrm>
              <a:off x="7200900" y="2590800"/>
              <a:ext cx="9525" cy="952500"/>
            </a:xfrm>
            <a:custGeom>
              <a:avLst/>
              <a:gdLst/>
              <a:ahLst/>
              <a:cxnLst/>
              <a:rect l="l" t="t" r="r" b="b"/>
              <a:pathLst>
                <a:path w="9525" h="952500">
                  <a:moveTo>
                    <a:pt x="0" y="0"/>
                  </a:moveTo>
                  <a:lnTo>
                    <a:pt x="0" y="952500"/>
                  </a:lnTo>
                </a:path>
              </a:pathLst>
            </a:custGeom>
            <a:noFill/>
            <a:ln w="9525">
              <a:solidFill>
                <a:schemeClr val="dk1">
                  <a:alpha val="20000"/>
                </a:schemeClr>
              </a:solidFill>
            </a:ln>
          </p:spPr>
        </p:sp>
        <p:sp>
          <p:nvSpPr>
            <p:cNvPr id="25" name="TextBox 25"/>
            <p:cNvSpPr txBox="1"/>
            <p:nvPr/>
          </p:nvSpPr>
          <p:spPr>
            <a:xfrm>
              <a:off x="7423404" y="2689860"/>
              <a:ext cx="751256" cy="234696"/>
            </a:xfrm>
            <a:prstGeom prst="rect">
              <a:avLst/>
            </a:prstGeom>
            <a:noFill/>
            <a:ln>
              <a:noFill/>
            </a:ln>
          </p:spPr>
          <p:txBody>
            <a:bodyPr wrap="none" lIns="0" tIns="0" rIns="0" bIns="0" anchor="t" anchorCtr="0">
              <a:spAutoFit/>
            </a:bodyPr>
            <a:lstStyle/>
            <a:p>
              <a:pPr algn="l"/>
              <a:r>
                <a:rPr lang="zh-CN" sz="1200" b="1" spc="150" dirty="0">
                  <a:solidFill>
                    <a:schemeClr val="accent3"/>
                  </a:solidFill>
                  <a:latin typeface="+mn-lt"/>
                  <a:ea typeface="+mn-ea"/>
                  <a:cs typeface="+mn-cs"/>
                </a:rPr>
                <a:t>临床对应</a:t>
              </a:r>
            </a:p>
          </p:txBody>
        </p:sp>
        <p:sp>
          <p:nvSpPr>
            <p:cNvPr id="26" name="TextBox 26"/>
            <p:cNvSpPr txBox="1"/>
            <p:nvPr/>
          </p:nvSpPr>
          <p:spPr>
            <a:xfrm>
              <a:off x="7420356" y="2967990"/>
              <a:ext cx="28170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三凹征、辅助呼吸肌参与</a:t>
              </a:r>
            </a:p>
          </p:txBody>
        </p:sp>
        <p:sp>
          <p:nvSpPr>
            <p:cNvPr id="27" name="Line 27"/>
            <p:cNvSpPr/>
            <p:nvPr/>
          </p:nvSpPr>
          <p:spPr>
            <a:xfrm>
              <a:off x="381000" y="365760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grpSp>
      <p:grpSp>
        <p:nvGrpSpPr>
          <p:cNvPr id="40" name="Group 40"/>
          <p:cNvGrpSpPr/>
          <p:nvPr/>
        </p:nvGrpSpPr>
        <p:grpSpPr>
          <a:xfrm>
            <a:off x="371856" y="3733800"/>
            <a:ext cx="11439144" cy="1076325"/>
            <a:chOff x="371856" y="3733800"/>
            <a:chExt cx="11439144" cy="1076325"/>
          </a:xfrm>
        </p:grpSpPr>
        <p:sp>
          <p:nvSpPr>
            <p:cNvPr id="29" name="TextBox 29"/>
            <p:cNvSpPr txBox="1"/>
            <p:nvPr/>
          </p:nvSpPr>
          <p:spPr>
            <a:xfrm>
              <a:off x="371856" y="3806190"/>
              <a:ext cx="29816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03</a:t>
              </a:r>
            </a:p>
          </p:txBody>
        </p:sp>
        <p:sp>
          <p:nvSpPr>
            <p:cNvPr id="30" name="TextBox 30"/>
            <p:cNvSpPr txBox="1"/>
            <p:nvPr/>
          </p:nvSpPr>
          <p:spPr>
            <a:xfrm>
              <a:off x="371856" y="41109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呼吸肌受损</a:t>
              </a:r>
            </a:p>
          </p:txBody>
        </p:sp>
        <p:sp>
          <p:nvSpPr>
            <p:cNvPr id="31" name="TextBox 31"/>
            <p:cNvSpPr txBox="1"/>
            <p:nvPr/>
          </p:nvSpPr>
          <p:spPr>
            <a:xfrm>
              <a:off x="374142" y="4426268"/>
              <a:ext cx="1285875" cy="264033"/>
            </a:xfrm>
            <a:prstGeom prst="rect">
              <a:avLst/>
            </a:prstGeom>
            <a:noFill/>
            <a:ln>
              <a:noFill/>
            </a:ln>
          </p:spPr>
          <p:txBody>
            <a:bodyPr wrap="none" lIns="0" tIns="0" rIns="0" bIns="0" anchor="t" anchorCtr="0">
              <a:spAutoFit/>
            </a:bodyPr>
            <a:lstStyle/>
            <a:p>
              <a:pPr algn="l"/>
              <a:r>
                <a:rPr lang="zh-CN" sz="1350" dirty="0">
                  <a:solidFill>
                    <a:schemeClr val="dk1">
                      <a:alphaMod val="65000"/>
                    </a:schemeClr>
                  </a:solidFill>
                  <a:latin typeface="+mn-lt"/>
                  <a:ea typeface="+mn-ea"/>
                  <a:cs typeface="+mn-cs"/>
                </a:rPr>
                <a:t>想用力，用不上</a:t>
              </a:r>
            </a:p>
          </p:txBody>
        </p:sp>
        <p:sp>
          <p:nvSpPr>
            <p:cNvPr id="32" name="Line 32"/>
            <p:cNvSpPr/>
            <p:nvPr/>
          </p:nvSpPr>
          <p:spPr>
            <a:xfrm>
              <a:off x="2819400" y="3733800"/>
              <a:ext cx="9525" cy="952500"/>
            </a:xfrm>
            <a:custGeom>
              <a:avLst/>
              <a:gdLst/>
              <a:ahLst/>
              <a:cxnLst/>
              <a:rect l="l" t="t" r="r" b="b"/>
              <a:pathLst>
                <a:path w="9525" h="952500">
                  <a:moveTo>
                    <a:pt x="0" y="0"/>
                  </a:moveTo>
                  <a:lnTo>
                    <a:pt x="0" y="952500"/>
                  </a:lnTo>
                </a:path>
              </a:pathLst>
            </a:custGeom>
            <a:noFill/>
            <a:ln w="9525">
              <a:solidFill>
                <a:schemeClr val="dk1">
                  <a:alpha val="20000"/>
                </a:schemeClr>
              </a:solidFill>
            </a:ln>
          </p:spPr>
        </p:sp>
        <p:sp>
          <p:nvSpPr>
            <p:cNvPr id="33" name="TextBox 33"/>
            <p:cNvSpPr txBox="1"/>
            <p:nvPr/>
          </p:nvSpPr>
          <p:spPr>
            <a:xfrm>
              <a:off x="3041142" y="3854768"/>
              <a:ext cx="346035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 xml:space="preserve">触发 </a:t>
              </a:r>
              <a:r>
                <a:rPr lang="zh-CN" sz="1350" dirty="0">
                  <a:solidFill>
                    <a:schemeClr val="dk1"/>
                  </a:solidFill>
                  <a:latin typeface="+mn-lt"/>
                  <a:ea typeface="+mn-ea"/>
                  <a:cs typeface="+mn-cs"/>
                </a:rPr>
                <a:t>肌炎、吉兰-巴雷综合征、重症肌无力</a:t>
              </a:r>
            </a:p>
          </p:txBody>
        </p:sp>
        <p:sp>
          <p:nvSpPr>
            <p:cNvPr id="34" name="TextBox 34"/>
            <p:cNvSpPr txBox="1"/>
            <p:nvPr/>
          </p:nvSpPr>
          <p:spPr>
            <a:xfrm>
              <a:off x="3041142" y="4102418"/>
              <a:ext cx="390561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 xml:space="preserve">生理 </a:t>
              </a:r>
              <a:r>
                <a:rPr lang="zh-CN" sz="1350" dirty="0">
                  <a:solidFill>
                    <a:schemeClr val="dk1"/>
                  </a:solidFill>
                  <a:latin typeface="+mn-lt"/>
                  <a:ea typeface="+mn-ea"/>
                  <a:cs typeface="+mn-cs"/>
                </a:rPr>
                <a:t>肌力减退或麻痹，中枢传出冲动代偿性增加</a:t>
              </a:r>
            </a:p>
          </p:txBody>
        </p:sp>
        <p:sp>
          <p:nvSpPr>
            <p:cNvPr id="35" name="TextBox 35"/>
            <p:cNvSpPr txBox="1"/>
            <p:nvPr/>
          </p:nvSpPr>
          <p:spPr>
            <a:xfrm>
              <a:off x="3041142" y="4350068"/>
              <a:ext cx="383019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通气异常信号经迷走神经与机械感受器传入皮层</a:t>
              </a:r>
            </a:p>
          </p:txBody>
        </p:sp>
        <p:sp>
          <p:nvSpPr>
            <p:cNvPr id="36" name="Line 36"/>
            <p:cNvSpPr/>
            <p:nvPr/>
          </p:nvSpPr>
          <p:spPr>
            <a:xfrm>
              <a:off x="7200900" y="3733800"/>
              <a:ext cx="9525" cy="952500"/>
            </a:xfrm>
            <a:custGeom>
              <a:avLst/>
              <a:gdLst/>
              <a:ahLst/>
              <a:cxnLst/>
              <a:rect l="l" t="t" r="r" b="b"/>
              <a:pathLst>
                <a:path w="9525" h="952500">
                  <a:moveTo>
                    <a:pt x="0" y="0"/>
                  </a:moveTo>
                  <a:lnTo>
                    <a:pt x="0" y="952500"/>
                  </a:lnTo>
                </a:path>
              </a:pathLst>
            </a:custGeom>
            <a:noFill/>
            <a:ln w="9525">
              <a:solidFill>
                <a:schemeClr val="dk1">
                  <a:alpha val="20000"/>
                </a:schemeClr>
              </a:solidFill>
            </a:ln>
          </p:spPr>
        </p:sp>
        <p:sp>
          <p:nvSpPr>
            <p:cNvPr id="37" name="TextBox 37"/>
            <p:cNvSpPr txBox="1"/>
            <p:nvPr/>
          </p:nvSpPr>
          <p:spPr>
            <a:xfrm>
              <a:off x="7423404" y="3832860"/>
              <a:ext cx="751256" cy="234696"/>
            </a:xfrm>
            <a:prstGeom prst="rect">
              <a:avLst/>
            </a:prstGeom>
            <a:noFill/>
            <a:ln>
              <a:noFill/>
            </a:ln>
          </p:spPr>
          <p:txBody>
            <a:bodyPr wrap="none" lIns="0" tIns="0" rIns="0" bIns="0" anchor="t" anchorCtr="0">
              <a:spAutoFit/>
            </a:bodyPr>
            <a:lstStyle/>
            <a:p>
              <a:pPr algn="l"/>
              <a:r>
                <a:rPr lang="zh-CN" sz="1200" b="1" spc="150" dirty="0">
                  <a:solidFill>
                    <a:schemeClr val="accent3"/>
                  </a:solidFill>
                  <a:latin typeface="+mn-lt"/>
                  <a:ea typeface="+mn-ea"/>
                  <a:cs typeface="+mn-cs"/>
                </a:rPr>
                <a:t>临床对应</a:t>
              </a:r>
            </a:p>
          </p:txBody>
        </p:sp>
        <p:sp>
          <p:nvSpPr>
            <p:cNvPr id="38" name="TextBox 38"/>
            <p:cNvSpPr txBox="1"/>
            <p:nvPr/>
          </p:nvSpPr>
          <p:spPr>
            <a:xfrm>
              <a:off x="7420356" y="4110990"/>
              <a:ext cx="258804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“空气不够用”的窒息感</a:t>
              </a:r>
            </a:p>
          </p:txBody>
        </p:sp>
        <p:sp>
          <p:nvSpPr>
            <p:cNvPr id="39" name="Line 39"/>
            <p:cNvSpPr/>
            <p:nvPr/>
          </p:nvSpPr>
          <p:spPr>
            <a:xfrm>
              <a:off x="381000" y="480060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grpSp>
      <p:grpSp>
        <p:nvGrpSpPr>
          <p:cNvPr id="52" name="Group 52"/>
          <p:cNvGrpSpPr/>
          <p:nvPr/>
        </p:nvGrpSpPr>
        <p:grpSpPr>
          <a:xfrm>
            <a:off x="371856" y="4876800"/>
            <a:ext cx="11439144" cy="1076325"/>
            <a:chOff x="371856" y="4876800"/>
            <a:chExt cx="11439144" cy="1076325"/>
          </a:xfrm>
        </p:grpSpPr>
        <p:sp>
          <p:nvSpPr>
            <p:cNvPr id="41" name="TextBox 41"/>
            <p:cNvSpPr txBox="1"/>
            <p:nvPr/>
          </p:nvSpPr>
          <p:spPr>
            <a:xfrm>
              <a:off x="371856" y="4949190"/>
              <a:ext cx="29816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04</a:t>
              </a:r>
            </a:p>
          </p:txBody>
        </p:sp>
        <p:sp>
          <p:nvSpPr>
            <p:cNvPr id="42" name="TextBox 42"/>
            <p:cNvSpPr txBox="1"/>
            <p:nvPr/>
          </p:nvSpPr>
          <p:spPr>
            <a:xfrm>
              <a:off x="371856" y="525399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驱动异常</a:t>
              </a:r>
            </a:p>
          </p:txBody>
        </p:sp>
        <p:sp>
          <p:nvSpPr>
            <p:cNvPr id="43" name="TextBox 43"/>
            <p:cNvSpPr txBox="1"/>
            <p:nvPr/>
          </p:nvSpPr>
          <p:spPr>
            <a:xfrm>
              <a:off x="374142" y="5569268"/>
              <a:ext cx="1667523" cy="264033"/>
            </a:xfrm>
            <a:prstGeom prst="rect">
              <a:avLst/>
            </a:prstGeom>
            <a:noFill/>
            <a:ln>
              <a:noFill/>
            </a:ln>
          </p:spPr>
          <p:txBody>
            <a:bodyPr wrap="none" lIns="0" tIns="0" rIns="0" bIns="0" anchor="t" anchorCtr="0">
              <a:spAutoFit/>
            </a:bodyPr>
            <a:lstStyle/>
            <a:p>
              <a:pPr algn="l"/>
              <a:r>
                <a:rPr lang="zh-CN" sz="1350" dirty="0">
                  <a:solidFill>
                    <a:schemeClr val="dk1">
                      <a:alphaMod val="65000"/>
                    </a:schemeClr>
                  </a:solidFill>
                  <a:latin typeface="+mn-lt"/>
                  <a:ea typeface="+mn-ea"/>
                  <a:cs typeface="+mn-cs"/>
                </a:rPr>
                <a:t>连“想呼吸”都被抑制</a:t>
              </a:r>
            </a:p>
          </p:txBody>
        </p:sp>
        <p:sp>
          <p:nvSpPr>
            <p:cNvPr id="44" name="Line 44"/>
            <p:cNvSpPr/>
            <p:nvPr/>
          </p:nvSpPr>
          <p:spPr>
            <a:xfrm>
              <a:off x="2819400" y="4876800"/>
              <a:ext cx="9525" cy="952500"/>
            </a:xfrm>
            <a:custGeom>
              <a:avLst/>
              <a:gdLst/>
              <a:ahLst/>
              <a:cxnLst/>
              <a:rect l="l" t="t" r="r" b="b"/>
              <a:pathLst>
                <a:path w="9525" h="952500">
                  <a:moveTo>
                    <a:pt x="0" y="0"/>
                  </a:moveTo>
                  <a:lnTo>
                    <a:pt x="0" y="952500"/>
                  </a:lnTo>
                </a:path>
              </a:pathLst>
            </a:custGeom>
            <a:noFill/>
            <a:ln w="9525">
              <a:solidFill>
                <a:schemeClr val="dk1">
                  <a:alpha val="20000"/>
                </a:schemeClr>
              </a:solidFill>
            </a:ln>
          </p:spPr>
        </p:sp>
        <p:sp>
          <p:nvSpPr>
            <p:cNvPr id="45" name="TextBox 45"/>
            <p:cNvSpPr txBox="1"/>
            <p:nvPr/>
          </p:nvSpPr>
          <p:spPr>
            <a:xfrm>
              <a:off x="3041142" y="4997768"/>
              <a:ext cx="2815192"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 xml:space="preserve">触发 </a:t>
              </a:r>
              <a:r>
                <a:rPr lang="zh-CN" sz="1350" dirty="0">
                  <a:solidFill>
                    <a:schemeClr val="dk1"/>
                  </a:solidFill>
                  <a:latin typeface="+mn-lt"/>
                  <a:ea typeface="+mn-ea"/>
                  <a:cs typeface="+mn-cs"/>
                </a:rPr>
                <a:t>脑炎、颅内高压、麻醉镇静剂</a:t>
              </a:r>
            </a:p>
          </p:txBody>
        </p:sp>
        <p:sp>
          <p:nvSpPr>
            <p:cNvPr id="46" name="TextBox 46"/>
            <p:cNvSpPr txBox="1"/>
            <p:nvPr/>
          </p:nvSpPr>
          <p:spPr>
            <a:xfrm>
              <a:off x="3041142" y="5245418"/>
              <a:ext cx="390561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 xml:space="preserve">生理 </a:t>
              </a:r>
              <a:r>
                <a:rPr lang="zh-CN" sz="1350" dirty="0">
                  <a:solidFill>
                    <a:schemeClr val="dk1"/>
                  </a:solidFill>
                  <a:latin typeface="+mn-lt"/>
                  <a:ea typeface="+mn-ea"/>
                  <a:cs typeface="+mn-cs"/>
                </a:rPr>
                <a:t>直接损害或抑制呼吸中枢，节律产生被打断</a:t>
              </a:r>
            </a:p>
          </p:txBody>
        </p:sp>
        <p:sp>
          <p:nvSpPr>
            <p:cNvPr id="47" name="TextBox 47"/>
            <p:cNvSpPr txBox="1"/>
            <p:nvPr/>
          </p:nvSpPr>
          <p:spPr>
            <a:xfrm>
              <a:off x="3041142" y="5493068"/>
              <a:ext cx="328498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通气驱动下降，呼吸变浅、变慢甚至暂停</a:t>
              </a:r>
            </a:p>
          </p:txBody>
        </p:sp>
        <p:sp>
          <p:nvSpPr>
            <p:cNvPr id="48" name="Line 48"/>
            <p:cNvSpPr/>
            <p:nvPr/>
          </p:nvSpPr>
          <p:spPr>
            <a:xfrm>
              <a:off x="7200900" y="4876800"/>
              <a:ext cx="9525" cy="952500"/>
            </a:xfrm>
            <a:custGeom>
              <a:avLst/>
              <a:gdLst/>
              <a:ahLst/>
              <a:cxnLst/>
              <a:rect l="l" t="t" r="r" b="b"/>
              <a:pathLst>
                <a:path w="9525" h="952500">
                  <a:moveTo>
                    <a:pt x="0" y="0"/>
                  </a:moveTo>
                  <a:lnTo>
                    <a:pt x="0" y="952500"/>
                  </a:lnTo>
                </a:path>
              </a:pathLst>
            </a:custGeom>
            <a:noFill/>
            <a:ln w="9525">
              <a:solidFill>
                <a:schemeClr val="dk1">
                  <a:alpha val="20000"/>
                </a:schemeClr>
              </a:solidFill>
            </a:ln>
          </p:spPr>
        </p:sp>
        <p:sp>
          <p:nvSpPr>
            <p:cNvPr id="49" name="TextBox 49"/>
            <p:cNvSpPr txBox="1"/>
            <p:nvPr/>
          </p:nvSpPr>
          <p:spPr>
            <a:xfrm>
              <a:off x="7423404" y="4975860"/>
              <a:ext cx="751256" cy="234696"/>
            </a:xfrm>
            <a:prstGeom prst="rect">
              <a:avLst/>
            </a:prstGeom>
            <a:noFill/>
            <a:ln>
              <a:noFill/>
            </a:ln>
          </p:spPr>
          <p:txBody>
            <a:bodyPr wrap="none" lIns="0" tIns="0" rIns="0" bIns="0" anchor="t" anchorCtr="0">
              <a:spAutoFit/>
            </a:bodyPr>
            <a:lstStyle/>
            <a:p>
              <a:pPr algn="l"/>
              <a:r>
                <a:rPr lang="zh-CN" sz="1200" b="1" spc="150" dirty="0">
                  <a:solidFill>
                    <a:schemeClr val="accent3"/>
                  </a:solidFill>
                  <a:latin typeface="+mn-lt"/>
                  <a:ea typeface="+mn-ea"/>
                  <a:cs typeface="+mn-cs"/>
                </a:rPr>
                <a:t>临床对应</a:t>
              </a:r>
            </a:p>
          </p:txBody>
        </p:sp>
        <p:sp>
          <p:nvSpPr>
            <p:cNvPr id="50" name="TextBox 50"/>
            <p:cNvSpPr txBox="1"/>
            <p:nvPr/>
          </p:nvSpPr>
          <p:spPr>
            <a:xfrm>
              <a:off x="7420356" y="5253990"/>
              <a:ext cx="2817038"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呼吸节律紊乱、呼吸暂停</a:t>
              </a:r>
            </a:p>
          </p:txBody>
        </p:sp>
        <p:sp>
          <p:nvSpPr>
            <p:cNvPr id="51" name="Line 51"/>
            <p:cNvSpPr/>
            <p:nvPr/>
          </p:nvSpPr>
          <p:spPr>
            <a:xfrm>
              <a:off x="381000" y="59436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55" name="Group 55"/>
          <p:cNvGrpSpPr/>
          <p:nvPr/>
        </p:nvGrpSpPr>
        <p:grpSpPr>
          <a:xfrm>
            <a:off x="374142" y="6445568"/>
            <a:ext cx="11443716" cy="264033"/>
            <a:chOff x="374142" y="6445568"/>
            <a:chExt cx="11443716" cy="264033"/>
          </a:xfrm>
        </p:grpSpPr>
        <p:sp>
          <p:nvSpPr>
            <p:cNvPr id="53" name="TextBox 53"/>
            <p:cNvSpPr txBox="1"/>
            <p:nvPr/>
          </p:nvSpPr>
          <p:spPr>
            <a:xfrm>
              <a:off x="374142" y="6445568"/>
              <a:ext cx="2085518"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02 定义、分类与病理生理</a:t>
              </a:r>
            </a:p>
          </p:txBody>
        </p:sp>
        <p:sp>
          <p:nvSpPr>
            <p:cNvPr id="54" name="TextBox 54"/>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07 / 20</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681532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先看时相：吸气性、呼气性、混合性</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0" name="Group 10"/>
          <p:cNvGrpSpPr/>
          <p:nvPr/>
        </p:nvGrpSpPr>
        <p:grpSpPr>
          <a:xfrm>
            <a:off x="381000" y="1587818"/>
            <a:ext cx="11430000" cy="288607"/>
            <a:chOff x="381000" y="1587818"/>
            <a:chExt cx="11430000" cy="288607"/>
          </a:xfrm>
        </p:grpSpPr>
        <p:sp>
          <p:nvSpPr>
            <p:cNvPr id="5" name="TextBox 5"/>
            <p:cNvSpPr txBox="1"/>
            <p:nvPr/>
          </p:nvSpPr>
          <p:spPr>
            <a:xfrm>
              <a:off x="564642" y="1587818"/>
              <a:ext cx="39536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类型</a:t>
              </a:r>
            </a:p>
          </p:txBody>
        </p:sp>
        <p:sp>
          <p:nvSpPr>
            <p:cNvPr id="6" name="TextBox 6"/>
            <p:cNvSpPr txBox="1"/>
            <p:nvPr/>
          </p:nvSpPr>
          <p:spPr>
            <a:xfrm>
              <a:off x="2660142" y="15878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机制与常见病因</a:t>
              </a:r>
            </a:p>
          </p:txBody>
        </p:sp>
        <p:sp>
          <p:nvSpPr>
            <p:cNvPr id="7" name="TextBox 7"/>
            <p:cNvSpPr txBox="1"/>
            <p:nvPr/>
          </p:nvSpPr>
          <p:spPr>
            <a:xfrm>
              <a:off x="7041642" y="1587818"/>
              <a:ext cx="777011"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临床表现</a:t>
              </a:r>
            </a:p>
          </p:txBody>
        </p:sp>
        <p:sp>
          <p:nvSpPr>
            <p:cNvPr id="8" name="TextBox 8"/>
            <p:cNvSpPr txBox="1"/>
            <p:nvPr/>
          </p:nvSpPr>
          <p:spPr>
            <a:xfrm>
              <a:off x="10280142" y="1587818"/>
              <a:ext cx="777011"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提示线索</a:t>
              </a:r>
            </a:p>
          </p:txBody>
        </p:sp>
        <p:sp>
          <p:nvSpPr>
            <p:cNvPr id="9" name="Line 9"/>
            <p:cNvSpPr/>
            <p:nvPr/>
          </p:nvSpPr>
          <p:spPr>
            <a:xfrm>
              <a:off x="381000" y="18669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8" name="Group 18"/>
          <p:cNvGrpSpPr/>
          <p:nvPr/>
        </p:nvGrpSpPr>
        <p:grpSpPr>
          <a:xfrm>
            <a:off x="381000" y="2095500"/>
            <a:ext cx="11430000" cy="1057275"/>
            <a:chOff x="381000" y="2095500"/>
            <a:chExt cx="11430000" cy="1057275"/>
          </a:xfrm>
        </p:grpSpPr>
        <p:sp>
          <p:nvSpPr>
            <p:cNvPr id="11" name="Rectangle 11"/>
            <p:cNvSpPr/>
            <p:nvPr/>
          </p:nvSpPr>
          <p:spPr>
            <a:xfrm>
              <a:off x="381000" y="2095500"/>
              <a:ext cx="57150" cy="723900"/>
            </a:xfrm>
            <a:prstGeom prst="rect">
              <a:avLst/>
            </a:prstGeom>
            <a:solidFill>
              <a:schemeClr val="accent1"/>
            </a:solidFill>
            <a:ln>
              <a:noFill/>
            </a:ln>
          </p:spPr>
        </p:sp>
        <p:sp>
          <p:nvSpPr>
            <p:cNvPr id="12" name="TextBox 12"/>
            <p:cNvSpPr txBox="1"/>
            <p:nvPr/>
          </p:nvSpPr>
          <p:spPr>
            <a:xfrm>
              <a:off x="579120" y="2195512"/>
              <a:ext cx="97697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吸气性</a:t>
              </a:r>
            </a:p>
          </p:txBody>
        </p:sp>
        <p:sp>
          <p:nvSpPr>
            <p:cNvPr id="13" name="TextBox 13"/>
            <p:cNvSpPr txBox="1"/>
            <p:nvPr/>
          </p:nvSpPr>
          <p:spPr>
            <a:xfrm>
              <a:off x="584454" y="2556510"/>
              <a:ext cx="819912" cy="234696"/>
            </a:xfrm>
            <a:prstGeom prst="rect">
              <a:avLst/>
            </a:prstGeom>
            <a:noFill/>
            <a:ln>
              <a:noFill/>
            </a:ln>
          </p:spPr>
          <p:txBody>
            <a:bodyPr wrap="none" lIns="0" tIns="0" rIns="0" bIns="0" anchor="t" anchorCtr="0">
              <a:spAutoFit/>
            </a:bodyPr>
            <a:lstStyle/>
            <a:p>
              <a:pPr algn="l"/>
              <a:r>
                <a:rPr lang="zh-CN" sz="1200" dirty="0">
                  <a:solidFill>
                    <a:schemeClr val="dk1">
                      <a:alphaMod val="65000"/>
                    </a:schemeClr>
                  </a:solidFill>
                  <a:latin typeface="+mn-lt"/>
                  <a:ea typeface="+mn-ea"/>
                  <a:cs typeface="+mn-cs"/>
                </a:rPr>
                <a:t>胸外大气道</a:t>
              </a:r>
            </a:p>
          </p:txBody>
        </p:sp>
        <p:sp>
          <p:nvSpPr>
            <p:cNvPr id="14" name="TextBox 14"/>
            <p:cNvSpPr txBox="1"/>
            <p:nvPr/>
          </p:nvSpPr>
          <p:spPr>
            <a:xfrm>
              <a:off x="2660142" y="2102168"/>
              <a:ext cx="3442716"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胸外大气道（喉、声门下、气管）狭窄或阻塞急性喉炎、喉软化、气道异物、外部压迫中心气道狭窄 / 阻塞</a:t>
              </a:r>
            </a:p>
          </p:txBody>
        </p:sp>
        <p:sp>
          <p:nvSpPr>
            <p:cNvPr id="15" name="TextBox 15"/>
            <p:cNvSpPr txBox="1"/>
            <p:nvPr/>
          </p:nvSpPr>
          <p:spPr>
            <a:xfrm>
              <a:off x="7041642" y="2102168"/>
              <a:ext cx="2242566"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吸气费力、三凹征、张口呼吸可伴剧烈干咳高调吸气性喉鸣、犬吠样咳</a:t>
              </a:r>
            </a:p>
          </p:txBody>
        </p:sp>
        <p:sp>
          <p:nvSpPr>
            <p:cNvPr id="16" name="TextBox 16"/>
            <p:cNvSpPr txBox="1"/>
            <p:nvPr/>
          </p:nvSpPr>
          <p:spPr>
            <a:xfrm>
              <a:off x="10280142" y="2102168"/>
              <a:ext cx="733806" cy="492633"/>
            </a:xfrm>
            <a:prstGeom prst="rect">
              <a:avLst/>
            </a:prstGeom>
            <a:noFill/>
            <a:ln>
              <a:noFill/>
            </a:ln>
          </p:spPr>
          <p:txBody>
            <a:bodyPr wrap="square" lIns="0" tIns="0" rIns="0" bIns="0" anchor="t" anchorCtr="0"/>
            <a:lstStyle/>
            <a:p>
              <a:pPr algn="l">
                <a:lnSpc>
                  <a:spcPts val="1800"/>
                </a:lnSpc>
              </a:pPr>
              <a:r>
                <a:rPr lang="zh-CN" sz="1350" b="1" dirty="0">
                  <a:solidFill>
                    <a:schemeClr val="accent2"/>
                  </a:solidFill>
                  <a:latin typeface="+mn-lt"/>
                  <a:ea typeface="+mn-ea"/>
                  <a:cs typeface="+mn-cs"/>
                </a:rPr>
                <a:t>喉鸣犬吠样咳</a:t>
              </a:r>
            </a:p>
          </p:txBody>
        </p:sp>
        <p:sp>
          <p:nvSpPr>
            <p:cNvPr id="17" name="Line 17"/>
            <p:cNvSpPr/>
            <p:nvPr/>
          </p:nvSpPr>
          <p:spPr>
            <a:xfrm>
              <a:off x="381000" y="314325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grpSp>
      <p:grpSp>
        <p:nvGrpSpPr>
          <p:cNvPr id="26" name="Group 26"/>
          <p:cNvGrpSpPr/>
          <p:nvPr/>
        </p:nvGrpSpPr>
        <p:grpSpPr>
          <a:xfrm>
            <a:off x="381000" y="3333750"/>
            <a:ext cx="11430000" cy="1057275"/>
            <a:chOff x="381000" y="3333750"/>
            <a:chExt cx="11430000" cy="1057275"/>
          </a:xfrm>
        </p:grpSpPr>
        <p:sp>
          <p:nvSpPr>
            <p:cNvPr id="19" name="Rectangle 19"/>
            <p:cNvSpPr/>
            <p:nvPr/>
          </p:nvSpPr>
          <p:spPr>
            <a:xfrm>
              <a:off x="381000" y="3333750"/>
              <a:ext cx="57150" cy="723900"/>
            </a:xfrm>
            <a:prstGeom prst="rect">
              <a:avLst/>
            </a:prstGeom>
            <a:solidFill>
              <a:schemeClr val="accent3"/>
            </a:solidFill>
            <a:ln>
              <a:noFill/>
            </a:ln>
          </p:spPr>
        </p:sp>
        <p:sp>
          <p:nvSpPr>
            <p:cNvPr id="20" name="TextBox 20"/>
            <p:cNvSpPr txBox="1"/>
            <p:nvPr/>
          </p:nvSpPr>
          <p:spPr>
            <a:xfrm>
              <a:off x="579120" y="3433762"/>
              <a:ext cx="97697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呼气性</a:t>
              </a:r>
            </a:p>
          </p:txBody>
        </p:sp>
        <p:sp>
          <p:nvSpPr>
            <p:cNvPr id="21" name="TextBox 21"/>
            <p:cNvSpPr txBox="1"/>
            <p:nvPr/>
          </p:nvSpPr>
          <p:spPr>
            <a:xfrm>
              <a:off x="584454" y="3794760"/>
              <a:ext cx="819912" cy="234696"/>
            </a:xfrm>
            <a:prstGeom prst="rect">
              <a:avLst/>
            </a:prstGeom>
            <a:noFill/>
            <a:ln>
              <a:noFill/>
            </a:ln>
          </p:spPr>
          <p:txBody>
            <a:bodyPr wrap="none" lIns="0" tIns="0" rIns="0" bIns="0" anchor="t" anchorCtr="0">
              <a:spAutoFit/>
            </a:bodyPr>
            <a:lstStyle/>
            <a:p>
              <a:pPr algn="l"/>
              <a:r>
                <a:rPr lang="zh-CN" sz="1200" dirty="0">
                  <a:solidFill>
                    <a:schemeClr val="dk1">
                      <a:alphaMod val="65000"/>
                    </a:schemeClr>
                  </a:solidFill>
                  <a:latin typeface="+mn-lt"/>
                  <a:ea typeface="+mn-ea"/>
                  <a:cs typeface="+mn-cs"/>
                </a:rPr>
                <a:t>胸内小气道</a:t>
              </a:r>
            </a:p>
          </p:txBody>
        </p:sp>
        <p:sp>
          <p:nvSpPr>
            <p:cNvPr id="22" name="TextBox 22"/>
            <p:cNvSpPr txBox="1"/>
            <p:nvPr/>
          </p:nvSpPr>
          <p:spPr>
            <a:xfrm>
              <a:off x="2660142" y="3340418"/>
              <a:ext cx="2585466"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胸内小气道（支气管、细支气管）哮喘急性发作、毛细支气管炎喘息性支气管炎</a:t>
              </a:r>
            </a:p>
          </p:txBody>
        </p:sp>
        <p:sp>
          <p:nvSpPr>
            <p:cNvPr id="23" name="TextBox 23"/>
            <p:cNvSpPr txBox="1"/>
            <p:nvPr/>
          </p:nvSpPr>
          <p:spPr>
            <a:xfrm>
              <a:off x="7041642" y="3340418"/>
              <a:ext cx="1213866"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呼气延长及费力呼气相哮鸣音广泛哮鸣音</a:t>
              </a:r>
            </a:p>
          </p:txBody>
        </p:sp>
        <p:sp>
          <p:nvSpPr>
            <p:cNvPr id="24" name="TextBox 24"/>
            <p:cNvSpPr txBox="1"/>
            <p:nvPr/>
          </p:nvSpPr>
          <p:spPr>
            <a:xfrm>
              <a:off x="10280142" y="3340418"/>
              <a:ext cx="913829" cy="492633"/>
            </a:xfrm>
            <a:prstGeom prst="rect">
              <a:avLst/>
            </a:prstGeom>
            <a:noFill/>
            <a:ln>
              <a:noFill/>
            </a:ln>
          </p:spPr>
          <p:txBody>
            <a:bodyPr wrap="square" lIns="0" tIns="0" rIns="0" bIns="0" anchor="t" anchorCtr="0"/>
            <a:lstStyle/>
            <a:p>
              <a:pPr algn="l">
                <a:lnSpc>
                  <a:spcPts val="1800"/>
                </a:lnSpc>
              </a:pPr>
              <a:r>
                <a:rPr lang="zh-CN" sz="1350" b="1" dirty="0">
                  <a:solidFill>
                    <a:schemeClr val="accent2"/>
                  </a:solidFill>
                  <a:latin typeface="+mn-lt"/>
                  <a:ea typeface="+mn-ea"/>
                  <a:cs typeface="+mn-cs"/>
                </a:rPr>
                <a:t>呼气相喘鸣呼气延长</a:t>
              </a:r>
            </a:p>
          </p:txBody>
        </p:sp>
        <p:sp>
          <p:nvSpPr>
            <p:cNvPr id="25" name="Line 25"/>
            <p:cNvSpPr/>
            <p:nvPr/>
          </p:nvSpPr>
          <p:spPr>
            <a:xfrm>
              <a:off x="381000" y="438150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grpSp>
      <p:grpSp>
        <p:nvGrpSpPr>
          <p:cNvPr id="34" name="Group 34"/>
          <p:cNvGrpSpPr/>
          <p:nvPr/>
        </p:nvGrpSpPr>
        <p:grpSpPr>
          <a:xfrm>
            <a:off x="381000" y="4572000"/>
            <a:ext cx="11430000" cy="1057275"/>
            <a:chOff x="381000" y="4572000"/>
            <a:chExt cx="11430000" cy="1057275"/>
          </a:xfrm>
        </p:grpSpPr>
        <p:sp>
          <p:nvSpPr>
            <p:cNvPr id="27" name="Rectangle 27"/>
            <p:cNvSpPr/>
            <p:nvPr/>
          </p:nvSpPr>
          <p:spPr>
            <a:xfrm>
              <a:off x="381000" y="4572000"/>
              <a:ext cx="57150" cy="723900"/>
            </a:xfrm>
            <a:prstGeom prst="rect">
              <a:avLst/>
            </a:prstGeom>
            <a:solidFill>
              <a:schemeClr val="accent2"/>
            </a:solidFill>
            <a:ln>
              <a:noFill/>
            </a:ln>
          </p:spPr>
        </p:sp>
        <p:sp>
          <p:nvSpPr>
            <p:cNvPr id="28" name="TextBox 28"/>
            <p:cNvSpPr txBox="1"/>
            <p:nvPr/>
          </p:nvSpPr>
          <p:spPr>
            <a:xfrm>
              <a:off x="579120" y="4672012"/>
              <a:ext cx="97697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混合性</a:t>
              </a:r>
            </a:p>
          </p:txBody>
        </p:sp>
        <p:sp>
          <p:nvSpPr>
            <p:cNvPr id="29" name="TextBox 29"/>
            <p:cNvSpPr txBox="1"/>
            <p:nvPr/>
          </p:nvSpPr>
          <p:spPr>
            <a:xfrm>
              <a:off x="584454" y="5033010"/>
              <a:ext cx="1005688" cy="234696"/>
            </a:xfrm>
            <a:prstGeom prst="rect">
              <a:avLst/>
            </a:prstGeom>
            <a:noFill/>
            <a:ln>
              <a:noFill/>
            </a:ln>
          </p:spPr>
          <p:txBody>
            <a:bodyPr wrap="none" lIns="0" tIns="0" rIns="0" bIns="0" anchor="t" anchorCtr="0">
              <a:spAutoFit/>
            </a:bodyPr>
            <a:lstStyle/>
            <a:p>
              <a:pPr algn="l"/>
              <a:r>
                <a:rPr lang="zh-CN" sz="1200" dirty="0">
                  <a:solidFill>
                    <a:schemeClr val="dk1">
                      <a:alphaMod val="65000"/>
                    </a:schemeClr>
                  </a:solidFill>
                  <a:latin typeface="+mn-lt"/>
                  <a:ea typeface="+mn-ea"/>
                  <a:cs typeface="+mn-cs"/>
                </a:rPr>
                <a:t>肺实质 / 胸膜</a:t>
              </a:r>
            </a:p>
          </p:txBody>
        </p:sp>
        <p:sp>
          <p:nvSpPr>
            <p:cNvPr id="30" name="TextBox 30"/>
            <p:cNvSpPr txBox="1"/>
            <p:nvPr/>
          </p:nvSpPr>
          <p:spPr>
            <a:xfrm>
              <a:off x="2660142" y="4578668"/>
              <a:ext cx="2585466"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肺实质 / 胸膜 / 心源性重症肺炎、肺水肿、气胸大量胸腔积液、弥漫性肺间质疾病</a:t>
              </a:r>
            </a:p>
          </p:txBody>
        </p:sp>
        <p:sp>
          <p:nvSpPr>
            <p:cNvPr id="31" name="TextBox 31"/>
            <p:cNvSpPr txBox="1"/>
            <p:nvPr/>
          </p:nvSpPr>
          <p:spPr>
            <a:xfrm>
              <a:off x="7041642" y="4578668"/>
              <a:ext cx="1899666"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吸呼均感费力、呼吸增快干湿啰音呼吸音增强或减弱</a:t>
              </a:r>
            </a:p>
          </p:txBody>
        </p:sp>
        <p:sp>
          <p:nvSpPr>
            <p:cNvPr id="32" name="TextBox 32"/>
            <p:cNvSpPr txBox="1"/>
            <p:nvPr/>
          </p:nvSpPr>
          <p:spPr>
            <a:xfrm>
              <a:off x="10280142" y="4578668"/>
              <a:ext cx="733806" cy="492633"/>
            </a:xfrm>
            <a:prstGeom prst="rect">
              <a:avLst/>
            </a:prstGeom>
            <a:noFill/>
            <a:ln>
              <a:noFill/>
            </a:ln>
          </p:spPr>
          <p:txBody>
            <a:bodyPr wrap="square" lIns="0" tIns="0" rIns="0" bIns="0" anchor="t" anchorCtr="0"/>
            <a:lstStyle/>
            <a:p>
              <a:pPr algn="l">
                <a:lnSpc>
                  <a:spcPts val="1800"/>
                </a:lnSpc>
              </a:pPr>
              <a:r>
                <a:rPr lang="zh-CN" sz="1350" b="1" dirty="0">
                  <a:solidFill>
                    <a:schemeClr val="accent2"/>
                  </a:solidFill>
                  <a:latin typeface="+mn-lt"/>
                  <a:ea typeface="+mn-ea"/>
                  <a:cs typeface="+mn-cs"/>
                </a:rPr>
                <a:t>全程费力呼吸增快</a:t>
              </a:r>
            </a:p>
          </p:txBody>
        </p:sp>
        <p:sp>
          <p:nvSpPr>
            <p:cNvPr id="33" name="Line 33"/>
            <p:cNvSpPr/>
            <p:nvPr/>
          </p:nvSpPr>
          <p:spPr>
            <a:xfrm>
              <a:off x="381000" y="561975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36" name="Group 36"/>
          <p:cNvGrpSpPr/>
          <p:nvPr/>
        </p:nvGrpSpPr>
        <p:grpSpPr>
          <a:xfrm>
            <a:off x="374142" y="5874068"/>
            <a:ext cx="7337717" cy="264033"/>
            <a:chOff x="374142" y="5874068"/>
            <a:chExt cx="7337717" cy="264033"/>
          </a:xfrm>
        </p:grpSpPr>
        <p:sp>
          <p:nvSpPr>
            <p:cNvPr id="35" name="TextBox 35"/>
            <p:cNvSpPr txBox="1"/>
            <p:nvPr/>
          </p:nvSpPr>
          <p:spPr>
            <a:xfrm>
              <a:off x="374142" y="5874068"/>
              <a:ext cx="7337717" cy="264033"/>
            </a:xfrm>
            <a:prstGeom prst="rect">
              <a:avLst/>
            </a:prstGeom>
            <a:noFill/>
            <a:ln>
              <a:noFill/>
            </a:ln>
          </p:spPr>
          <p:txBody>
            <a:bodyPr wrap="none" lIns="0" tIns="0" rIns="0" bIns="0" anchor="t" anchorCtr="0">
              <a:spAutoFit/>
            </a:bodyPr>
            <a:lstStyle/>
            <a:p>
              <a:pPr algn="l"/>
              <a:r>
                <a:rPr lang="zh-CN" sz="1350" dirty="0">
                  <a:solidFill>
                    <a:schemeClr val="dk1">
                      <a:alphaMod val="70000"/>
                    </a:schemeClr>
                  </a:solidFill>
                  <a:latin typeface="+mn-lt"/>
                  <a:ea typeface="+mn-ea"/>
                  <a:cs typeface="+mn-cs"/>
                </a:rPr>
                <a:t>时相是最快的解剖定位器：吸气性找“堵”，呼气性找“缩”，混合性找“实变、积液或心源”。</a:t>
              </a:r>
            </a:p>
          </p:txBody>
        </p:sp>
      </p:grpSp>
      <p:grpSp>
        <p:nvGrpSpPr>
          <p:cNvPr id="39" name="Group 39"/>
          <p:cNvGrpSpPr/>
          <p:nvPr/>
        </p:nvGrpSpPr>
        <p:grpSpPr>
          <a:xfrm>
            <a:off x="374142" y="6445568"/>
            <a:ext cx="11443716" cy="264033"/>
            <a:chOff x="374142" y="6445568"/>
            <a:chExt cx="11443716" cy="264033"/>
          </a:xfrm>
        </p:grpSpPr>
        <p:sp>
          <p:nvSpPr>
            <p:cNvPr id="37" name="TextBox 37"/>
            <p:cNvSpPr txBox="1"/>
            <p:nvPr/>
          </p:nvSpPr>
          <p:spPr>
            <a:xfrm>
              <a:off x="374142" y="6445568"/>
              <a:ext cx="1358570"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03 病因与临床谱</a:t>
              </a:r>
            </a:p>
          </p:txBody>
        </p:sp>
        <p:sp>
          <p:nvSpPr>
            <p:cNvPr id="38" name="TextBox 38"/>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08 / 20</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681532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再看病因：心、中毒、血、神经精神</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2" name="Group 12"/>
          <p:cNvGrpSpPr/>
          <p:nvPr/>
        </p:nvGrpSpPr>
        <p:grpSpPr>
          <a:xfrm>
            <a:off x="371856" y="1428750"/>
            <a:ext cx="11439144" cy="1076325"/>
            <a:chOff x="371856" y="1428750"/>
            <a:chExt cx="11439144" cy="1076325"/>
          </a:xfrm>
        </p:grpSpPr>
        <p:sp>
          <p:nvSpPr>
            <p:cNvPr id="5" name="Line 5"/>
            <p:cNvSpPr/>
            <p:nvPr/>
          </p:nvSpPr>
          <p:spPr>
            <a:xfrm>
              <a:off x="381000" y="1428750"/>
              <a:ext cx="11430000" cy="9525"/>
            </a:xfrm>
            <a:custGeom>
              <a:avLst/>
              <a:gdLst/>
              <a:ahLst/>
              <a:cxnLst/>
              <a:rect l="l" t="t" r="r" b="b"/>
              <a:pathLst>
                <a:path w="11430000" h="9525">
                  <a:moveTo>
                    <a:pt x="0" y="0"/>
                  </a:moveTo>
                  <a:lnTo>
                    <a:pt x="11430000" y="0"/>
                  </a:lnTo>
                </a:path>
              </a:pathLst>
            </a:custGeom>
            <a:noFill/>
            <a:ln w="19050">
              <a:solidFill>
                <a:schemeClr val="accent1"/>
              </a:solidFill>
            </a:ln>
          </p:spPr>
        </p:sp>
        <p:sp>
          <p:nvSpPr>
            <p:cNvPr id="6" name="TextBox 6"/>
            <p:cNvSpPr txBox="1"/>
            <p:nvPr/>
          </p:nvSpPr>
          <p:spPr>
            <a:xfrm>
              <a:off x="371856" y="16916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心源性</a:t>
              </a:r>
            </a:p>
          </p:txBody>
        </p:sp>
        <p:sp>
          <p:nvSpPr>
            <p:cNvPr id="7" name="TextBox 7"/>
            <p:cNvSpPr txBox="1"/>
            <p:nvPr/>
          </p:nvSpPr>
          <p:spPr>
            <a:xfrm>
              <a:off x="374904" y="2004060"/>
              <a:ext cx="981456" cy="234696"/>
            </a:xfrm>
            <a:prstGeom prst="rect">
              <a:avLst/>
            </a:prstGeom>
            <a:noFill/>
            <a:ln>
              <a:noFill/>
            </a:ln>
          </p:spPr>
          <p:txBody>
            <a:bodyPr wrap="none" lIns="0" tIns="0" rIns="0" bIns="0" anchor="t" anchorCtr="0">
              <a:spAutoFit/>
            </a:bodyPr>
            <a:lstStyle/>
            <a:p>
              <a:pPr algn="l"/>
              <a:r>
                <a:rPr lang="zh-CN" sz="1200" dirty="0">
                  <a:solidFill>
                    <a:schemeClr val="dk1">
                      <a:alphaMod val="60000"/>
                    </a:schemeClr>
                  </a:solidFill>
                  <a:latin typeface="+mn-lt"/>
                  <a:ea typeface="+mn-ea"/>
                  <a:cs typeface="+mn-cs"/>
                </a:rPr>
                <a:t>左心功能不全</a:t>
              </a:r>
            </a:p>
          </p:txBody>
        </p:sp>
        <p:sp>
          <p:nvSpPr>
            <p:cNvPr id="8" name="TextBox 8"/>
            <p:cNvSpPr txBox="1"/>
            <p:nvPr/>
          </p:nvSpPr>
          <p:spPr>
            <a:xfrm>
              <a:off x="2469642" y="1606868"/>
              <a:ext cx="2928366" cy="4926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左心功能不全致肺淤血、肺泡弹性减低弥散下降，肺牵张感受器受刺激</a:t>
              </a:r>
            </a:p>
          </p:txBody>
        </p:sp>
        <p:sp>
          <p:nvSpPr>
            <p:cNvPr id="9" name="TextBox 9"/>
            <p:cNvSpPr txBox="1"/>
            <p:nvPr/>
          </p:nvSpPr>
          <p:spPr>
            <a:xfrm>
              <a:off x="6470142" y="1606868"/>
              <a:ext cx="1839658"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呼吸急促、费力两肺湿啰音及哮鸣音与肺炎 / ARDS 难以鉴别</a:t>
              </a:r>
            </a:p>
          </p:txBody>
        </p:sp>
        <p:sp>
          <p:nvSpPr>
            <p:cNvPr id="10" name="TextBox 10"/>
            <p:cNvSpPr txBox="1"/>
            <p:nvPr/>
          </p:nvSpPr>
          <p:spPr>
            <a:xfrm>
              <a:off x="9709404" y="1623060"/>
              <a:ext cx="1532382" cy="691896"/>
            </a:xfrm>
            <a:prstGeom prst="rect">
              <a:avLst/>
            </a:prstGeom>
            <a:noFill/>
            <a:ln>
              <a:noFill/>
            </a:ln>
          </p:spPr>
          <p:txBody>
            <a:bodyPr wrap="square" lIns="0" tIns="0" rIns="0" bIns="0" anchor="t" anchorCtr="0"/>
            <a:lstStyle/>
            <a:p>
              <a:pPr algn="l">
                <a:lnSpc>
                  <a:spcPts val="1800"/>
                </a:lnSpc>
              </a:pPr>
              <a:r>
                <a:rPr lang="zh-CN" sz="1200" b="1" dirty="0">
                  <a:solidFill>
                    <a:schemeClr val="accent2"/>
                  </a:solidFill>
                  <a:latin typeface="+mn-lt"/>
                  <a:ea typeface="+mn-ea"/>
                  <a:cs typeface="+mn-cs"/>
                </a:rPr>
                <a:t>心影增大、LVEF 降低下腔静脉塌陷 &lt;50%</a:t>
              </a:r>
              <a:r>
                <a:rPr lang="en-US" sz="1200" b="1" dirty="0">
                  <a:solidFill>
                    <a:schemeClr val="accent2"/>
                  </a:solidFill>
                  <a:latin typeface="+mn-lt"/>
                  <a:ea typeface="+mn-ea"/>
                  <a:cs typeface="+mn-cs"/>
                </a:rPr>
                <a:t xml:space="preserve"> </a:t>
              </a:r>
              <a:r>
                <a:rPr lang="zh-CN" sz="1200" b="1" dirty="0">
                  <a:solidFill>
                    <a:schemeClr val="accent2"/>
                  </a:solidFill>
                  <a:latin typeface="+mn-lt"/>
                  <a:ea typeface="+mn-ea"/>
                  <a:cs typeface="+mn-cs"/>
                </a:rPr>
                <a:t>BNP 增高</a:t>
              </a:r>
            </a:p>
          </p:txBody>
        </p:sp>
        <p:sp>
          <p:nvSpPr>
            <p:cNvPr id="11" name="Line 11"/>
            <p:cNvSpPr/>
            <p:nvPr/>
          </p:nvSpPr>
          <p:spPr>
            <a:xfrm>
              <a:off x="381000" y="249555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grpSp>
      <p:grpSp>
        <p:nvGrpSpPr>
          <p:cNvPr id="19" name="Group 19"/>
          <p:cNvGrpSpPr/>
          <p:nvPr/>
        </p:nvGrpSpPr>
        <p:grpSpPr>
          <a:xfrm>
            <a:off x="371856" y="2673668"/>
            <a:ext cx="11439144" cy="898207"/>
            <a:chOff x="371856" y="2673668"/>
            <a:chExt cx="11439144" cy="898207"/>
          </a:xfrm>
        </p:grpSpPr>
        <p:sp>
          <p:nvSpPr>
            <p:cNvPr id="13" name="TextBox 13"/>
            <p:cNvSpPr txBox="1"/>
            <p:nvPr/>
          </p:nvSpPr>
          <p:spPr>
            <a:xfrm>
              <a:off x="371856" y="27584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中毒性</a:t>
              </a:r>
            </a:p>
          </p:txBody>
        </p:sp>
        <p:sp>
          <p:nvSpPr>
            <p:cNvPr id="14" name="TextBox 14"/>
            <p:cNvSpPr txBox="1"/>
            <p:nvPr/>
          </p:nvSpPr>
          <p:spPr>
            <a:xfrm>
              <a:off x="374904" y="3070860"/>
              <a:ext cx="819912" cy="234696"/>
            </a:xfrm>
            <a:prstGeom prst="rect">
              <a:avLst/>
            </a:prstGeom>
            <a:noFill/>
            <a:ln>
              <a:noFill/>
            </a:ln>
          </p:spPr>
          <p:txBody>
            <a:bodyPr wrap="none" lIns="0" tIns="0" rIns="0" bIns="0" anchor="t" anchorCtr="0">
              <a:spAutoFit/>
            </a:bodyPr>
            <a:lstStyle/>
            <a:p>
              <a:pPr algn="l"/>
              <a:r>
                <a:rPr lang="zh-CN" sz="1200" dirty="0">
                  <a:solidFill>
                    <a:schemeClr val="dk1">
                      <a:alphaMod val="60000"/>
                    </a:schemeClr>
                  </a:solidFill>
                  <a:latin typeface="+mn-lt"/>
                  <a:ea typeface="+mn-ea"/>
                  <a:cs typeface="+mn-cs"/>
                </a:rPr>
                <a:t>代谢与毒物</a:t>
              </a:r>
            </a:p>
          </p:txBody>
        </p:sp>
        <p:sp>
          <p:nvSpPr>
            <p:cNvPr id="15" name="TextBox 15"/>
            <p:cNvSpPr txBox="1"/>
            <p:nvPr/>
          </p:nvSpPr>
          <p:spPr>
            <a:xfrm>
              <a:off x="2469642" y="2673668"/>
              <a:ext cx="3082671"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酸中毒 / DKA / 休克 → H⁺ 升高、pH 降低刺激外周化学感受器或兴奋呼吸中枢中枢抑制药、有机磷等毒物</a:t>
              </a:r>
            </a:p>
          </p:txBody>
        </p:sp>
        <p:sp>
          <p:nvSpPr>
            <p:cNvPr id="16" name="TextBox 16"/>
            <p:cNvSpPr txBox="1"/>
            <p:nvPr/>
          </p:nvSpPr>
          <p:spPr>
            <a:xfrm>
              <a:off x="6470142" y="2673668"/>
              <a:ext cx="2525458"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Kussmaul 深大、急促、规则呼吸镇静药：缓慢变浅、节律异常有机磷：大量泡沫样分泌物</a:t>
              </a:r>
            </a:p>
          </p:txBody>
        </p:sp>
        <p:sp>
          <p:nvSpPr>
            <p:cNvPr id="17" name="TextBox 17"/>
            <p:cNvSpPr txBox="1"/>
            <p:nvPr/>
          </p:nvSpPr>
          <p:spPr>
            <a:xfrm>
              <a:off x="9709404" y="2689860"/>
              <a:ext cx="1612392" cy="463296"/>
            </a:xfrm>
            <a:prstGeom prst="rect">
              <a:avLst/>
            </a:prstGeom>
            <a:noFill/>
            <a:ln>
              <a:noFill/>
            </a:ln>
          </p:spPr>
          <p:txBody>
            <a:bodyPr wrap="square" lIns="0" tIns="0" rIns="0" bIns="0" anchor="t" anchorCtr="0"/>
            <a:lstStyle/>
            <a:p>
              <a:pPr algn="l">
                <a:lnSpc>
                  <a:spcPts val="1800"/>
                </a:lnSpc>
              </a:pPr>
              <a:r>
                <a:rPr lang="zh-CN" sz="1200" b="1" dirty="0">
                  <a:solidFill>
                    <a:schemeClr val="accent2"/>
                  </a:solidFill>
                  <a:latin typeface="+mn-lt"/>
                  <a:ea typeface="+mn-ea"/>
                  <a:cs typeface="+mn-cs"/>
                </a:rPr>
                <a:t>特殊气味、毒物接触史肺部常无阳性体征</a:t>
              </a:r>
            </a:p>
          </p:txBody>
        </p:sp>
        <p:sp>
          <p:nvSpPr>
            <p:cNvPr id="18" name="Line 18"/>
            <p:cNvSpPr/>
            <p:nvPr/>
          </p:nvSpPr>
          <p:spPr>
            <a:xfrm>
              <a:off x="381000" y="356235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grpSp>
      <p:grpSp>
        <p:nvGrpSpPr>
          <p:cNvPr id="26" name="Group 26"/>
          <p:cNvGrpSpPr/>
          <p:nvPr/>
        </p:nvGrpSpPr>
        <p:grpSpPr>
          <a:xfrm>
            <a:off x="371856" y="3740468"/>
            <a:ext cx="11439144" cy="898207"/>
            <a:chOff x="371856" y="3740468"/>
            <a:chExt cx="11439144" cy="898207"/>
          </a:xfrm>
        </p:grpSpPr>
        <p:sp>
          <p:nvSpPr>
            <p:cNvPr id="20" name="TextBox 20"/>
            <p:cNvSpPr txBox="1"/>
            <p:nvPr/>
          </p:nvSpPr>
          <p:spPr>
            <a:xfrm>
              <a:off x="371856" y="38252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血源性</a:t>
              </a:r>
            </a:p>
          </p:txBody>
        </p:sp>
        <p:sp>
          <p:nvSpPr>
            <p:cNvPr id="21" name="TextBox 21"/>
            <p:cNvSpPr txBox="1"/>
            <p:nvPr/>
          </p:nvSpPr>
          <p:spPr>
            <a:xfrm>
              <a:off x="374904" y="4137660"/>
              <a:ext cx="981456" cy="234696"/>
            </a:xfrm>
            <a:prstGeom prst="rect">
              <a:avLst/>
            </a:prstGeom>
            <a:noFill/>
            <a:ln>
              <a:noFill/>
            </a:ln>
          </p:spPr>
          <p:txBody>
            <a:bodyPr wrap="none" lIns="0" tIns="0" rIns="0" bIns="0" anchor="t" anchorCtr="0">
              <a:spAutoFit/>
            </a:bodyPr>
            <a:lstStyle/>
            <a:p>
              <a:pPr algn="l"/>
              <a:r>
                <a:rPr lang="zh-CN" sz="1200" dirty="0">
                  <a:solidFill>
                    <a:schemeClr val="dk1">
                      <a:alphaMod val="60000"/>
                    </a:schemeClr>
                  </a:solidFill>
                  <a:latin typeface="+mn-lt"/>
                  <a:ea typeface="+mn-ea"/>
                  <a:cs typeface="+mn-cs"/>
                </a:rPr>
                <a:t>携氧能力下降</a:t>
              </a:r>
            </a:p>
          </p:txBody>
        </p:sp>
        <p:sp>
          <p:nvSpPr>
            <p:cNvPr id="22" name="TextBox 22"/>
            <p:cNvSpPr txBox="1"/>
            <p:nvPr/>
          </p:nvSpPr>
          <p:spPr>
            <a:xfrm>
              <a:off x="2469642" y="3740468"/>
              <a:ext cx="2148268"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血红蛋白量或质异常严重贫血、CO / 氰化物中毒亚硝酸盐过量 → 携氧下降</a:t>
              </a:r>
            </a:p>
          </p:txBody>
        </p:sp>
        <p:sp>
          <p:nvSpPr>
            <p:cNvPr id="23" name="TextBox 23"/>
            <p:cNvSpPr txBox="1"/>
            <p:nvPr/>
          </p:nvSpPr>
          <p:spPr>
            <a:xfrm>
              <a:off x="6470142" y="3740468"/>
              <a:ext cx="1728216"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呼吸浅而快、心率增快呼吸 / 心率比例正常常无呼吸费力</a:t>
              </a:r>
            </a:p>
          </p:txBody>
        </p:sp>
        <p:sp>
          <p:nvSpPr>
            <p:cNvPr id="24" name="TextBox 24"/>
            <p:cNvSpPr txBox="1"/>
            <p:nvPr/>
          </p:nvSpPr>
          <p:spPr>
            <a:xfrm>
              <a:off x="9709404" y="3756660"/>
              <a:ext cx="1772412" cy="691896"/>
            </a:xfrm>
            <a:prstGeom prst="rect">
              <a:avLst/>
            </a:prstGeom>
            <a:noFill/>
            <a:ln>
              <a:noFill/>
            </a:ln>
          </p:spPr>
          <p:txBody>
            <a:bodyPr wrap="square" lIns="0" tIns="0" rIns="0" bIns="0" anchor="t" anchorCtr="0"/>
            <a:lstStyle/>
            <a:p>
              <a:pPr algn="l">
                <a:lnSpc>
                  <a:spcPts val="1800"/>
                </a:lnSpc>
              </a:pPr>
              <a:r>
                <a:rPr lang="zh-CN" sz="1200" b="1" dirty="0">
                  <a:solidFill>
                    <a:schemeClr val="accent2"/>
                  </a:solidFill>
                  <a:latin typeface="+mn-lt"/>
                  <a:ea typeface="+mn-ea"/>
                  <a:cs typeface="+mn-cs"/>
                </a:rPr>
                <a:t>贫血貌紫绀与呼吸费力不匹配肺部无体征、影像无异常</a:t>
              </a:r>
            </a:p>
          </p:txBody>
        </p:sp>
        <p:sp>
          <p:nvSpPr>
            <p:cNvPr id="25" name="Line 25"/>
            <p:cNvSpPr/>
            <p:nvPr/>
          </p:nvSpPr>
          <p:spPr>
            <a:xfrm>
              <a:off x="381000" y="462915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grpSp>
      <p:grpSp>
        <p:nvGrpSpPr>
          <p:cNvPr id="33" name="Group 33"/>
          <p:cNvGrpSpPr/>
          <p:nvPr/>
        </p:nvGrpSpPr>
        <p:grpSpPr>
          <a:xfrm>
            <a:off x="371856" y="4807268"/>
            <a:ext cx="11439144" cy="898207"/>
            <a:chOff x="371856" y="4807268"/>
            <a:chExt cx="11439144" cy="898207"/>
          </a:xfrm>
        </p:grpSpPr>
        <p:sp>
          <p:nvSpPr>
            <p:cNvPr id="27" name="TextBox 27"/>
            <p:cNvSpPr txBox="1"/>
            <p:nvPr/>
          </p:nvSpPr>
          <p:spPr>
            <a:xfrm>
              <a:off x="371856" y="48920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神经精神性</a:t>
              </a:r>
            </a:p>
          </p:txBody>
        </p:sp>
        <p:sp>
          <p:nvSpPr>
            <p:cNvPr id="28" name="TextBox 28"/>
            <p:cNvSpPr txBox="1"/>
            <p:nvPr/>
          </p:nvSpPr>
          <p:spPr>
            <a:xfrm>
              <a:off x="374904" y="5204460"/>
              <a:ext cx="844144" cy="234696"/>
            </a:xfrm>
            <a:prstGeom prst="rect">
              <a:avLst/>
            </a:prstGeom>
            <a:noFill/>
            <a:ln>
              <a:noFill/>
            </a:ln>
          </p:spPr>
          <p:txBody>
            <a:bodyPr wrap="none" lIns="0" tIns="0" rIns="0" bIns="0" anchor="t" anchorCtr="0">
              <a:spAutoFit/>
            </a:bodyPr>
            <a:lstStyle/>
            <a:p>
              <a:pPr algn="l"/>
              <a:r>
                <a:rPr lang="zh-CN" sz="1200" dirty="0">
                  <a:solidFill>
                    <a:schemeClr val="dk1">
                      <a:alphaMod val="60000"/>
                    </a:schemeClr>
                  </a:solidFill>
                  <a:latin typeface="+mn-lt"/>
                  <a:ea typeface="+mn-ea"/>
                  <a:cs typeface="+mn-cs"/>
                </a:rPr>
                <a:t>中枢 / 精神</a:t>
              </a:r>
            </a:p>
          </p:txBody>
        </p:sp>
        <p:sp>
          <p:nvSpPr>
            <p:cNvPr id="29" name="TextBox 29"/>
            <p:cNvSpPr txBox="1"/>
            <p:nvPr/>
          </p:nvSpPr>
          <p:spPr>
            <a:xfrm>
              <a:off x="2469642" y="4807268"/>
              <a:ext cx="2268284"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中枢病变 → 颅高压、脑干受压破坏呼吸节律的产生与传导癔症 / 焦虑 → 过度通气</a:t>
              </a:r>
            </a:p>
          </p:txBody>
        </p:sp>
        <p:sp>
          <p:nvSpPr>
            <p:cNvPr id="30" name="TextBox 30"/>
            <p:cNvSpPr txBox="1"/>
            <p:nvPr/>
          </p:nvSpPr>
          <p:spPr>
            <a:xfrm>
              <a:off x="6470142" y="4807268"/>
              <a:ext cx="2585466"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潮式呼吸、抽泣样呼吸、间停呼吸精神性：快而浅、无客观表现呼吸性碱中毒、手足搐搦</a:t>
              </a:r>
            </a:p>
          </p:txBody>
        </p:sp>
        <p:sp>
          <p:nvSpPr>
            <p:cNvPr id="31" name="TextBox 31"/>
            <p:cNvSpPr txBox="1"/>
            <p:nvPr/>
          </p:nvSpPr>
          <p:spPr>
            <a:xfrm>
              <a:off x="9709404" y="4823460"/>
              <a:ext cx="1452372" cy="691896"/>
            </a:xfrm>
            <a:prstGeom prst="rect">
              <a:avLst/>
            </a:prstGeom>
            <a:noFill/>
            <a:ln>
              <a:noFill/>
            </a:ln>
          </p:spPr>
          <p:txBody>
            <a:bodyPr wrap="square" lIns="0" tIns="0" rIns="0" bIns="0" anchor="t" anchorCtr="0"/>
            <a:lstStyle/>
            <a:p>
              <a:pPr algn="l">
                <a:lnSpc>
                  <a:spcPts val="1800"/>
                </a:lnSpc>
              </a:pPr>
              <a:r>
                <a:rPr lang="zh-CN" sz="1200" b="1" dirty="0">
                  <a:solidFill>
                    <a:schemeClr val="accent2"/>
                  </a:solidFill>
                  <a:latin typeface="+mn-lt"/>
                  <a:ea typeface="+mn-ea"/>
                  <a:cs typeface="+mn-cs"/>
                </a:rPr>
                <a:t>意识改变、瞳孔异常情绪诱因症状与体征分离</a:t>
              </a:r>
            </a:p>
          </p:txBody>
        </p:sp>
        <p:sp>
          <p:nvSpPr>
            <p:cNvPr id="32" name="Line 32"/>
            <p:cNvSpPr/>
            <p:nvPr/>
          </p:nvSpPr>
          <p:spPr>
            <a:xfrm>
              <a:off x="381000" y="569595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36" name="Group 36"/>
          <p:cNvGrpSpPr/>
          <p:nvPr/>
        </p:nvGrpSpPr>
        <p:grpSpPr>
          <a:xfrm>
            <a:off x="381000" y="5848350"/>
            <a:ext cx="7830312" cy="327851"/>
            <a:chOff x="381000" y="5848350"/>
            <a:chExt cx="7830312" cy="327851"/>
          </a:xfrm>
        </p:grpSpPr>
        <p:sp>
          <p:nvSpPr>
            <p:cNvPr id="34" name="Rectangle 34"/>
            <p:cNvSpPr/>
            <p:nvPr/>
          </p:nvSpPr>
          <p:spPr>
            <a:xfrm>
              <a:off x="381000" y="5848350"/>
              <a:ext cx="38100" cy="247650"/>
            </a:xfrm>
            <a:prstGeom prst="rect">
              <a:avLst/>
            </a:prstGeom>
            <a:solidFill>
              <a:schemeClr val="accent2"/>
            </a:solidFill>
            <a:ln>
              <a:noFill/>
            </a:ln>
          </p:spPr>
        </p:sp>
        <p:sp>
          <p:nvSpPr>
            <p:cNvPr id="35" name="TextBox 35"/>
            <p:cNvSpPr txBox="1"/>
            <p:nvPr/>
          </p:nvSpPr>
          <p:spPr>
            <a:xfrm>
              <a:off x="564642" y="5912168"/>
              <a:ext cx="7646670" cy="264033"/>
            </a:xfrm>
            <a:prstGeom prst="rect">
              <a:avLst/>
            </a:prstGeom>
            <a:noFill/>
            <a:ln>
              <a:noFill/>
            </a:ln>
          </p:spPr>
          <p:txBody>
            <a:bodyPr wrap="none" lIns="0" tIns="0" rIns="0" bIns="0" anchor="t" anchorCtr="0">
              <a:spAutoFit/>
            </a:bodyPr>
            <a:lstStyle/>
            <a:p>
              <a:pPr algn="l"/>
              <a:r>
                <a:rPr lang="zh-CN" sz="1350" dirty="0">
                  <a:solidFill>
                    <a:schemeClr val="dk1">
                      <a:alphaMod val="80000"/>
                    </a:schemeClr>
                  </a:solidFill>
                  <a:latin typeface="+mn-lt"/>
                  <a:ea typeface="+mn-ea"/>
                  <a:cs typeface="+mn-cs"/>
                </a:rPr>
                <a:t>肺部体征阴性或与病情不相符时，必须把心源、中毒、血源、神经精神四类肺外原因纳入鉴别。</a:t>
              </a:r>
            </a:p>
          </p:txBody>
        </p:sp>
      </p:grpSp>
      <p:grpSp>
        <p:nvGrpSpPr>
          <p:cNvPr id="39" name="Group 39"/>
          <p:cNvGrpSpPr/>
          <p:nvPr/>
        </p:nvGrpSpPr>
        <p:grpSpPr>
          <a:xfrm>
            <a:off x="374142" y="6445568"/>
            <a:ext cx="11443716" cy="264033"/>
            <a:chOff x="374142" y="6445568"/>
            <a:chExt cx="11443716" cy="264033"/>
          </a:xfrm>
        </p:grpSpPr>
        <p:sp>
          <p:nvSpPr>
            <p:cNvPr id="37" name="TextBox 37"/>
            <p:cNvSpPr txBox="1"/>
            <p:nvPr/>
          </p:nvSpPr>
          <p:spPr>
            <a:xfrm>
              <a:off x="374142" y="6445568"/>
              <a:ext cx="1358570"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03 病因与临床谱</a:t>
              </a:r>
            </a:p>
          </p:txBody>
        </p:sp>
        <p:sp>
          <p:nvSpPr>
            <p:cNvPr id="38" name="TextBox 38"/>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09 / 20</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596722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最难的一刀：心源性还是肺源性</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1" name="Group 11"/>
          <p:cNvGrpSpPr/>
          <p:nvPr/>
        </p:nvGrpSpPr>
        <p:grpSpPr>
          <a:xfrm>
            <a:off x="564642" y="1333500"/>
            <a:ext cx="11246358" cy="430339"/>
            <a:chOff x="564642" y="1333500"/>
            <a:chExt cx="11246358" cy="430339"/>
          </a:xfrm>
        </p:grpSpPr>
        <p:sp>
          <p:nvSpPr>
            <p:cNvPr id="5" name="TextBox 5"/>
            <p:cNvSpPr txBox="1"/>
            <p:nvPr/>
          </p:nvSpPr>
          <p:spPr>
            <a:xfrm>
              <a:off x="564642" y="1473518"/>
              <a:ext cx="58618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鉴别点</a:t>
              </a:r>
            </a:p>
          </p:txBody>
        </p:sp>
        <p:sp>
          <p:nvSpPr>
            <p:cNvPr id="6" name="Rectangle 6"/>
            <p:cNvSpPr/>
            <p:nvPr/>
          </p:nvSpPr>
          <p:spPr>
            <a:xfrm>
              <a:off x="2667000" y="1333500"/>
              <a:ext cx="4572000" cy="419100"/>
            </a:xfrm>
            <a:prstGeom prst="rect">
              <a:avLst/>
            </a:prstGeom>
            <a:solidFill>
              <a:schemeClr val="accent1"/>
            </a:solidFill>
            <a:ln>
              <a:noFill/>
            </a:ln>
          </p:spPr>
        </p:sp>
        <p:sp>
          <p:nvSpPr>
            <p:cNvPr id="7" name="Freeform 7"/>
            <p:cNvSpPr/>
            <p:nvPr/>
          </p:nvSpPr>
          <p:spPr>
            <a:xfrm>
              <a:off x="2884883" y="1448328"/>
              <a:ext cx="192696" cy="167747"/>
            </a:xfrm>
            <a:custGeom>
              <a:avLst/>
              <a:gdLst/>
              <a:ahLst/>
              <a:cxnLst/>
              <a:rect l="l" t="t" r="r" b="b"/>
              <a:pathLst>
                <a:path w="192696" h="167747">
                  <a:moveTo>
                    <a:pt x="173832" y="91099"/>
                  </a:moveTo>
                  <a:lnTo>
                    <a:pt x="96442" y="167747"/>
                  </a:lnTo>
                  <a:lnTo>
                    <a:pt x="19051" y="91099"/>
                  </a:lnTo>
                  <a:cubicBezTo>
                    <a:pt x="5134" y="77557"/>
                    <a:pt x="0" y="57347"/>
                    <a:pt x="5766" y="38804"/>
                  </a:cubicBezTo>
                  <a:cubicBezTo>
                    <a:pt x="11531" y="20262"/>
                    <a:pt x="27220" y="6526"/>
                    <a:pt x="46362" y="3263"/>
                  </a:cubicBezTo>
                  <a:cubicBezTo>
                    <a:pt x="65505" y="0"/>
                    <a:pt x="84858" y="7761"/>
                    <a:pt x="96442" y="23347"/>
                  </a:cubicBezTo>
                  <a:cubicBezTo>
                    <a:pt x="108074" y="7877"/>
                    <a:pt x="127386" y="218"/>
                    <a:pt x="146458" y="3512"/>
                  </a:cubicBezTo>
                  <a:cubicBezTo>
                    <a:pt x="165531" y="6806"/>
                    <a:pt x="181156" y="20498"/>
                    <a:pt x="186926" y="38973"/>
                  </a:cubicBezTo>
                  <a:cubicBezTo>
                    <a:pt x="192696" y="57448"/>
                    <a:pt x="187640" y="77598"/>
                    <a:pt x="173832" y="91161"/>
                  </a:cubicBezTo>
                </a:path>
              </a:pathLst>
            </a:custGeom>
            <a:noFill/>
            <a:ln w="20637">
              <a:solidFill>
                <a:srgbClr val="FFFFFF"/>
              </a:solidFill>
            </a:ln>
          </p:spPr>
        </p:sp>
        <p:sp>
          <p:nvSpPr>
            <p:cNvPr id="8" name="TextBox 8"/>
            <p:cNvSpPr txBox="1"/>
            <p:nvPr/>
          </p:nvSpPr>
          <p:spPr>
            <a:xfrm>
              <a:off x="3230118" y="1441132"/>
              <a:ext cx="1649368"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心源性呼吸困难</a:t>
              </a:r>
            </a:p>
          </p:txBody>
        </p:sp>
        <p:sp>
          <p:nvSpPr>
            <p:cNvPr id="9" name="Rectangle 9"/>
            <p:cNvSpPr/>
            <p:nvPr/>
          </p:nvSpPr>
          <p:spPr>
            <a:xfrm>
              <a:off x="7239000" y="1333500"/>
              <a:ext cx="4572000" cy="419100"/>
            </a:xfrm>
            <a:prstGeom prst="rect">
              <a:avLst/>
            </a:prstGeom>
            <a:solidFill>
              <a:schemeClr val="lt2"/>
            </a:solidFill>
            <a:ln>
              <a:noFill/>
            </a:ln>
          </p:spPr>
        </p:sp>
        <p:sp>
          <p:nvSpPr>
            <p:cNvPr id="10" name="TextBox 10"/>
            <p:cNvSpPr txBox="1"/>
            <p:nvPr/>
          </p:nvSpPr>
          <p:spPr>
            <a:xfrm>
              <a:off x="7421118" y="1441132"/>
              <a:ext cx="2567323"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肺源性（肺炎 / ARDS）</a:t>
              </a:r>
            </a:p>
          </p:txBody>
        </p:sp>
      </p:grpSp>
      <p:grpSp>
        <p:nvGrpSpPr>
          <p:cNvPr id="16" name="Group 16"/>
          <p:cNvGrpSpPr/>
          <p:nvPr/>
        </p:nvGrpSpPr>
        <p:grpSpPr>
          <a:xfrm>
            <a:off x="381000" y="1952625"/>
            <a:ext cx="11430000" cy="381000"/>
            <a:chOff x="381000" y="1952625"/>
            <a:chExt cx="11430000" cy="381000"/>
          </a:xfrm>
        </p:grpSpPr>
        <p:sp>
          <p:nvSpPr>
            <p:cNvPr id="12" name="TextBox 12"/>
            <p:cNvSpPr txBox="1"/>
            <p:nvPr/>
          </p:nvSpPr>
          <p:spPr>
            <a:xfrm>
              <a:off x="563880" y="1952625"/>
              <a:ext cx="863346"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精神状态</a:t>
              </a:r>
            </a:p>
          </p:txBody>
        </p:sp>
        <p:sp>
          <p:nvSpPr>
            <p:cNvPr id="13" name="TextBox 13"/>
            <p:cNvSpPr txBox="1"/>
            <p:nvPr/>
          </p:nvSpPr>
          <p:spPr>
            <a:xfrm>
              <a:off x="2850642" y="1968818"/>
              <a:ext cx="328498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精神面色差，与肺部病变严重程度不相符</a:t>
              </a:r>
            </a:p>
          </p:txBody>
        </p:sp>
        <p:sp>
          <p:nvSpPr>
            <p:cNvPr id="14" name="TextBox 14"/>
            <p:cNvSpPr txBox="1"/>
            <p:nvPr/>
          </p:nvSpPr>
          <p:spPr>
            <a:xfrm>
              <a:off x="7422642" y="19688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与病情相符</a:t>
              </a:r>
            </a:p>
          </p:txBody>
        </p:sp>
        <p:sp>
          <p:nvSpPr>
            <p:cNvPr id="15" name="Line 15"/>
            <p:cNvSpPr/>
            <p:nvPr/>
          </p:nvSpPr>
          <p:spPr>
            <a:xfrm>
              <a:off x="381000" y="2324100"/>
              <a:ext cx="11430000" cy="9525"/>
            </a:xfrm>
            <a:custGeom>
              <a:avLst/>
              <a:gdLst/>
              <a:ahLst/>
              <a:cxnLst/>
              <a:rect l="l" t="t" r="r" b="b"/>
              <a:pathLst>
                <a:path w="11430000" h="9525">
                  <a:moveTo>
                    <a:pt x="0" y="0"/>
                  </a:moveTo>
                  <a:lnTo>
                    <a:pt x="11430000" y="0"/>
                  </a:lnTo>
                </a:path>
              </a:pathLst>
            </a:custGeom>
            <a:noFill/>
            <a:ln w="9525">
              <a:solidFill>
                <a:schemeClr val="dk1">
                  <a:alpha val="12000"/>
                </a:schemeClr>
              </a:solidFill>
            </a:ln>
          </p:spPr>
        </p:sp>
      </p:grpSp>
      <p:grpSp>
        <p:nvGrpSpPr>
          <p:cNvPr id="21" name="Group 21"/>
          <p:cNvGrpSpPr/>
          <p:nvPr/>
        </p:nvGrpSpPr>
        <p:grpSpPr>
          <a:xfrm>
            <a:off x="381000" y="2524125"/>
            <a:ext cx="11430000" cy="381000"/>
            <a:chOff x="381000" y="2524125"/>
            <a:chExt cx="11430000" cy="381000"/>
          </a:xfrm>
        </p:grpSpPr>
        <p:sp>
          <p:nvSpPr>
            <p:cNvPr id="17" name="TextBox 17"/>
            <p:cNvSpPr txBox="1"/>
            <p:nvPr/>
          </p:nvSpPr>
          <p:spPr>
            <a:xfrm>
              <a:off x="563880" y="2524125"/>
              <a:ext cx="1075372"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非特异表现</a:t>
              </a:r>
            </a:p>
          </p:txBody>
        </p:sp>
        <p:sp>
          <p:nvSpPr>
            <p:cNvPr id="18" name="TextBox 18"/>
            <p:cNvSpPr txBox="1"/>
            <p:nvPr/>
          </p:nvSpPr>
          <p:spPr>
            <a:xfrm>
              <a:off x="2850642" y="25403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烦躁不安、拒奶、汗多</a:t>
              </a:r>
            </a:p>
          </p:txBody>
        </p:sp>
        <p:sp>
          <p:nvSpPr>
            <p:cNvPr id="19" name="TextBox 19"/>
            <p:cNvSpPr txBox="1"/>
            <p:nvPr/>
          </p:nvSpPr>
          <p:spPr>
            <a:xfrm>
              <a:off x="7422642" y="25403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发热、咳嗽、痰鸣</a:t>
              </a:r>
            </a:p>
          </p:txBody>
        </p:sp>
        <p:sp>
          <p:nvSpPr>
            <p:cNvPr id="20" name="Line 20"/>
            <p:cNvSpPr/>
            <p:nvPr/>
          </p:nvSpPr>
          <p:spPr>
            <a:xfrm>
              <a:off x="381000" y="2895600"/>
              <a:ext cx="11430000" cy="9525"/>
            </a:xfrm>
            <a:custGeom>
              <a:avLst/>
              <a:gdLst/>
              <a:ahLst/>
              <a:cxnLst/>
              <a:rect l="l" t="t" r="r" b="b"/>
              <a:pathLst>
                <a:path w="11430000" h="9525">
                  <a:moveTo>
                    <a:pt x="0" y="0"/>
                  </a:moveTo>
                  <a:lnTo>
                    <a:pt x="11430000" y="0"/>
                  </a:lnTo>
                </a:path>
              </a:pathLst>
            </a:custGeom>
            <a:noFill/>
            <a:ln w="9525">
              <a:solidFill>
                <a:schemeClr val="dk1">
                  <a:alpha val="12000"/>
                </a:schemeClr>
              </a:solidFill>
            </a:ln>
          </p:spPr>
        </p:sp>
      </p:grpSp>
      <p:grpSp>
        <p:nvGrpSpPr>
          <p:cNvPr id="26" name="Group 26"/>
          <p:cNvGrpSpPr/>
          <p:nvPr/>
        </p:nvGrpSpPr>
        <p:grpSpPr>
          <a:xfrm>
            <a:off x="381000" y="3095625"/>
            <a:ext cx="11430000" cy="381000"/>
            <a:chOff x="381000" y="3095625"/>
            <a:chExt cx="11430000" cy="381000"/>
          </a:xfrm>
        </p:grpSpPr>
        <p:sp>
          <p:nvSpPr>
            <p:cNvPr id="22" name="TextBox 22"/>
            <p:cNvSpPr txBox="1"/>
            <p:nvPr/>
          </p:nvSpPr>
          <p:spPr>
            <a:xfrm>
              <a:off x="563880" y="3095625"/>
              <a:ext cx="863346"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心脏体征</a:t>
              </a:r>
            </a:p>
          </p:txBody>
        </p:sp>
        <p:sp>
          <p:nvSpPr>
            <p:cNvPr id="23" name="TextBox 23"/>
            <p:cNvSpPr txBox="1"/>
            <p:nvPr/>
          </p:nvSpPr>
          <p:spPr>
            <a:xfrm>
              <a:off x="2850642" y="3111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心音低、奔马律、肝大</a:t>
              </a:r>
            </a:p>
          </p:txBody>
        </p:sp>
        <p:sp>
          <p:nvSpPr>
            <p:cNvPr id="24" name="TextBox 24"/>
            <p:cNvSpPr txBox="1"/>
            <p:nvPr/>
          </p:nvSpPr>
          <p:spPr>
            <a:xfrm>
              <a:off x="7422642" y="311181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常无</a:t>
              </a:r>
            </a:p>
          </p:txBody>
        </p:sp>
        <p:sp>
          <p:nvSpPr>
            <p:cNvPr id="25" name="Line 25"/>
            <p:cNvSpPr/>
            <p:nvPr/>
          </p:nvSpPr>
          <p:spPr>
            <a:xfrm>
              <a:off x="381000" y="3467100"/>
              <a:ext cx="11430000" cy="9525"/>
            </a:xfrm>
            <a:custGeom>
              <a:avLst/>
              <a:gdLst/>
              <a:ahLst/>
              <a:cxnLst/>
              <a:rect l="l" t="t" r="r" b="b"/>
              <a:pathLst>
                <a:path w="11430000" h="9525">
                  <a:moveTo>
                    <a:pt x="0" y="0"/>
                  </a:moveTo>
                  <a:lnTo>
                    <a:pt x="11430000" y="0"/>
                  </a:lnTo>
                </a:path>
              </a:pathLst>
            </a:custGeom>
            <a:noFill/>
            <a:ln w="9525">
              <a:solidFill>
                <a:schemeClr val="dk1">
                  <a:alpha val="12000"/>
                </a:schemeClr>
              </a:solidFill>
            </a:ln>
          </p:spPr>
        </p:sp>
      </p:grpSp>
      <p:grpSp>
        <p:nvGrpSpPr>
          <p:cNvPr id="31" name="Group 31"/>
          <p:cNvGrpSpPr/>
          <p:nvPr/>
        </p:nvGrpSpPr>
        <p:grpSpPr>
          <a:xfrm>
            <a:off x="381000" y="3667125"/>
            <a:ext cx="11430000" cy="381000"/>
            <a:chOff x="381000" y="3667125"/>
            <a:chExt cx="11430000" cy="381000"/>
          </a:xfrm>
        </p:grpSpPr>
        <p:sp>
          <p:nvSpPr>
            <p:cNvPr id="27" name="TextBox 27"/>
            <p:cNvSpPr txBox="1"/>
            <p:nvPr/>
          </p:nvSpPr>
          <p:spPr>
            <a:xfrm>
              <a:off x="563880" y="3667125"/>
              <a:ext cx="439293"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胸片</a:t>
              </a:r>
            </a:p>
          </p:txBody>
        </p:sp>
        <p:sp>
          <p:nvSpPr>
            <p:cNvPr id="28" name="TextBox 28"/>
            <p:cNvSpPr txBox="1"/>
            <p:nvPr/>
          </p:nvSpPr>
          <p:spPr>
            <a:xfrm>
              <a:off x="2850642" y="36833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心影增大</a:t>
              </a:r>
            </a:p>
          </p:txBody>
        </p:sp>
        <p:sp>
          <p:nvSpPr>
            <p:cNvPr id="29" name="TextBox 29"/>
            <p:cNvSpPr txBox="1"/>
            <p:nvPr/>
          </p:nvSpPr>
          <p:spPr>
            <a:xfrm>
              <a:off x="7422642" y="3683318"/>
              <a:ext cx="13131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肺实变 / 渗出影</a:t>
              </a:r>
            </a:p>
          </p:txBody>
        </p:sp>
        <p:sp>
          <p:nvSpPr>
            <p:cNvPr id="30" name="Line 30"/>
            <p:cNvSpPr/>
            <p:nvPr/>
          </p:nvSpPr>
          <p:spPr>
            <a:xfrm>
              <a:off x="381000" y="4038600"/>
              <a:ext cx="11430000" cy="9525"/>
            </a:xfrm>
            <a:custGeom>
              <a:avLst/>
              <a:gdLst/>
              <a:ahLst/>
              <a:cxnLst/>
              <a:rect l="l" t="t" r="r" b="b"/>
              <a:pathLst>
                <a:path w="11430000" h="9525">
                  <a:moveTo>
                    <a:pt x="0" y="0"/>
                  </a:moveTo>
                  <a:lnTo>
                    <a:pt x="11430000" y="0"/>
                  </a:lnTo>
                </a:path>
              </a:pathLst>
            </a:custGeom>
            <a:noFill/>
            <a:ln w="9525">
              <a:solidFill>
                <a:schemeClr val="dk1">
                  <a:alpha val="12000"/>
                </a:schemeClr>
              </a:solidFill>
            </a:ln>
          </p:spPr>
        </p:sp>
      </p:grpSp>
      <p:grpSp>
        <p:nvGrpSpPr>
          <p:cNvPr id="36" name="Group 36"/>
          <p:cNvGrpSpPr/>
          <p:nvPr/>
        </p:nvGrpSpPr>
        <p:grpSpPr>
          <a:xfrm>
            <a:off x="381000" y="4238625"/>
            <a:ext cx="11430000" cy="381000"/>
            <a:chOff x="381000" y="4238625"/>
            <a:chExt cx="11430000" cy="381000"/>
          </a:xfrm>
        </p:grpSpPr>
        <p:sp>
          <p:nvSpPr>
            <p:cNvPr id="32" name="TextBox 32"/>
            <p:cNvSpPr txBox="1"/>
            <p:nvPr/>
          </p:nvSpPr>
          <p:spPr>
            <a:xfrm>
              <a:off x="563880" y="4238625"/>
              <a:ext cx="863346"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床旁超声</a:t>
              </a:r>
            </a:p>
          </p:txBody>
        </p:sp>
        <p:sp>
          <p:nvSpPr>
            <p:cNvPr id="33" name="TextBox 33"/>
            <p:cNvSpPr txBox="1"/>
            <p:nvPr/>
          </p:nvSpPr>
          <p:spPr>
            <a:xfrm>
              <a:off x="2850642" y="4254818"/>
              <a:ext cx="27404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LVEF 降低、下腔静脉塌陷 &lt;50%</a:t>
              </a:r>
            </a:p>
          </p:txBody>
        </p:sp>
        <p:sp>
          <p:nvSpPr>
            <p:cNvPr id="34" name="TextBox 34"/>
            <p:cNvSpPr txBox="1"/>
            <p:nvPr/>
          </p:nvSpPr>
          <p:spPr>
            <a:xfrm>
              <a:off x="7422642" y="42548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心功能正常</a:t>
              </a:r>
            </a:p>
          </p:txBody>
        </p:sp>
        <p:sp>
          <p:nvSpPr>
            <p:cNvPr id="35" name="Line 35"/>
            <p:cNvSpPr/>
            <p:nvPr/>
          </p:nvSpPr>
          <p:spPr>
            <a:xfrm>
              <a:off x="381000" y="4610100"/>
              <a:ext cx="11430000" cy="9525"/>
            </a:xfrm>
            <a:custGeom>
              <a:avLst/>
              <a:gdLst/>
              <a:ahLst/>
              <a:cxnLst/>
              <a:rect l="l" t="t" r="r" b="b"/>
              <a:pathLst>
                <a:path w="11430000" h="9525">
                  <a:moveTo>
                    <a:pt x="0" y="0"/>
                  </a:moveTo>
                  <a:lnTo>
                    <a:pt x="11430000" y="0"/>
                  </a:lnTo>
                </a:path>
              </a:pathLst>
            </a:custGeom>
            <a:noFill/>
            <a:ln w="9525">
              <a:solidFill>
                <a:schemeClr val="dk1">
                  <a:alpha val="12000"/>
                </a:schemeClr>
              </a:solidFill>
            </a:ln>
          </p:spPr>
        </p:sp>
      </p:grpSp>
      <p:grpSp>
        <p:nvGrpSpPr>
          <p:cNvPr id="41" name="Group 41"/>
          <p:cNvGrpSpPr/>
          <p:nvPr/>
        </p:nvGrpSpPr>
        <p:grpSpPr>
          <a:xfrm>
            <a:off x="381000" y="4810125"/>
            <a:ext cx="11430000" cy="381000"/>
            <a:chOff x="381000" y="4810125"/>
            <a:chExt cx="11430000" cy="381000"/>
          </a:xfrm>
        </p:grpSpPr>
        <p:sp>
          <p:nvSpPr>
            <p:cNvPr id="37" name="TextBox 37"/>
            <p:cNvSpPr txBox="1"/>
            <p:nvPr/>
          </p:nvSpPr>
          <p:spPr>
            <a:xfrm>
              <a:off x="563880" y="4810125"/>
              <a:ext cx="439293"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化验</a:t>
              </a:r>
            </a:p>
          </p:txBody>
        </p:sp>
        <p:sp>
          <p:nvSpPr>
            <p:cNvPr id="38" name="TextBox 38"/>
            <p:cNvSpPr txBox="1"/>
            <p:nvPr/>
          </p:nvSpPr>
          <p:spPr>
            <a:xfrm>
              <a:off x="2850642" y="4826318"/>
              <a:ext cx="77221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BNP 增高</a:t>
              </a:r>
            </a:p>
          </p:txBody>
        </p:sp>
        <p:sp>
          <p:nvSpPr>
            <p:cNvPr id="39" name="TextBox 39"/>
            <p:cNvSpPr txBox="1"/>
            <p:nvPr/>
          </p:nvSpPr>
          <p:spPr>
            <a:xfrm>
              <a:off x="7422642" y="48263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感染指标升高</a:t>
              </a:r>
            </a:p>
          </p:txBody>
        </p:sp>
        <p:sp>
          <p:nvSpPr>
            <p:cNvPr id="40" name="Line 40"/>
            <p:cNvSpPr/>
            <p:nvPr/>
          </p:nvSpPr>
          <p:spPr>
            <a:xfrm>
              <a:off x="381000" y="5181600"/>
              <a:ext cx="11430000" cy="9525"/>
            </a:xfrm>
            <a:custGeom>
              <a:avLst/>
              <a:gdLst/>
              <a:ahLst/>
              <a:cxnLst/>
              <a:rect l="l" t="t" r="r" b="b"/>
              <a:pathLst>
                <a:path w="11430000" h="9525">
                  <a:moveTo>
                    <a:pt x="0" y="0"/>
                  </a:moveTo>
                  <a:lnTo>
                    <a:pt x="11430000" y="0"/>
                  </a:lnTo>
                </a:path>
              </a:pathLst>
            </a:custGeom>
            <a:noFill/>
            <a:ln w="9525">
              <a:solidFill>
                <a:schemeClr val="dk1">
                  <a:alpha val="12000"/>
                </a:schemeClr>
              </a:solidFill>
            </a:ln>
          </p:spPr>
        </p:sp>
      </p:grpSp>
      <p:grpSp>
        <p:nvGrpSpPr>
          <p:cNvPr id="46" name="Group 46"/>
          <p:cNvGrpSpPr/>
          <p:nvPr/>
        </p:nvGrpSpPr>
        <p:grpSpPr>
          <a:xfrm>
            <a:off x="381000" y="5381625"/>
            <a:ext cx="11430000" cy="381000"/>
            <a:chOff x="381000" y="5381625"/>
            <a:chExt cx="11430000" cy="381000"/>
          </a:xfrm>
        </p:grpSpPr>
        <p:sp>
          <p:nvSpPr>
            <p:cNvPr id="42" name="TextBox 42"/>
            <p:cNvSpPr txBox="1"/>
            <p:nvPr/>
          </p:nvSpPr>
          <p:spPr>
            <a:xfrm>
              <a:off x="563880" y="5381625"/>
              <a:ext cx="863346" cy="293370"/>
            </a:xfrm>
            <a:prstGeom prst="rect">
              <a:avLst/>
            </a:prstGeom>
            <a:noFill/>
            <a:ln>
              <a:noFill/>
            </a:ln>
          </p:spPr>
          <p:txBody>
            <a:bodyPr wrap="none" lIns="0" tIns="0" rIns="0" bIns="0" anchor="t" anchorCtr="0">
              <a:spAutoFit/>
            </a:bodyPr>
            <a:lstStyle/>
            <a:p>
              <a:pPr algn="l"/>
              <a:r>
                <a:rPr lang="zh-CN" sz="1500" b="1" dirty="0">
                  <a:solidFill>
                    <a:schemeClr val="accent2"/>
                  </a:solidFill>
                  <a:latin typeface="+mn-lt"/>
                  <a:ea typeface="+mn-ea"/>
                  <a:cs typeface="+mn-cs"/>
                </a:rPr>
                <a:t>治疗反应</a:t>
              </a:r>
            </a:p>
          </p:txBody>
        </p:sp>
        <p:sp>
          <p:nvSpPr>
            <p:cNvPr id="43" name="TextBox 43"/>
            <p:cNvSpPr txBox="1"/>
            <p:nvPr/>
          </p:nvSpPr>
          <p:spPr>
            <a:xfrm>
              <a:off x="2850642" y="5397818"/>
              <a:ext cx="2685250"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强力抗感染、雾化止喘效果不佳</a:t>
              </a:r>
            </a:p>
          </p:txBody>
        </p:sp>
        <p:sp>
          <p:nvSpPr>
            <p:cNvPr id="44" name="TextBox 44"/>
            <p:cNvSpPr txBox="1"/>
            <p:nvPr/>
          </p:nvSpPr>
          <p:spPr>
            <a:xfrm>
              <a:off x="7422642" y="53978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抗感染有效</a:t>
              </a:r>
            </a:p>
          </p:txBody>
        </p:sp>
        <p:sp>
          <p:nvSpPr>
            <p:cNvPr id="45" name="Line 45"/>
            <p:cNvSpPr/>
            <p:nvPr/>
          </p:nvSpPr>
          <p:spPr>
            <a:xfrm>
              <a:off x="381000" y="57531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49" name="Group 49"/>
          <p:cNvGrpSpPr/>
          <p:nvPr/>
        </p:nvGrpSpPr>
        <p:grpSpPr>
          <a:xfrm>
            <a:off x="373380" y="5905500"/>
            <a:ext cx="11437620" cy="455295"/>
            <a:chOff x="373380" y="5905500"/>
            <a:chExt cx="11437620" cy="455295"/>
          </a:xfrm>
        </p:grpSpPr>
        <p:sp>
          <p:nvSpPr>
            <p:cNvPr id="47" name="Rectangle 47"/>
            <p:cNvSpPr/>
            <p:nvPr/>
          </p:nvSpPr>
          <p:spPr>
            <a:xfrm>
              <a:off x="381000" y="5905500"/>
              <a:ext cx="11430000" cy="38100"/>
            </a:xfrm>
            <a:prstGeom prst="rect">
              <a:avLst/>
            </a:prstGeom>
            <a:solidFill>
              <a:schemeClr val="accent2"/>
            </a:solidFill>
            <a:ln>
              <a:noFill/>
            </a:ln>
          </p:spPr>
        </p:sp>
        <p:sp>
          <p:nvSpPr>
            <p:cNvPr id="48" name="TextBox 48"/>
            <p:cNvSpPr txBox="1"/>
            <p:nvPr/>
          </p:nvSpPr>
          <p:spPr>
            <a:xfrm>
              <a:off x="373380" y="6067425"/>
              <a:ext cx="3195638" cy="293370"/>
            </a:xfrm>
            <a:prstGeom prst="rect">
              <a:avLst/>
            </a:prstGeom>
            <a:noFill/>
            <a:ln>
              <a:noFill/>
            </a:ln>
          </p:spPr>
          <p:txBody>
            <a:bodyPr wrap="none" lIns="0" tIns="0" rIns="0" bIns="0" anchor="t" anchorCtr="0">
              <a:spAutoFit/>
            </a:bodyPr>
            <a:lstStyle/>
            <a:p>
              <a:pPr algn="l"/>
              <a:r>
                <a:rPr lang="zh-CN" sz="1500" b="1" dirty="0">
                  <a:solidFill>
                    <a:schemeClr val="accent2"/>
                  </a:solidFill>
                  <a:latin typeface="+mn-lt"/>
                  <a:ea typeface="+mn-ea"/>
                  <a:cs typeface="+mn-cs"/>
                </a:rPr>
                <a:t>治疗无效，是最强的心源性提示。</a:t>
              </a:r>
            </a:p>
          </p:txBody>
        </p:sp>
      </p:grpSp>
      <p:grpSp>
        <p:nvGrpSpPr>
          <p:cNvPr id="52" name="Group 52"/>
          <p:cNvGrpSpPr/>
          <p:nvPr/>
        </p:nvGrpSpPr>
        <p:grpSpPr>
          <a:xfrm>
            <a:off x="374142" y="6445568"/>
            <a:ext cx="11443716" cy="264033"/>
            <a:chOff x="374142" y="6445568"/>
            <a:chExt cx="11443716" cy="264033"/>
          </a:xfrm>
        </p:grpSpPr>
        <p:sp>
          <p:nvSpPr>
            <p:cNvPr id="50" name="TextBox 50"/>
            <p:cNvSpPr txBox="1"/>
            <p:nvPr/>
          </p:nvSpPr>
          <p:spPr>
            <a:xfrm>
              <a:off x="374142" y="6445568"/>
              <a:ext cx="1358570"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03 病因与临床谱</a:t>
              </a:r>
            </a:p>
          </p:txBody>
        </p:sp>
        <p:sp>
          <p:nvSpPr>
            <p:cNvPr id="51" name="TextBox 51"/>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10 / 20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681532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分度：轻、中、重三档决定处置速度</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8" name="Group 8"/>
          <p:cNvGrpSpPr/>
          <p:nvPr/>
        </p:nvGrpSpPr>
        <p:grpSpPr>
          <a:xfrm>
            <a:off x="374142" y="2121218"/>
            <a:ext cx="11055858" cy="264033"/>
            <a:chOff x="374142" y="2121218"/>
            <a:chExt cx="11055858" cy="264033"/>
          </a:xfrm>
        </p:grpSpPr>
        <p:sp>
          <p:nvSpPr>
            <p:cNvPr id="5" name="TextBox 5"/>
            <p:cNvSpPr txBox="1"/>
            <p:nvPr/>
          </p:nvSpPr>
          <p:spPr>
            <a:xfrm>
              <a:off x="374142" y="2121218"/>
              <a:ext cx="837590" cy="264033"/>
            </a:xfrm>
            <a:prstGeom prst="rect">
              <a:avLst/>
            </a:prstGeom>
            <a:noFill/>
            <a:ln>
              <a:noFill/>
            </a:ln>
          </p:spPr>
          <p:txBody>
            <a:bodyPr wrap="none" lIns="0" tIns="0" rIns="0" bIns="0" anchor="t" anchorCtr="0">
              <a:spAutoFit/>
            </a:bodyPr>
            <a:lstStyle/>
            <a:p>
              <a:pPr algn="l"/>
              <a:r>
                <a:rPr lang="zh-CN" sz="1350" b="1" spc="150" dirty="0">
                  <a:solidFill>
                    <a:schemeClr val="accent3"/>
                  </a:solidFill>
                  <a:latin typeface="+mn-lt"/>
                  <a:ea typeface="+mn-ea"/>
                  <a:cs typeface="+mn-cs"/>
                </a:rPr>
                <a:t>处置速度</a:t>
              </a:r>
            </a:p>
          </p:txBody>
        </p:sp>
        <p:sp>
          <p:nvSpPr>
            <p:cNvPr id="6" name="Line 6"/>
            <p:cNvSpPr/>
            <p:nvPr/>
          </p:nvSpPr>
          <p:spPr>
            <a:xfrm>
              <a:off x="1524000" y="2209800"/>
              <a:ext cx="9696450" cy="9525"/>
            </a:xfrm>
            <a:custGeom>
              <a:avLst/>
              <a:gdLst/>
              <a:ahLst/>
              <a:cxnLst/>
              <a:rect l="l" t="t" r="r" b="b"/>
              <a:pathLst>
                <a:path w="9696450" h="9525">
                  <a:moveTo>
                    <a:pt x="0" y="0"/>
                  </a:moveTo>
                  <a:lnTo>
                    <a:pt x="9696450" y="0"/>
                  </a:lnTo>
                </a:path>
              </a:pathLst>
            </a:custGeom>
            <a:noFill/>
            <a:ln w="19050">
              <a:solidFill>
                <a:schemeClr val="accent1"/>
              </a:solidFill>
            </a:ln>
          </p:spPr>
        </p:sp>
        <p:sp>
          <p:nvSpPr>
            <p:cNvPr id="7" name="Polygon 7"/>
            <p:cNvSpPr/>
            <p:nvPr/>
          </p:nvSpPr>
          <p:spPr>
            <a:xfrm>
              <a:off x="11220450" y="2133600"/>
              <a:ext cx="209550" cy="152400"/>
            </a:xfrm>
            <a:custGeom>
              <a:avLst/>
              <a:gdLst/>
              <a:ahLst/>
              <a:cxnLst/>
              <a:rect l="l" t="t" r="r" b="b"/>
              <a:pathLst>
                <a:path w="209550" h="152400">
                  <a:moveTo>
                    <a:pt x="0" y="0"/>
                  </a:moveTo>
                  <a:lnTo>
                    <a:pt x="209550" y="76200"/>
                  </a:lnTo>
                  <a:lnTo>
                    <a:pt x="0" y="152400"/>
                  </a:lnTo>
                  <a:close/>
                </a:path>
              </a:pathLst>
            </a:custGeom>
            <a:solidFill>
              <a:schemeClr val="accent1"/>
            </a:solidFill>
            <a:ln>
              <a:noFill/>
            </a:ln>
          </p:spPr>
        </p:sp>
      </p:grpSp>
      <p:grpSp>
        <p:nvGrpSpPr>
          <p:cNvPr id="13" name="Group 13"/>
          <p:cNvGrpSpPr/>
          <p:nvPr/>
        </p:nvGrpSpPr>
        <p:grpSpPr>
          <a:xfrm>
            <a:off x="381000" y="4191000"/>
            <a:ext cx="3429000" cy="1524000"/>
            <a:chOff x="381000" y="4191000"/>
            <a:chExt cx="3429000" cy="1524000"/>
          </a:xfrm>
        </p:grpSpPr>
        <p:sp>
          <p:nvSpPr>
            <p:cNvPr id="9" name="Rectangle 9"/>
            <p:cNvSpPr/>
            <p:nvPr/>
          </p:nvSpPr>
          <p:spPr>
            <a:xfrm>
              <a:off x="381000" y="4191000"/>
              <a:ext cx="3429000" cy="1524000"/>
            </a:xfrm>
            <a:prstGeom prst="rect">
              <a:avLst/>
            </a:prstGeom>
            <a:solidFill>
              <a:schemeClr val="lt2"/>
            </a:solidFill>
            <a:ln>
              <a:noFill/>
            </a:ln>
          </p:spPr>
        </p:sp>
        <p:sp>
          <p:nvSpPr>
            <p:cNvPr id="10" name="TextBox 10"/>
            <p:cNvSpPr txBox="1"/>
            <p:nvPr/>
          </p:nvSpPr>
          <p:spPr>
            <a:xfrm>
              <a:off x="598170" y="4367212"/>
              <a:ext cx="6589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轻度</a:t>
              </a:r>
            </a:p>
          </p:txBody>
        </p:sp>
        <p:sp>
          <p:nvSpPr>
            <p:cNvPr id="11" name="TextBox 11"/>
            <p:cNvSpPr txBox="1"/>
            <p:nvPr/>
          </p:nvSpPr>
          <p:spPr>
            <a:xfrm>
              <a:off x="601980" y="4714875"/>
              <a:ext cx="1226820"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仅有频率改变</a:t>
              </a:r>
            </a:p>
          </p:txBody>
        </p:sp>
        <p:sp>
          <p:nvSpPr>
            <p:cNvPr id="12" name="TextBox 12"/>
            <p:cNvSpPr txBox="1"/>
            <p:nvPr/>
          </p:nvSpPr>
          <p:spPr>
            <a:xfrm>
              <a:off x="602742" y="5093018"/>
              <a:ext cx="2242566"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mn-lt"/>
                  <a:ea typeface="+mn-ea"/>
                  <a:cs typeface="+mn-cs"/>
                </a:rPr>
                <a:t>仅呼吸频率加快活动、哭闹或吃奶后轻度发绀</a:t>
              </a:r>
            </a:p>
          </p:txBody>
        </p:sp>
      </p:grpSp>
      <p:grpSp>
        <p:nvGrpSpPr>
          <p:cNvPr id="19" name="Group 19"/>
          <p:cNvGrpSpPr/>
          <p:nvPr/>
        </p:nvGrpSpPr>
        <p:grpSpPr>
          <a:xfrm>
            <a:off x="4191000" y="3429000"/>
            <a:ext cx="3429000" cy="2286000"/>
            <a:chOff x="4191000" y="3429000"/>
            <a:chExt cx="3429000" cy="2286000"/>
          </a:xfrm>
        </p:grpSpPr>
        <p:sp>
          <p:nvSpPr>
            <p:cNvPr id="14" name="Rectangle 14"/>
            <p:cNvSpPr/>
            <p:nvPr/>
          </p:nvSpPr>
          <p:spPr>
            <a:xfrm>
              <a:off x="4191000" y="3429000"/>
              <a:ext cx="3429000" cy="2286000"/>
            </a:xfrm>
            <a:prstGeom prst="rect">
              <a:avLst/>
            </a:prstGeom>
            <a:solidFill>
              <a:schemeClr val="accent3"/>
            </a:solidFill>
            <a:ln>
              <a:noFill/>
            </a:ln>
          </p:spPr>
        </p:sp>
        <p:sp>
          <p:nvSpPr>
            <p:cNvPr id="15" name="TextBox 15"/>
            <p:cNvSpPr txBox="1"/>
            <p:nvPr/>
          </p:nvSpPr>
          <p:spPr>
            <a:xfrm>
              <a:off x="4408170" y="3605212"/>
              <a:ext cx="658940" cy="440055"/>
            </a:xfrm>
            <a:prstGeom prst="rect">
              <a:avLst/>
            </a:prstGeom>
            <a:noFill/>
            <a:ln>
              <a:noFill/>
            </a:ln>
          </p:spPr>
          <p:txBody>
            <a:bodyPr wrap="none" lIns="0" tIns="0" rIns="0" bIns="0" anchor="t" anchorCtr="0">
              <a:spAutoFit/>
            </a:bodyPr>
            <a:lstStyle/>
            <a:p>
              <a:pPr algn="l"/>
              <a:r>
                <a:rPr lang="zh-CN" sz="2250" b="1" dirty="0">
                  <a:solidFill>
                    <a:srgbClr val="FFFFFF"/>
                  </a:solidFill>
                  <a:latin typeface="+mn-lt"/>
                  <a:ea typeface="+mn-ea"/>
                  <a:cs typeface="+mn-cs"/>
                </a:rPr>
                <a:t>中度</a:t>
              </a:r>
            </a:p>
          </p:txBody>
        </p:sp>
        <p:sp>
          <p:nvSpPr>
            <p:cNvPr id="16" name="TextBox 16"/>
            <p:cNvSpPr txBox="1"/>
            <p:nvPr/>
          </p:nvSpPr>
          <p:spPr>
            <a:xfrm>
              <a:off x="4411980" y="3952875"/>
              <a:ext cx="1024890" cy="293370"/>
            </a:xfrm>
            <a:prstGeom prst="rect">
              <a:avLst/>
            </a:prstGeom>
            <a:noFill/>
            <a:ln>
              <a:noFill/>
            </a:ln>
          </p:spPr>
          <p:txBody>
            <a:bodyPr wrap="none" lIns="0" tIns="0" rIns="0" bIns="0" anchor="t" anchorCtr="0">
              <a:spAutoFit/>
            </a:bodyPr>
            <a:lstStyle/>
            <a:p>
              <a:pPr algn="l"/>
              <a:r>
                <a:rPr lang="zh-CN" sz="1500" dirty="0">
                  <a:solidFill>
                    <a:srgbClr val="FFFFFF">
                      <a:alphaMod val="80000"/>
                    </a:srgbClr>
                  </a:solidFill>
                  <a:latin typeface="+mn-lt"/>
                  <a:ea typeface="+mn-ea"/>
                  <a:cs typeface="+mn-cs"/>
                </a:rPr>
                <a:t>辅助肌参与</a:t>
              </a:r>
            </a:p>
          </p:txBody>
        </p:sp>
        <p:sp>
          <p:nvSpPr>
            <p:cNvPr id="17" name="TextBox 17"/>
            <p:cNvSpPr txBox="1"/>
            <p:nvPr/>
          </p:nvSpPr>
          <p:spPr>
            <a:xfrm>
              <a:off x="4412742" y="4350068"/>
              <a:ext cx="2414016" cy="949833"/>
            </a:xfrm>
            <a:prstGeom prst="rect">
              <a:avLst/>
            </a:prstGeom>
            <a:noFill/>
            <a:ln>
              <a:noFill/>
            </a:ln>
          </p:spPr>
          <p:txBody>
            <a:bodyPr wrap="square" lIns="0" tIns="0" rIns="0" bIns="0" anchor="t" anchorCtr="0"/>
            <a:lstStyle/>
            <a:p>
              <a:pPr algn="l">
                <a:lnSpc>
                  <a:spcPts val="1800"/>
                </a:lnSpc>
              </a:pPr>
              <a:r>
                <a:rPr lang="zh-CN" sz="1350" dirty="0">
                  <a:solidFill>
                    <a:srgbClr val="FFFFFF"/>
                  </a:solidFill>
                  <a:latin typeface="+mn-lt"/>
                  <a:ea typeface="+mn-ea"/>
                  <a:cs typeface="+mn-cs"/>
                </a:rPr>
                <a:t>呼吸明显加快呼吸做功增加、辅助呼吸肌参与三凹征、鼻翼扇动、点头样呼吸烦躁发绀</a:t>
              </a:r>
            </a:p>
          </p:txBody>
        </p:sp>
        <p:sp>
          <p:nvSpPr>
            <p:cNvPr id="18" name="TextBox 18"/>
            <p:cNvSpPr txBox="1"/>
            <p:nvPr/>
          </p:nvSpPr>
          <p:spPr>
            <a:xfrm>
              <a:off x="4412742" y="5359718"/>
              <a:ext cx="1540307"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吸氧后症状可改善</a:t>
              </a:r>
            </a:p>
          </p:txBody>
        </p:sp>
      </p:grpSp>
      <p:grpSp>
        <p:nvGrpSpPr>
          <p:cNvPr id="27" name="Group 27"/>
          <p:cNvGrpSpPr/>
          <p:nvPr/>
        </p:nvGrpSpPr>
        <p:grpSpPr>
          <a:xfrm>
            <a:off x="8001000" y="2667000"/>
            <a:ext cx="3429000" cy="3048000"/>
            <a:chOff x="8001000" y="2667000"/>
            <a:chExt cx="3429000" cy="3048000"/>
          </a:xfrm>
        </p:grpSpPr>
        <p:sp>
          <p:nvSpPr>
            <p:cNvPr id="20" name="Rectangle 20"/>
            <p:cNvSpPr/>
            <p:nvPr/>
          </p:nvSpPr>
          <p:spPr>
            <a:xfrm>
              <a:off x="8001000" y="2667000"/>
              <a:ext cx="3429000" cy="3048000"/>
            </a:xfrm>
            <a:prstGeom prst="rect">
              <a:avLst/>
            </a:prstGeom>
            <a:solidFill>
              <a:schemeClr val="accent1"/>
            </a:solidFill>
            <a:ln>
              <a:noFill/>
            </a:ln>
          </p:spPr>
        </p:sp>
        <p:sp>
          <p:nvSpPr>
            <p:cNvPr id="21" name="TextBox 21"/>
            <p:cNvSpPr txBox="1"/>
            <p:nvPr/>
          </p:nvSpPr>
          <p:spPr>
            <a:xfrm>
              <a:off x="8218170" y="2843212"/>
              <a:ext cx="658940" cy="440055"/>
            </a:xfrm>
            <a:prstGeom prst="rect">
              <a:avLst/>
            </a:prstGeom>
            <a:noFill/>
            <a:ln>
              <a:noFill/>
            </a:ln>
          </p:spPr>
          <p:txBody>
            <a:bodyPr wrap="none" lIns="0" tIns="0" rIns="0" bIns="0" anchor="t" anchorCtr="0">
              <a:spAutoFit/>
            </a:bodyPr>
            <a:lstStyle/>
            <a:p>
              <a:pPr algn="l"/>
              <a:r>
                <a:rPr lang="zh-CN" sz="2250" b="1" dirty="0">
                  <a:solidFill>
                    <a:srgbClr val="FFFFFF"/>
                  </a:solidFill>
                  <a:latin typeface="+mn-lt"/>
                  <a:ea typeface="+mn-ea"/>
                  <a:cs typeface="+mn-cs"/>
                </a:rPr>
                <a:t>重度</a:t>
              </a:r>
            </a:p>
          </p:txBody>
        </p:sp>
        <p:sp>
          <p:nvSpPr>
            <p:cNvPr id="22" name="TextBox 22"/>
            <p:cNvSpPr txBox="1"/>
            <p:nvPr/>
          </p:nvSpPr>
          <p:spPr>
            <a:xfrm>
              <a:off x="8221980" y="3190875"/>
              <a:ext cx="1226820" cy="293370"/>
            </a:xfrm>
            <a:prstGeom prst="rect">
              <a:avLst/>
            </a:prstGeom>
            <a:noFill/>
            <a:ln>
              <a:noFill/>
            </a:ln>
          </p:spPr>
          <p:txBody>
            <a:bodyPr wrap="none" lIns="0" tIns="0" rIns="0" bIns="0" anchor="t" anchorCtr="0">
              <a:spAutoFit/>
            </a:bodyPr>
            <a:lstStyle/>
            <a:p>
              <a:pPr algn="l"/>
              <a:r>
                <a:rPr lang="zh-CN" sz="1500" dirty="0">
                  <a:solidFill>
                    <a:schemeClr val="accent2"/>
                  </a:solidFill>
                  <a:latin typeface="+mn-lt"/>
                  <a:ea typeface="+mn-ea"/>
                  <a:cs typeface="+mn-cs"/>
                </a:rPr>
                <a:t>氧疗难以纠正</a:t>
              </a:r>
            </a:p>
          </p:txBody>
        </p:sp>
        <p:sp>
          <p:nvSpPr>
            <p:cNvPr id="23" name="TextBox 23"/>
            <p:cNvSpPr txBox="1"/>
            <p:nvPr/>
          </p:nvSpPr>
          <p:spPr>
            <a:xfrm>
              <a:off x="8222742" y="3588068"/>
              <a:ext cx="2071116" cy="949833"/>
            </a:xfrm>
            <a:prstGeom prst="rect">
              <a:avLst/>
            </a:prstGeom>
            <a:noFill/>
            <a:ln>
              <a:noFill/>
            </a:ln>
          </p:spPr>
          <p:txBody>
            <a:bodyPr wrap="square" lIns="0" tIns="0" rIns="0" bIns="0" anchor="t" anchorCtr="0"/>
            <a:lstStyle/>
            <a:p>
              <a:pPr algn="l">
                <a:lnSpc>
                  <a:spcPts val="1800"/>
                </a:lnSpc>
              </a:pPr>
              <a:r>
                <a:rPr lang="zh-CN" sz="1350" dirty="0">
                  <a:solidFill>
                    <a:srgbClr val="FFFFFF"/>
                  </a:solidFill>
                  <a:latin typeface="+mn-lt"/>
                  <a:ea typeface="+mn-ea"/>
                  <a:cs typeface="+mn-cs"/>
                </a:rPr>
                <a:t>呼吸困难进一步加重明显紫绀呼吸节律不规则或呼吸暂停可伴昏迷及循环功能不全</a:t>
              </a:r>
            </a:p>
          </p:txBody>
        </p:sp>
        <p:sp>
          <p:nvSpPr>
            <p:cNvPr id="24" name="Line 24"/>
            <p:cNvSpPr/>
            <p:nvPr/>
          </p:nvSpPr>
          <p:spPr>
            <a:xfrm>
              <a:off x="8229600" y="4762500"/>
              <a:ext cx="2971800" cy="9525"/>
            </a:xfrm>
            <a:custGeom>
              <a:avLst/>
              <a:gdLst/>
              <a:ahLst/>
              <a:cxnLst/>
              <a:rect l="l" t="t" r="r" b="b"/>
              <a:pathLst>
                <a:path w="2971800" h="9525">
                  <a:moveTo>
                    <a:pt x="0" y="0"/>
                  </a:moveTo>
                  <a:lnTo>
                    <a:pt x="2971800" y="0"/>
                  </a:lnTo>
                </a:path>
              </a:pathLst>
            </a:custGeom>
            <a:noFill/>
            <a:ln w="9525">
              <a:solidFill>
                <a:srgbClr val="FFFFFF">
                  <a:alpha val="35000"/>
                </a:srgbClr>
              </a:solidFill>
            </a:ln>
          </p:spPr>
        </p:sp>
        <p:sp>
          <p:nvSpPr>
            <p:cNvPr id="25" name="TextBox 25"/>
            <p:cNvSpPr txBox="1"/>
            <p:nvPr/>
          </p:nvSpPr>
          <p:spPr>
            <a:xfrm>
              <a:off x="8220456" y="494919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需要呼吸支持</a:t>
              </a:r>
            </a:p>
          </p:txBody>
        </p:sp>
        <p:sp>
          <p:nvSpPr>
            <p:cNvPr id="26" name="TextBox 26"/>
            <p:cNvSpPr txBox="1"/>
            <p:nvPr/>
          </p:nvSpPr>
          <p:spPr>
            <a:xfrm>
              <a:off x="8222742" y="5302568"/>
              <a:ext cx="1467612" cy="264033"/>
            </a:xfrm>
            <a:prstGeom prst="rect">
              <a:avLst/>
            </a:prstGeom>
            <a:noFill/>
            <a:ln>
              <a:noFill/>
            </a:ln>
          </p:spPr>
          <p:txBody>
            <a:bodyPr wrap="none" lIns="0" tIns="0" rIns="0" bIns="0" anchor="t" anchorCtr="0">
              <a:spAutoFit/>
            </a:bodyPr>
            <a:lstStyle/>
            <a:p>
              <a:pPr algn="l"/>
              <a:r>
                <a:rPr lang="zh-CN" sz="1350" dirty="0">
                  <a:solidFill>
                    <a:srgbClr val="FFFFFF">
                      <a:alphaMod val="80000"/>
                    </a:srgbClr>
                  </a:solidFill>
                  <a:latin typeface="+mn-lt"/>
                  <a:ea typeface="+mn-ea"/>
                  <a:cs typeface="+mn-cs"/>
                </a:rPr>
                <a:t>先稳定氧合与通气</a:t>
              </a:r>
            </a:p>
          </p:txBody>
        </p:sp>
      </p:grpSp>
      <p:grpSp>
        <p:nvGrpSpPr>
          <p:cNvPr id="30" name="Group 30"/>
          <p:cNvGrpSpPr/>
          <p:nvPr/>
        </p:nvGrpSpPr>
        <p:grpSpPr>
          <a:xfrm>
            <a:off x="374142" y="6445568"/>
            <a:ext cx="11443716" cy="264033"/>
            <a:chOff x="374142" y="6445568"/>
            <a:chExt cx="11443716" cy="264033"/>
          </a:xfrm>
        </p:grpSpPr>
        <p:sp>
          <p:nvSpPr>
            <p:cNvPr id="28" name="TextBox 28"/>
            <p:cNvSpPr txBox="1"/>
            <p:nvPr/>
          </p:nvSpPr>
          <p:spPr>
            <a:xfrm>
              <a:off x="374142" y="6445568"/>
              <a:ext cx="1540307"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04 分度与快速评估</a:t>
              </a:r>
            </a:p>
          </p:txBody>
        </p:sp>
        <p:sp>
          <p:nvSpPr>
            <p:cNvPr id="29" name="TextBox 29"/>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11 / 20</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46678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用 ABCDE 做第一次分层</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6" name="Group 16"/>
          <p:cNvGrpSpPr/>
          <p:nvPr/>
        </p:nvGrpSpPr>
        <p:grpSpPr>
          <a:xfrm>
            <a:off x="381000" y="1524000"/>
            <a:ext cx="1905000" cy="4286250"/>
            <a:chOff x="381000" y="1524000"/>
            <a:chExt cx="1905000" cy="4286250"/>
          </a:xfrm>
        </p:grpSpPr>
        <p:sp>
          <p:nvSpPr>
            <p:cNvPr id="5" name="Rectangle 5"/>
            <p:cNvSpPr/>
            <p:nvPr/>
          </p:nvSpPr>
          <p:spPr>
            <a:xfrm>
              <a:off x="381000" y="1524000"/>
              <a:ext cx="1905000" cy="4286250"/>
            </a:xfrm>
            <a:prstGeom prst="rect">
              <a:avLst/>
            </a:prstGeom>
            <a:solidFill>
              <a:schemeClr val="lt2"/>
            </a:solidFill>
            <a:ln>
              <a:noFill/>
            </a:ln>
          </p:spPr>
        </p:sp>
        <p:sp>
          <p:nvSpPr>
            <p:cNvPr id="6" name="Rectangle 6"/>
            <p:cNvSpPr/>
            <p:nvPr/>
          </p:nvSpPr>
          <p:spPr>
            <a:xfrm>
              <a:off x="381000" y="1524000"/>
              <a:ext cx="1905000" cy="57150"/>
            </a:xfrm>
            <a:prstGeom prst="rect">
              <a:avLst/>
            </a:prstGeom>
            <a:solidFill>
              <a:schemeClr val="accent1"/>
            </a:solidFill>
            <a:ln>
              <a:noFill/>
            </a:ln>
          </p:spPr>
        </p:sp>
        <p:sp>
          <p:nvSpPr>
            <p:cNvPr id="7" name="TextBox 7"/>
            <p:cNvSpPr txBox="1"/>
            <p:nvPr/>
          </p:nvSpPr>
          <p:spPr>
            <a:xfrm>
              <a:off x="517398" y="1717358"/>
              <a:ext cx="290756"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A</a:t>
              </a:r>
            </a:p>
          </p:txBody>
        </p:sp>
        <p:sp>
          <p:nvSpPr>
            <p:cNvPr id="8" name="TextBox 8"/>
            <p:cNvSpPr txBox="1"/>
            <p:nvPr/>
          </p:nvSpPr>
          <p:spPr>
            <a:xfrm>
              <a:off x="524256" y="2225040"/>
              <a:ext cx="5271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气道</a:t>
              </a:r>
            </a:p>
          </p:txBody>
        </p:sp>
        <p:sp>
          <p:nvSpPr>
            <p:cNvPr id="9" name="Line 9"/>
            <p:cNvSpPr/>
            <p:nvPr/>
          </p:nvSpPr>
          <p:spPr>
            <a:xfrm>
              <a:off x="533400" y="2609850"/>
              <a:ext cx="1600200" cy="9525"/>
            </a:xfrm>
            <a:custGeom>
              <a:avLst/>
              <a:gdLst/>
              <a:ahLst/>
              <a:cxnLst/>
              <a:rect l="l" t="t" r="r" b="b"/>
              <a:pathLst>
                <a:path w="1600200" h="9525">
                  <a:moveTo>
                    <a:pt x="0" y="0"/>
                  </a:moveTo>
                  <a:lnTo>
                    <a:pt x="1600200" y="0"/>
                  </a:lnTo>
                </a:path>
              </a:pathLst>
            </a:custGeom>
            <a:noFill/>
            <a:ln w="9525">
              <a:solidFill>
                <a:schemeClr val="accent1"/>
              </a:solidFill>
            </a:ln>
          </p:spPr>
        </p:sp>
        <p:sp>
          <p:nvSpPr>
            <p:cNvPr id="10" name="TextBox 10"/>
            <p:cNvSpPr txBox="1"/>
            <p:nvPr/>
          </p:nvSpPr>
          <p:spPr>
            <a:xfrm>
              <a:off x="527304" y="2766060"/>
              <a:ext cx="351434"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要问</a:t>
              </a:r>
            </a:p>
          </p:txBody>
        </p:sp>
        <p:sp>
          <p:nvSpPr>
            <p:cNvPr id="11" name="TextBox 11"/>
            <p:cNvSpPr txBox="1"/>
            <p:nvPr/>
          </p:nvSpPr>
          <p:spPr>
            <a:xfrm>
              <a:off x="527304" y="3013710"/>
              <a:ext cx="774192" cy="44424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能否发声、哭声响亮？</a:t>
              </a:r>
            </a:p>
          </p:txBody>
        </p:sp>
        <p:sp>
          <p:nvSpPr>
            <p:cNvPr id="12" name="TextBox 12"/>
            <p:cNvSpPr txBox="1"/>
            <p:nvPr/>
          </p:nvSpPr>
          <p:spPr>
            <a:xfrm>
              <a:off x="527304" y="3909060"/>
              <a:ext cx="690677"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危险信号</a:t>
              </a:r>
            </a:p>
          </p:txBody>
        </p:sp>
        <p:sp>
          <p:nvSpPr>
            <p:cNvPr id="13" name="TextBox 13"/>
            <p:cNvSpPr txBox="1"/>
            <p:nvPr/>
          </p:nvSpPr>
          <p:spPr>
            <a:xfrm>
              <a:off x="527304" y="4156710"/>
              <a:ext cx="774192" cy="65379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无法发声、流涎、吸气性喉鸣</a:t>
              </a:r>
            </a:p>
          </p:txBody>
        </p:sp>
        <p:sp>
          <p:nvSpPr>
            <p:cNvPr id="14" name="Line 14"/>
            <p:cNvSpPr/>
            <p:nvPr/>
          </p:nvSpPr>
          <p:spPr>
            <a:xfrm>
              <a:off x="533400" y="5219700"/>
              <a:ext cx="1600200" cy="9525"/>
            </a:xfrm>
            <a:custGeom>
              <a:avLst/>
              <a:gdLst/>
              <a:ahLst/>
              <a:cxnLst/>
              <a:rect l="l" t="t" r="r" b="b"/>
              <a:pathLst>
                <a:path w="1600200" h="9525">
                  <a:moveTo>
                    <a:pt x="0" y="0"/>
                  </a:moveTo>
                  <a:lnTo>
                    <a:pt x="1600200" y="0"/>
                  </a:lnTo>
                </a:path>
              </a:pathLst>
            </a:custGeom>
            <a:noFill/>
            <a:ln w="9525">
              <a:solidFill>
                <a:schemeClr val="dk1">
                  <a:alpha val="15000"/>
                </a:schemeClr>
              </a:solidFill>
            </a:ln>
          </p:spPr>
        </p:sp>
        <p:sp>
          <p:nvSpPr>
            <p:cNvPr id="15" name="TextBox 15"/>
            <p:cNvSpPr txBox="1"/>
            <p:nvPr/>
          </p:nvSpPr>
          <p:spPr>
            <a:xfrm>
              <a:off x="525780" y="5381625"/>
              <a:ext cx="863346"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先保通畅</a:t>
              </a:r>
            </a:p>
          </p:txBody>
        </p:sp>
      </p:grpSp>
      <p:grpSp>
        <p:nvGrpSpPr>
          <p:cNvPr id="28" name="Group 28"/>
          <p:cNvGrpSpPr/>
          <p:nvPr/>
        </p:nvGrpSpPr>
        <p:grpSpPr>
          <a:xfrm>
            <a:off x="2667000" y="1524000"/>
            <a:ext cx="1905000" cy="4286250"/>
            <a:chOff x="2667000" y="1524000"/>
            <a:chExt cx="1905000" cy="4286250"/>
          </a:xfrm>
        </p:grpSpPr>
        <p:sp>
          <p:nvSpPr>
            <p:cNvPr id="17" name="Rectangle 17"/>
            <p:cNvSpPr/>
            <p:nvPr/>
          </p:nvSpPr>
          <p:spPr>
            <a:xfrm>
              <a:off x="2667000" y="1524000"/>
              <a:ext cx="1905000" cy="4286250"/>
            </a:xfrm>
            <a:prstGeom prst="rect">
              <a:avLst/>
            </a:prstGeom>
            <a:solidFill>
              <a:schemeClr val="lt2"/>
            </a:solidFill>
            <a:ln>
              <a:noFill/>
            </a:ln>
          </p:spPr>
        </p:sp>
        <p:sp>
          <p:nvSpPr>
            <p:cNvPr id="18" name="Rectangle 18"/>
            <p:cNvSpPr/>
            <p:nvPr/>
          </p:nvSpPr>
          <p:spPr>
            <a:xfrm>
              <a:off x="2667000" y="1524000"/>
              <a:ext cx="1905000" cy="57150"/>
            </a:xfrm>
            <a:prstGeom prst="rect">
              <a:avLst/>
            </a:prstGeom>
            <a:solidFill>
              <a:schemeClr val="accent1"/>
            </a:solidFill>
            <a:ln>
              <a:noFill/>
            </a:ln>
          </p:spPr>
        </p:sp>
        <p:sp>
          <p:nvSpPr>
            <p:cNvPr id="19" name="TextBox 19"/>
            <p:cNvSpPr txBox="1"/>
            <p:nvPr/>
          </p:nvSpPr>
          <p:spPr>
            <a:xfrm>
              <a:off x="2803398" y="1717358"/>
              <a:ext cx="290756"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B</a:t>
              </a:r>
            </a:p>
          </p:txBody>
        </p:sp>
        <p:sp>
          <p:nvSpPr>
            <p:cNvPr id="20" name="TextBox 20"/>
            <p:cNvSpPr txBox="1"/>
            <p:nvPr/>
          </p:nvSpPr>
          <p:spPr>
            <a:xfrm>
              <a:off x="2810256" y="2225040"/>
              <a:ext cx="5271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呼吸</a:t>
              </a:r>
            </a:p>
          </p:txBody>
        </p:sp>
        <p:sp>
          <p:nvSpPr>
            <p:cNvPr id="21" name="Line 21"/>
            <p:cNvSpPr/>
            <p:nvPr/>
          </p:nvSpPr>
          <p:spPr>
            <a:xfrm>
              <a:off x="2819400" y="2609850"/>
              <a:ext cx="1600200" cy="9525"/>
            </a:xfrm>
            <a:custGeom>
              <a:avLst/>
              <a:gdLst/>
              <a:ahLst/>
              <a:cxnLst/>
              <a:rect l="l" t="t" r="r" b="b"/>
              <a:pathLst>
                <a:path w="1600200" h="9525">
                  <a:moveTo>
                    <a:pt x="0" y="0"/>
                  </a:moveTo>
                  <a:lnTo>
                    <a:pt x="1600200" y="0"/>
                  </a:lnTo>
                </a:path>
              </a:pathLst>
            </a:custGeom>
            <a:noFill/>
            <a:ln w="9525">
              <a:solidFill>
                <a:schemeClr val="accent1"/>
              </a:solidFill>
            </a:ln>
          </p:spPr>
        </p:sp>
        <p:sp>
          <p:nvSpPr>
            <p:cNvPr id="22" name="TextBox 22"/>
            <p:cNvSpPr txBox="1"/>
            <p:nvPr/>
          </p:nvSpPr>
          <p:spPr>
            <a:xfrm>
              <a:off x="2813304" y="2766060"/>
              <a:ext cx="351434"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要问</a:t>
              </a:r>
            </a:p>
          </p:txBody>
        </p:sp>
        <p:sp>
          <p:nvSpPr>
            <p:cNvPr id="23" name="TextBox 23"/>
            <p:cNvSpPr txBox="1"/>
            <p:nvPr/>
          </p:nvSpPr>
          <p:spPr>
            <a:xfrm>
              <a:off x="2813304" y="3013710"/>
              <a:ext cx="1078992" cy="44424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呼吸频率、三凹征、紫绀？</a:t>
              </a:r>
            </a:p>
          </p:txBody>
        </p:sp>
        <p:sp>
          <p:nvSpPr>
            <p:cNvPr id="24" name="TextBox 24"/>
            <p:cNvSpPr txBox="1"/>
            <p:nvPr/>
          </p:nvSpPr>
          <p:spPr>
            <a:xfrm>
              <a:off x="2813304" y="3909060"/>
              <a:ext cx="690677"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危险信号</a:t>
              </a:r>
            </a:p>
          </p:txBody>
        </p:sp>
        <p:sp>
          <p:nvSpPr>
            <p:cNvPr id="25" name="TextBox 25"/>
            <p:cNvSpPr txBox="1"/>
            <p:nvPr/>
          </p:nvSpPr>
          <p:spPr>
            <a:xfrm>
              <a:off x="2813304" y="4156710"/>
              <a:ext cx="774192" cy="65379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呼吸暂停、点头呼吸、SpO₂ 下降</a:t>
              </a:r>
            </a:p>
          </p:txBody>
        </p:sp>
        <p:sp>
          <p:nvSpPr>
            <p:cNvPr id="26" name="Line 26"/>
            <p:cNvSpPr/>
            <p:nvPr/>
          </p:nvSpPr>
          <p:spPr>
            <a:xfrm>
              <a:off x="2819400" y="5219700"/>
              <a:ext cx="1600200" cy="9525"/>
            </a:xfrm>
            <a:custGeom>
              <a:avLst/>
              <a:gdLst/>
              <a:ahLst/>
              <a:cxnLst/>
              <a:rect l="l" t="t" r="r" b="b"/>
              <a:pathLst>
                <a:path w="1600200" h="9525">
                  <a:moveTo>
                    <a:pt x="0" y="0"/>
                  </a:moveTo>
                  <a:lnTo>
                    <a:pt x="1600200" y="0"/>
                  </a:lnTo>
                </a:path>
              </a:pathLst>
            </a:custGeom>
            <a:noFill/>
            <a:ln w="9525">
              <a:solidFill>
                <a:schemeClr val="dk1">
                  <a:alpha val="15000"/>
                </a:schemeClr>
              </a:solidFill>
            </a:ln>
          </p:spPr>
        </p:sp>
        <p:sp>
          <p:nvSpPr>
            <p:cNvPr id="27" name="TextBox 27"/>
            <p:cNvSpPr txBox="1"/>
            <p:nvPr/>
          </p:nvSpPr>
          <p:spPr>
            <a:xfrm>
              <a:off x="2811780" y="5381625"/>
              <a:ext cx="863346"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先保氧合</a:t>
              </a:r>
            </a:p>
          </p:txBody>
        </p:sp>
      </p:grpSp>
      <p:grpSp>
        <p:nvGrpSpPr>
          <p:cNvPr id="40" name="Group 40"/>
          <p:cNvGrpSpPr/>
          <p:nvPr/>
        </p:nvGrpSpPr>
        <p:grpSpPr>
          <a:xfrm>
            <a:off x="4953000" y="1524000"/>
            <a:ext cx="1905000" cy="4286250"/>
            <a:chOff x="4953000" y="1524000"/>
            <a:chExt cx="1905000" cy="4286250"/>
          </a:xfrm>
        </p:grpSpPr>
        <p:sp>
          <p:nvSpPr>
            <p:cNvPr id="29" name="Rectangle 29"/>
            <p:cNvSpPr/>
            <p:nvPr/>
          </p:nvSpPr>
          <p:spPr>
            <a:xfrm>
              <a:off x="4953000" y="1524000"/>
              <a:ext cx="1905000" cy="4286250"/>
            </a:xfrm>
            <a:prstGeom prst="rect">
              <a:avLst/>
            </a:prstGeom>
            <a:solidFill>
              <a:schemeClr val="lt2"/>
            </a:solidFill>
            <a:ln>
              <a:noFill/>
            </a:ln>
          </p:spPr>
        </p:sp>
        <p:sp>
          <p:nvSpPr>
            <p:cNvPr id="30" name="Rectangle 30"/>
            <p:cNvSpPr/>
            <p:nvPr/>
          </p:nvSpPr>
          <p:spPr>
            <a:xfrm>
              <a:off x="4953000" y="1524000"/>
              <a:ext cx="1905000" cy="57150"/>
            </a:xfrm>
            <a:prstGeom prst="rect">
              <a:avLst/>
            </a:prstGeom>
            <a:solidFill>
              <a:schemeClr val="accent1"/>
            </a:solidFill>
            <a:ln>
              <a:noFill/>
            </a:ln>
          </p:spPr>
        </p:sp>
        <p:sp>
          <p:nvSpPr>
            <p:cNvPr id="31" name="TextBox 31"/>
            <p:cNvSpPr txBox="1"/>
            <p:nvPr/>
          </p:nvSpPr>
          <p:spPr>
            <a:xfrm>
              <a:off x="5089398" y="1717358"/>
              <a:ext cx="290756"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C</a:t>
              </a:r>
            </a:p>
          </p:txBody>
        </p:sp>
        <p:sp>
          <p:nvSpPr>
            <p:cNvPr id="32" name="TextBox 32"/>
            <p:cNvSpPr txBox="1"/>
            <p:nvPr/>
          </p:nvSpPr>
          <p:spPr>
            <a:xfrm>
              <a:off x="5096256" y="2225040"/>
              <a:ext cx="5271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循环</a:t>
              </a:r>
            </a:p>
          </p:txBody>
        </p:sp>
        <p:sp>
          <p:nvSpPr>
            <p:cNvPr id="33" name="Line 33"/>
            <p:cNvSpPr/>
            <p:nvPr/>
          </p:nvSpPr>
          <p:spPr>
            <a:xfrm>
              <a:off x="5105400" y="2609850"/>
              <a:ext cx="1600200" cy="9525"/>
            </a:xfrm>
            <a:custGeom>
              <a:avLst/>
              <a:gdLst/>
              <a:ahLst/>
              <a:cxnLst/>
              <a:rect l="l" t="t" r="r" b="b"/>
              <a:pathLst>
                <a:path w="1600200" h="9525">
                  <a:moveTo>
                    <a:pt x="0" y="0"/>
                  </a:moveTo>
                  <a:lnTo>
                    <a:pt x="1600200" y="0"/>
                  </a:lnTo>
                </a:path>
              </a:pathLst>
            </a:custGeom>
            <a:noFill/>
            <a:ln w="9525">
              <a:solidFill>
                <a:schemeClr val="accent1"/>
              </a:solidFill>
            </a:ln>
          </p:spPr>
        </p:sp>
        <p:sp>
          <p:nvSpPr>
            <p:cNvPr id="34" name="TextBox 34"/>
            <p:cNvSpPr txBox="1"/>
            <p:nvPr/>
          </p:nvSpPr>
          <p:spPr>
            <a:xfrm>
              <a:off x="5099304" y="2766060"/>
              <a:ext cx="351434"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要问</a:t>
              </a:r>
            </a:p>
          </p:txBody>
        </p:sp>
        <p:sp>
          <p:nvSpPr>
            <p:cNvPr id="35" name="TextBox 35"/>
            <p:cNvSpPr txBox="1"/>
            <p:nvPr/>
          </p:nvSpPr>
          <p:spPr>
            <a:xfrm>
              <a:off x="5099304" y="3013710"/>
              <a:ext cx="926592" cy="44424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心率、灌注、血压？</a:t>
              </a:r>
            </a:p>
          </p:txBody>
        </p:sp>
        <p:sp>
          <p:nvSpPr>
            <p:cNvPr id="36" name="TextBox 36"/>
            <p:cNvSpPr txBox="1"/>
            <p:nvPr/>
          </p:nvSpPr>
          <p:spPr>
            <a:xfrm>
              <a:off x="5099304" y="3909060"/>
              <a:ext cx="690677"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危险信号</a:t>
              </a:r>
            </a:p>
          </p:txBody>
        </p:sp>
        <p:sp>
          <p:nvSpPr>
            <p:cNvPr id="37" name="TextBox 37"/>
            <p:cNvSpPr txBox="1"/>
            <p:nvPr/>
          </p:nvSpPr>
          <p:spPr>
            <a:xfrm>
              <a:off x="5099304" y="4156710"/>
              <a:ext cx="926592" cy="44424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心动过缓、花斑、低血压</a:t>
              </a:r>
            </a:p>
          </p:txBody>
        </p:sp>
        <p:sp>
          <p:nvSpPr>
            <p:cNvPr id="38" name="Line 38"/>
            <p:cNvSpPr/>
            <p:nvPr/>
          </p:nvSpPr>
          <p:spPr>
            <a:xfrm>
              <a:off x="5105400" y="5219700"/>
              <a:ext cx="1600200" cy="9525"/>
            </a:xfrm>
            <a:custGeom>
              <a:avLst/>
              <a:gdLst/>
              <a:ahLst/>
              <a:cxnLst/>
              <a:rect l="l" t="t" r="r" b="b"/>
              <a:pathLst>
                <a:path w="1600200" h="9525">
                  <a:moveTo>
                    <a:pt x="0" y="0"/>
                  </a:moveTo>
                  <a:lnTo>
                    <a:pt x="1600200" y="0"/>
                  </a:lnTo>
                </a:path>
              </a:pathLst>
            </a:custGeom>
            <a:noFill/>
            <a:ln w="9525">
              <a:solidFill>
                <a:schemeClr val="dk1">
                  <a:alpha val="15000"/>
                </a:schemeClr>
              </a:solidFill>
            </a:ln>
          </p:spPr>
        </p:sp>
        <p:sp>
          <p:nvSpPr>
            <p:cNvPr id="39" name="TextBox 39"/>
            <p:cNvSpPr txBox="1"/>
            <p:nvPr/>
          </p:nvSpPr>
          <p:spPr>
            <a:xfrm>
              <a:off x="5097780" y="5381625"/>
              <a:ext cx="863346"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先保灌注</a:t>
              </a:r>
            </a:p>
          </p:txBody>
        </p:sp>
      </p:grpSp>
      <p:grpSp>
        <p:nvGrpSpPr>
          <p:cNvPr id="52" name="Group 52"/>
          <p:cNvGrpSpPr/>
          <p:nvPr/>
        </p:nvGrpSpPr>
        <p:grpSpPr>
          <a:xfrm>
            <a:off x="7239000" y="1524000"/>
            <a:ext cx="1905000" cy="4286250"/>
            <a:chOff x="7239000" y="1524000"/>
            <a:chExt cx="1905000" cy="4286250"/>
          </a:xfrm>
        </p:grpSpPr>
        <p:sp>
          <p:nvSpPr>
            <p:cNvPr id="41" name="Rectangle 41"/>
            <p:cNvSpPr/>
            <p:nvPr/>
          </p:nvSpPr>
          <p:spPr>
            <a:xfrm>
              <a:off x="7239000" y="1524000"/>
              <a:ext cx="1905000" cy="4286250"/>
            </a:xfrm>
            <a:prstGeom prst="rect">
              <a:avLst/>
            </a:prstGeom>
            <a:solidFill>
              <a:schemeClr val="lt2"/>
            </a:solidFill>
            <a:ln>
              <a:noFill/>
            </a:ln>
          </p:spPr>
        </p:sp>
        <p:sp>
          <p:nvSpPr>
            <p:cNvPr id="42" name="Rectangle 42"/>
            <p:cNvSpPr/>
            <p:nvPr/>
          </p:nvSpPr>
          <p:spPr>
            <a:xfrm>
              <a:off x="7239000" y="1524000"/>
              <a:ext cx="1905000" cy="57150"/>
            </a:xfrm>
            <a:prstGeom prst="rect">
              <a:avLst/>
            </a:prstGeom>
            <a:solidFill>
              <a:schemeClr val="accent1"/>
            </a:solidFill>
            <a:ln>
              <a:noFill/>
            </a:ln>
          </p:spPr>
        </p:sp>
        <p:sp>
          <p:nvSpPr>
            <p:cNvPr id="43" name="TextBox 43"/>
            <p:cNvSpPr txBox="1"/>
            <p:nvPr/>
          </p:nvSpPr>
          <p:spPr>
            <a:xfrm>
              <a:off x="7375398" y="1717358"/>
              <a:ext cx="290756"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D</a:t>
              </a:r>
            </a:p>
          </p:txBody>
        </p:sp>
        <p:sp>
          <p:nvSpPr>
            <p:cNvPr id="44" name="TextBox 44"/>
            <p:cNvSpPr txBox="1"/>
            <p:nvPr/>
          </p:nvSpPr>
          <p:spPr>
            <a:xfrm>
              <a:off x="7382256" y="2225040"/>
              <a:ext cx="5271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意识</a:t>
              </a:r>
            </a:p>
          </p:txBody>
        </p:sp>
        <p:sp>
          <p:nvSpPr>
            <p:cNvPr id="45" name="Line 45"/>
            <p:cNvSpPr/>
            <p:nvPr/>
          </p:nvSpPr>
          <p:spPr>
            <a:xfrm>
              <a:off x="7391400" y="2609850"/>
              <a:ext cx="1600200" cy="9525"/>
            </a:xfrm>
            <a:custGeom>
              <a:avLst/>
              <a:gdLst/>
              <a:ahLst/>
              <a:cxnLst/>
              <a:rect l="l" t="t" r="r" b="b"/>
              <a:pathLst>
                <a:path w="1600200" h="9525">
                  <a:moveTo>
                    <a:pt x="0" y="0"/>
                  </a:moveTo>
                  <a:lnTo>
                    <a:pt x="1600200" y="0"/>
                  </a:lnTo>
                </a:path>
              </a:pathLst>
            </a:custGeom>
            <a:noFill/>
            <a:ln w="9525">
              <a:solidFill>
                <a:schemeClr val="accent1"/>
              </a:solidFill>
            </a:ln>
          </p:spPr>
        </p:sp>
        <p:sp>
          <p:nvSpPr>
            <p:cNvPr id="46" name="TextBox 46"/>
            <p:cNvSpPr txBox="1"/>
            <p:nvPr/>
          </p:nvSpPr>
          <p:spPr>
            <a:xfrm>
              <a:off x="7385304" y="2766060"/>
              <a:ext cx="351434"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要问</a:t>
              </a:r>
            </a:p>
          </p:txBody>
        </p:sp>
        <p:sp>
          <p:nvSpPr>
            <p:cNvPr id="47" name="TextBox 47"/>
            <p:cNvSpPr txBox="1"/>
            <p:nvPr/>
          </p:nvSpPr>
          <p:spPr>
            <a:xfrm>
              <a:off x="7385304" y="3013710"/>
              <a:ext cx="1078992" cy="44424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清醒程度、反应与肌张力？</a:t>
              </a:r>
            </a:p>
          </p:txBody>
        </p:sp>
        <p:sp>
          <p:nvSpPr>
            <p:cNvPr id="48" name="TextBox 48"/>
            <p:cNvSpPr txBox="1"/>
            <p:nvPr/>
          </p:nvSpPr>
          <p:spPr>
            <a:xfrm>
              <a:off x="7385304" y="3909060"/>
              <a:ext cx="690677"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危险信号</a:t>
              </a:r>
            </a:p>
          </p:txBody>
        </p:sp>
        <p:sp>
          <p:nvSpPr>
            <p:cNvPr id="49" name="TextBox 49"/>
            <p:cNvSpPr txBox="1"/>
            <p:nvPr/>
          </p:nvSpPr>
          <p:spPr>
            <a:xfrm>
              <a:off x="7385304" y="4156710"/>
              <a:ext cx="926592" cy="44424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嗜睡、昏迷、抽搐</a:t>
              </a:r>
            </a:p>
          </p:txBody>
        </p:sp>
        <p:sp>
          <p:nvSpPr>
            <p:cNvPr id="50" name="Line 50"/>
            <p:cNvSpPr/>
            <p:nvPr/>
          </p:nvSpPr>
          <p:spPr>
            <a:xfrm>
              <a:off x="7391400" y="5219700"/>
              <a:ext cx="1600200" cy="9525"/>
            </a:xfrm>
            <a:custGeom>
              <a:avLst/>
              <a:gdLst/>
              <a:ahLst/>
              <a:cxnLst/>
              <a:rect l="l" t="t" r="r" b="b"/>
              <a:pathLst>
                <a:path w="1600200" h="9525">
                  <a:moveTo>
                    <a:pt x="0" y="0"/>
                  </a:moveTo>
                  <a:lnTo>
                    <a:pt x="1600200" y="0"/>
                  </a:lnTo>
                </a:path>
              </a:pathLst>
            </a:custGeom>
            <a:noFill/>
            <a:ln w="9525">
              <a:solidFill>
                <a:schemeClr val="dk1">
                  <a:alpha val="15000"/>
                </a:schemeClr>
              </a:solidFill>
            </a:ln>
          </p:spPr>
        </p:sp>
        <p:sp>
          <p:nvSpPr>
            <p:cNvPr id="51" name="TextBox 51"/>
            <p:cNvSpPr txBox="1"/>
            <p:nvPr/>
          </p:nvSpPr>
          <p:spPr>
            <a:xfrm>
              <a:off x="7383780" y="5381625"/>
              <a:ext cx="863346"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先保反应</a:t>
              </a:r>
            </a:p>
          </p:txBody>
        </p:sp>
      </p:grpSp>
      <p:grpSp>
        <p:nvGrpSpPr>
          <p:cNvPr id="64" name="Group 64"/>
          <p:cNvGrpSpPr/>
          <p:nvPr/>
        </p:nvGrpSpPr>
        <p:grpSpPr>
          <a:xfrm>
            <a:off x="9525000" y="1524000"/>
            <a:ext cx="1905000" cy="4286250"/>
            <a:chOff x="9525000" y="1524000"/>
            <a:chExt cx="1905000" cy="4286250"/>
          </a:xfrm>
        </p:grpSpPr>
        <p:sp>
          <p:nvSpPr>
            <p:cNvPr id="53" name="Rectangle 53"/>
            <p:cNvSpPr/>
            <p:nvPr/>
          </p:nvSpPr>
          <p:spPr>
            <a:xfrm>
              <a:off x="9525000" y="1524000"/>
              <a:ext cx="1905000" cy="4286250"/>
            </a:xfrm>
            <a:prstGeom prst="rect">
              <a:avLst/>
            </a:prstGeom>
            <a:solidFill>
              <a:schemeClr val="lt2"/>
            </a:solidFill>
            <a:ln>
              <a:noFill/>
            </a:ln>
          </p:spPr>
        </p:sp>
        <p:sp>
          <p:nvSpPr>
            <p:cNvPr id="54" name="Rectangle 54"/>
            <p:cNvSpPr/>
            <p:nvPr/>
          </p:nvSpPr>
          <p:spPr>
            <a:xfrm>
              <a:off x="9525000" y="1524000"/>
              <a:ext cx="1905000" cy="57150"/>
            </a:xfrm>
            <a:prstGeom prst="rect">
              <a:avLst/>
            </a:prstGeom>
            <a:solidFill>
              <a:schemeClr val="accent2"/>
            </a:solidFill>
            <a:ln>
              <a:noFill/>
            </a:ln>
          </p:spPr>
        </p:sp>
        <p:sp>
          <p:nvSpPr>
            <p:cNvPr id="55" name="TextBox 55"/>
            <p:cNvSpPr txBox="1"/>
            <p:nvPr/>
          </p:nvSpPr>
          <p:spPr>
            <a:xfrm>
              <a:off x="9661398" y="1717358"/>
              <a:ext cx="290756"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E</a:t>
              </a:r>
            </a:p>
          </p:txBody>
        </p:sp>
        <p:sp>
          <p:nvSpPr>
            <p:cNvPr id="56" name="TextBox 56"/>
            <p:cNvSpPr txBox="1"/>
            <p:nvPr/>
          </p:nvSpPr>
          <p:spPr>
            <a:xfrm>
              <a:off x="9668256" y="2225040"/>
              <a:ext cx="5271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暴露</a:t>
              </a:r>
            </a:p>
          </p:txBody>
        </p:sp>
        <p:sp>
          <p:nvSpPr>
            <p:cNvPr id="57" name="Line 57"/>
            <p:cNvSpPr/>
            <p:nvPr/>
          </p:nvSpPr>
          <p:spPr>
            <a:xfrm>
              <a:off x="9677400" y="2609850"/>
              <a:ext cx="1600200" cy="9525"/>
            </a:xfrm>
            <a:custGeom>
              <a:avLst/>
              <a:gdLst/>
              <a:ahLst/>
              <a:cxnLst/>
              <a:rect l="l" t="t" r="r" b="b"/>
              <a:pathLst>
                <a:path w="1600200" h="9525">
                  <a:moveTo>
                    <a:pt x="0" y="0"/>
                  </a:moveTo>
                  <a:lnTo>
                    <a:pt x="1600200" y="0"/>
                  </a:lnTo>
                </a:path>
              </a:pathLst>
            </a:custGeom>
            <a:noFill/>
            <a:ln w="9525">
              <a:solidFill>
                <a:schemeClr val="accent1"/>
              </a:solidFill>
            </a:ln>
          </p:spPr>
        </p:sp>
        <p:sp>
          <p:nvSpPr>
            <p:cNvPr id="58" name="TextBox 58"/>
            <p:cNvSpPr txBox="1"/>
            <p:nvPr/>
          </p:nvSpPr>
          <p:spPr>
            <a:xfrm>
              <a:off x="9671304" y="2766060"/>
              <a:ext cx="351434"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要问</a:t>
              </a:r>
            </a:p>
          </p:txBody>
        </p:sp>
        <p:sp>
          <p:nvSpPr>
            <p:cNvPr id="59" name="TextBox 59"/>
            <p:cNvSpPr txBox="1"/>
            <p:nvPr/>
          </p:nvSpPr>
          <p:spPr>
            <a:xfrm>
              <a:off x="9671304" y="3013710"/>
              <a:ext cx="926592" cy="44424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皮疹、外伤、胸壁畸形？</a:t>
              </a:r>
            </a:p>
          </p:txBody>
        </p:sp>
        <p:sp>
          <p:nvSpPr>
            <p:cNvPr id="60" name="TextBox 60"/>
            <p:cNvSpPr txBox="1"/>
            <p:nvPr/>
          </p:nvSpPr>
          <p:spPr>
            <a:xfrm>
              <a:off x="9671304" y="3909060"/>
              <a:ext cx="690677"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危险信号</a:t>
              </a:r>
            </a:p>
          </p:txBody>
        </p:sp>
        <p:sp>
          <p:nvSpPr>
            <p:cNvPr id="61" name="TextBox 61"/>
            <p:cNvSpPr txBox="1"/>
            <p:nvPr/>
          </p:nvSpPr>
          <p:spPr>
            <a:xfrm>
              <a:off x="9671304" y="4156710"/>
              <a:ext cx="926592" cy="44424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紫绀、瘀斑、胸壁反常运动</a:t>
              </a:r>
            </a:p>
          </p:txBody>
        </p:sp>
        <p:sp>
          <p:nvSpPr>
            <p:cNvPr id="62" name="Line 62"/>
            <p:cNvSpPr/>
            <p:nvPr/>
          </p:nvSpPr>
          <p:spPr>
            <a:xfrm>
              <a:off x="9677400" y="5219700"/>
              <a:ext cx="1600200" cy="9525"/>
            </a:xfrm>
            <a:custGeom>
              <a:avLst/>
              <a:gdLst/>
              <a:ahLst/>
              <a:cxnLst/>
              <a:rect l="l" t="t" r="r" b="b"/>
              <a:pathLst>
                <a:path w="1600200" h="9525">
                  <a:moveTo>
                    <a:pt x="0" y="0"/>
                  </a:moveTo>
                  <a:lnTo>
                    <a:pt x="1600200" y="0"/>
                  </a:lnTo>
                </a:path>
              </a:pathLst>
            </a:custGeom>
            <a:noFill/>
            <a:ln w="9525">
              <a:solidFill>
                <a:schemeClr val="dk1">
                  <a:alpha val="15000"/>
                </a:schemeClr>
              </a:solidFill>
            </a:ln>
          </p:spPr>
        </p:sp>
        <p:sp>
          <p:nvSpPr>
            <p:cNvPr id="63" name="TextBox 63"/>
            <p:cNvSpPr txBox="1"/>
            <p:nvPr/>
          </p:nvSpPr>
          <p:spPr>
            <a:xfrm>
              <a:off x="9669780" y="5381625"/>
              <a:ext cx="863346"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先找病因</a:t>
              </a:r>
            </a:p>
          </p:txBody>
        </p:sp>
      </p:grpSp>
      <p:grpSp>
        <p:nvGrpSpPr>
          <p:cNvPr id="67" name="Group 67"/>
          <p:cNvGrpSpPr/>
          <p:nvPr/>
        </p:nvGrpSpPr>
        <p:grpSpPr>
          <a:xfrm>
            <a:off x="374142" y="6445568"/>
            <a:ext cx="11443716" cy="264033"/>
            <a:chOff x="374142" y="6445568"/>
            <a:chExt cx="11443716" cy="264033"/>
          </a:xfrm>
        </p:grpSpPr>
        <p:sp>
          <p:nvSpPr>
            <p:cNvPr id="65" name="TextBox 65"/>
            <p:cNvSpPr txBox="1"/>
            <p:nvPr/>
          </p:nvSpPr>
          <p:spPr>
            <a:xfrm>
              <a:off x="374142" y="6445568"/>
              <a:ext cx="1540307"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04 分度与快速评估</a:t>
              </a:r>
            </a:p>
          </p:txBody>
        </p:sp>
        <p:sp>
          <p:nvSpPr>
            <p:cNvPr id="66" name="TextBox 66"/>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12 / 20</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5119116"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四步定位：从病史走到床边</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0" name="Group 10"/>
          <p:cNvGrpSpPr/>
          <p:nvPr/>
        </p:nvGrpSpPr>
        <p:grpSpPr>
          <a:xfrm>
            <a:off x="364998" y="1866900"/>
            <a:ext cx="2397252" cy="2047875"/>
            <a:chOff x="364998" y="1866900"/>
            <a:chExt cx="2397252" cy="2047875"/>
          </a:xfrm>
        </p:grpSpPr>
        <p:sp>
          <p:nvSpPr>
            <p:cNvPr id="5" name="Rectangle 5"/>
            <p:cNvSpPr/>
            <p:nvPr/>
          </p:nvSpPr>
          <p:spPr>
            <a:xfrm>
              <a:off x="381000" y="1866900"/>
              <a:ext cx="2381250" cy="38100"/>
            </a:xfrm>
            <a:prstGeom prst="rect">
              <a:avLst/>
            </a:prstGeom>
            <a:solidFill>
              <a:schemeClr val="accent2"/>
            </a:solidFill>
            <a:ln>
              <a:noFill/>
            </a:ln>
          </p:spPr>
        </p:sp>
        <p:sp>
          <p:nvSpPr>
            <p:cNvPr id="6" name="TextBox 6"/>
            <p:cNvSpPr txBox="1"/>
            <p:nvPr/>
          </p:nvSpPr>
          <p:spPr>
            <a:xfrm>
              <a:off x="364998" y="2060258"/>
              <a:ext cx="521785"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01</a:t>
              </a:r>
            </a:p>
          </p:txBody>
        </p:sp>
        <p:sp>
          <p:nvSpPr>
            <p:cNvPr id="7" name="TextBox 7"/>
            <p:cNvSpPr txBox="1"/>
            <p:nvPr/>
          </p:nvSpPr>
          <p:spPr>
            <a:xfrm>
              <a:off x="371856" y="26631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起病与病程</a:t>
              </a:r>
            </a:p>
          </p:txBody>
        </p:sp>
        <p:sp>
          <p:nvSpPr>
            <p:cNvPr id="8" name="TextBox 8"/>
            <p:cNvSpPr txBox="1"/>
            <p:nvPr/>
          </p:nvSpPr>
          <p:spPr>
            <a:xfrm>
              <a:off x="374142" y="3092768"/>
              <a:ext cx="1213866"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急性 / 慢性诱因与起病方式进展速度</a:t>
              </a:r>
            </a:p>
          </p:txBody>
        </p:sp>
        <p:sp>
          <p:nvSpPr>
            <p:cNvPr id="9" name="Line 9"/>
            <p:cNvSpPr/>
            <p:nvPr/>
          </p:nvSpPr>
          <p:spPr>
            <a:xfrm>
              <a:off x="381000" y="3905250"/>
              <a:ext cx="2381250" cy="9525"/>
            </a:xfrm>
            <a:custGeom>
              <a:avLst/>
              <a:gdLst/>
              <a:ahLst/>
              <a:cxnLst/>
              <a:rect l="l" t="t" r="r" b="b"/>
              <a:pathLst>
                <a:path w="2381250" h="9525">
                  <a:moveTo>
                    <a:pt x="0" y="0"/>
                  </a:moveTo>
                  <a:lnTo>
                    <a:pt x="2381250" y="0"/>
                  </a:lnTo>
                </a:path>
              </a:pathLst>
            </a:custGeom>
            <a:noFill/>
            <a:ln w="9525">
              <a:solidFill>
                <a:schemeClr val="dk1">
                  <a:alpha val="18000"/>
                </a:schemeClr>
              </a:solidFill>
            </a:ln>
          </p:spPr>
        </p:sp>
      </p:grpSp>
      <p:grpSp>
        <p:nvGrpSpPr>
          <p:cNvPr id="12" name="Group 12"/>
          <p:cNvGrpSpPr/>
          <p:nvPr/>
        </p:nvGrpSpPr>
        <p:grpSpPr>
          <a:xfrm>
            <a:off x="2876969" y="2777490"/>
            <a:ext cx="151562" cy="352044"/>
            <a:chOff x="2876969" y="2777490"/>
            <a:chExt cx="151562" cy="352044"/>
          </a:xfrm>
        </p:grpSpPr>
        <p:sp>
          <p:nvSpPr>
            <p:cNvPr id="11" name="TextBox 11"/>
            <p:cNvSpPr txBox="1"/>
            <p:nvPr/>
          </p:nvSpPr>
          <p:spPr>
            <a:xfrm>
              <a:off x="2876969" y="2777490"/>
              <a:ext cx="151562" cy="352044"/>
            </a:xfrm>
            <a:prstGeom prst="rect">
              <a:avLst/>
            </a:prstGeom>
            <a:noFill/>
            <a:ln>
              <a:noFill/>
            </a:ln>
          </p:spPr>
          <p:txBody>
            <a:bodyPr wrap="none" lIns="0" tIns="0" rIns="0" bIns="0" anchor="t" anchorCtr="0">
              <a:spAutoFit/>
            </a:bodyPr>
            <a:lstStyle/>
            <a:p>
              <a:pPr algn="ctr"/>
              <a:r>
                <a:rPr lang="en-US" sz="1800" dirty="0">
                  <a:solidFill>
                    <a:schemeClr val="accent3"/>
                  </a:solidFill>
                  <a:latin typeface="+mn-lt"/>
                  <a:ea typeface="+mn-ea"/>
                  <a:cs typeface="+mn-cs"/>
                </a:rPr>
                <a:t>→</a:t>
              </a:r>
            </a:p>
          </p:txBody>
        </p:sp>
      </p:grpSp>
      <p:grpSp>
        <p:nvGrpSpPr>
          <p:cNvPr id="18" name="Group 18"/>
          <p:cNvGrpSpPr/>
          <p:nvPr/>
        </p:nvGrpSpPr>
        <p:grpSpPr>
          <a:xfrm>
            <a:off x="3127248" y="1866900"/>
            <a:ext cx="2397252" cy="2047875"/>
            <a:chOff x="3127248" y="1866900"/>
            <a:chExt cx="2397252" cy="2047875"/>
          </a:xfrm>
        </p:grpSpPr>
        <p:sp>
          <p:nvSpPr>
            <p:cNvPr id="13" name="Rectangle 13"/>
            <p:cNvSpPr/>
            <p:nvPr/>
          </p:nvSpPr>
          <p:spPr>
            <a:xfrm>
              <a:off x="3143250" y="1866900"/>
              <a:ext cx="2381250" cy="38100"/>
            </a:xfrm>
            <a:prstGeom prst="rect">
              <a:avLst/>
            </a:prstGeom>
            <a:solidFill>
              <a:schemeClr val="accent1"/>
            </a:solidFill>
            <a:ln>
              <a:noFill/>
            </a:ln>
          </p:spPr>
        </p:sp>
        <p:sp>
          <p:nvSpPr>
            <p:cNvPr id="14" name="TextBox 14"/>
            <p:cNvSpPr txBox="1"/>
            <p:nvPr/>
          </p:nvSpPr>
          <p:spPr>
            <a:xfrm>
              <a:off x="3127248" y="2060258"/>
              <a:ext cx="521785"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02</a:t>
              </a:r>
            </a:p>
          </p:txBody>
        </p:sp>
        <p:sp>
          <p:nvSpPr>
            <p:cNvPr id="15" name="TextBox 15"/>
            <p:cNvSpPr txBox="1"/>
            <p:nvPr/>
          </p:nvSpPr>
          <p:spPr>
            <a:xfrm>
              <a:off x="3134106" y="266319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时相定位</a:t>
              </a:r>
            </a:p>
          </p:txBody>
        </p:sp>
        <p:sp>
          <p:nvSpPr>
            <p:cNvPr id="16" name="TextBox 16"/>
            <p:cNvSpPr txBox="1"/>
            <p:nvPr/>
          </p:nvSpPr>
          <p:spPr>
            <a:xfrm>
              <a:off x="3136392" y="3092768"/>
              <a:ext cx="1239583"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吸气性 / 呼气性混合性最快的解剖线索</a:t>
              </a:r>
            </a:p>
          </p:txBody>
        </p:sp>
        <p:sp>
          <p:nvSpPr>
            <p:cNvPr id="17" name="Line 17"/>
            <p:cNvSpPr/>
            <p:nvPr/>
          </p:nvSpPr>
          <p:spPr>
            <a:xfrm>
              <a:off x="3143250" y="3905250"/>
              <a:ext cx="2381250" cy="9525"/>
            </a:xfrm>
            <a:custGeom>
              <a:avLst/>
              <a:gdLst/>
              <a:ahLst/>
              <a:cxnLst/>
              <a:rect l="l" t="t" r="r" b="b"/>
              <a:pathLst>
                <a:path w="2381250" h="9525">
                  <a:moveTo>
                    <a:pt x="0" y="0"/>
                  </a:moveTo>
                  <a:lnTo>
                    <a:pt x="2381250" y="0"/>
                  </a:lnTo>
                </a:path>
              </a:pathLst>
            </a:custGeom>
            <a:noFill/>
            <a:ln w="9525">
              <a:solidFill>
                <a:schemeClr val="dk1">
                  <a:alpha val="18000"/>
                </a:schemeClr>
              </a:solidFill>
            </a:ln>
          </p:spPr>
        </p:sp>
      </p:grpSp>
      <p:grpSp>
        <p:nvGrpSpPr>
          <p:cNvPr id="20" name="Group 20"/>
          <p:cNvGrpSpPr/>
          <p:nvPr/>
        </p:nvGrpSpPr>
        <p:grpSpPr>
          <a:xfrm>
            <a:off x="5639219" y="2777490"/>
            <a:ext cx="151562" cy="352044"/>
            <a:chOff x="5639219" y="2777490"/>
            <a:chExt cx="151562" cy="352044"/>
          </a:xfrm>
        </p:grpSpPr>
        <p:sp>
          <p:nvSpPr>
            <p:cNvPr id="19" name="TextBox 19"/>
            <p:cNvSpPr txBox="1"/>
            <p:nvPr/>
          </p:nvSpPr>
          <p:spPr>
            <a:xfrm>
              <a:off x="5639219" y="2777490"/>
              <a:ext cx="151562" cy="352044"/>
            </a:xfrm>
            <a:prstGeom prst="rect">
              <a:avLst/>
            </a:prstGeom>
            <a:noFill/>
            <a:ln>
              <a:noFill/>
            </a:ln>
          </p:spPr>
          <p:txBody>
            <a:bodyPr wrap="none" lIns="0" tIns="0" rIns="0" bIns="0" anchor="t" anchorCtr="0">
              <a:spAutoFit/>
            </a:bodyPr>
            <a:lstStyle/>
            <a:p>
              <a:pPr algn="ctr"/>
              <a:r>
                <a:rPr lang="en-US" sz="1800" dirty="0">
                  <a:solidFill>
                    <a:schemeClr val="accent3"/>
                  </a:solidFill>
                  <a:latin typeface="+mn-lt"/>
                  <a:ea typeface="+mn-ea"/>
                  <a:cs typeface="+mn-cs"/>
                </a:rPr>
                <a:t>→</a:t>
              </a:r>
            </a:p>
          </p:txBody>
        </p:sp>
      </p:grpSp>
      <p:grpSp>
        <p:nvGrpSpPr>
          <p:cNvPr id="26" name="Group 26"/>
          <p:cNvGrpSpPr/>
          <p:nvPr/>
        </p:nvGrpSpPr>
        <p:grpSpPr>
          <a:xfrm>
            <a:off x="5889498" y="1866900"/>
            <a:ext cx="2397252" cy="2047875"/>
            <a:chOff x="5889498" y="1866900"/>
            <a:chExt cx="2397252" cy="2047875"/>
          </a:xfrm>
        </p:grpSpPr>
        <p:sp>
          <p:nvSpPr>
            <p:cNvPr id="21" name="Rectangle 21"/>
            <p:cNvSpPr/>
            <p:nvPr/>
          </p:nvSpPr>
          <p:spPr>
            <a:xfrm>
              <a:off x="5905500" y="1866900"/>
              <a:ext cx="2381250" cy="38100"/>
            </a:xfrm>
            <a:prstGeom prst="rect">
              <a:avLst/>
            </a:prstGeom>
            <a:solidFill>
              <a:schemeClr val="accent1"/>
            </a:solidFill>
            <a:ln>
              <a:noFill/>
            </a:ln>
          </p:spPr>
        </p:sp>
        <p:sp>
          <p:nvSpPr>
            <p:cNvPr id="22" name="TextBox 22"/>
            <p:cNvSpPr txBox="1"/>
            <p:nvPr/>
          </p:nvSpPr>
          <p:spPr>
            <a:xfrm>
              <a:off x="5889498" y="2060258"/>
              <a:ext cx="521785"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03</a:t>
              </a:r>
            </a:p>
          </p:txBody>
        </p:sp>
        <p:sp>
          <p:nvSpPr>
            <p:cNvPr id="23" name="TextBox 23"/>
            <p:cNvSpPr txBox="1"/>
            <p:nvPr/>
          </p:nvSpPr>
          <p:spPr>
            <a:xfrm>
              <a:off x="5896356" y="266319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伴随症状</a:t>
              </a:r>
            </a:p>
          </p:txBody>
        </p:sp>
        <p:sp>
          <p:nvSpPr>
            <p:cNvPr id="24" name="TextBox 24"/>
            <p:cNvSpPr txBox="1"/>
            <p:nvPr/>
          </p:nvSpPr>
          <p:spPr>
            <a:xfrm>
              <a:off x="5898642" y="3092768"/>
              <a:ext cx="1385316"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发热、咳嗽、喘息紫绀、意识改变喂养与活动耐受</a:t>
              </a:r>
            </a:p>
          </p:txBody>
        </p:sp>
        <p:sp>
          <p:nvSpPr>
            <p:cNvPr id="25" name="Line 25"/>
            <p:cNvSpPr/>
            <p:nvPr/>
          </p:nvSpPr>
          <p:spPr>
            <a:xfrm>
              <a:off x="5905500" y="3905250"/>
              <a:ext cx="2381250" cy="9525"/>
            </a:xfrm>
            <a:custGeom>
              <a:avLst/>
              <a:gdLst/>
              <a:ahLst/>
              <a:cxnLst/>
              <a:rect l="l" t="t" r="r" b="b"/>
              <a:pathLst>
                <a:path w="2381250" h="9525">
                  <a:moveTo>
                    <a:pt x="0" y="0"/>
                  </a:moveTo>
                  <a:lnTo>
                    <a:pt x="2381250" y="0"/>
                  </a:lnTo>
                </a:path>
              </a:pathLst>
            </a:custGeom>
            <a:noFill/>
            <a:ln w="9525">
              <a:solidFill>
                <a:schemeClr val="dk1">
                  <a:alpha val="18000"/>
                </a:schemeClr>
              </a:solidFill>
            </a:ln>
          </p:spPr>
        </p:sp>
      </p:grpSp>
      <p:grpSp>
        <p:nvGrpSpPr>
          <p:cNvPr id="28" name="Group 28"/>
          <p:cNvGrpSpPr/>
          <p:nvPr/>
        </p:nvGrpSpPr>
        <p:grpSpPr>
          <a:xfrm>
            <a:off x="8401469" y="2777490"/>
            <a:ext cx="151562" cy="352044"/>
            <a:chOff x="8401469" y="2777490"/>
            <a:chExt cx="151562" cy="352044"/>
          </a:xfrm>
        </p:grpSpPr>
        <p:sp>
          <p:nvSpPr>
            <p:cNvPr id="27" name="TextBox 27"/>
            <p:cNvSpPr txBox="1"/>
            <p:nvPr/>
          </p:nvSpPr>
          <p:spPr>
            <a:xfrm>
              <a:off x="8401469" y="2777490"/>
              <a:ext cx="151562" cy="352044"/>
            </a:xfrm>
            <a:prstGeom prst="rect">
              <a:avLst/>
            </a:prstGeom>
            <a:noFill/>
            <a:ln>
              <a:noFill/>
            </a:ln>
          </p:spPr>
          <p:txBody>
            <a:bodyPr wrap="none" lIns="0" tIns="0" rIns="0" bIns="0" anchor="t" anchorCtr="0">
              <a:spAutoFit/>
            </a:bodyPr>
            <a:lstStyle/>
            <a:p>
              <a:pPr algn="ctr"/>
              <a:r>
                <a:rPr lang="en-US" sz="1800" dirty="0">
                  <a:solidFill>
                    <a:schemeClr val="accent3"/>
                  </a:solidFill>
                  <a:latin typeface="+mn-lt"/>
                  <a:ea typeface="+mn-ea"/>
                  <a:cs typeface="+mn-cs"/>
                </a:rPr>
                <a:t>→</a:t>
              </a:r>
            </a:p>
          </p:txBody>
        </p:sp>
      </p:grpSp>
      <p:grpSp>
        <p:nvGrpSpPr>
          <p:cNvPr id="34" name="Group 34"/>
          <p:cNvGrpSpPr/>
          <p:nvPr/>
        </p:nvGrpSpPr>
        <p:grpSpPr>
          <a:xfrm>
            <a:off x="8651748" y="1866900"/>
            <a:ext cx="2397252" cy="2047875"/>
            <a:chOff x="8651748" y="1866900"/>
            <a:chExt cx="2397252" cy="2047875"/>
          </a:xfrm>
        </p:grpSpPr>
        <p:sp>
          <p:nvSpPr>
            <p:cNvPr id="29" name="Rectangle 29"/>
            <p:cNvSpPr/>
            <p:nvPr/>
          </p:nvSpPr>
          <p:spPr>
            <a:xfrm>
              <a:off x="8667750" y="1866900"/>
              <a:ext cx="2381250" cy="38100"/>
            </a:xfrm>
            <a:prstGeom prst="rect">
              <a:avLst/>
            </a:prstGeom>
            <a:solidFill>
              <a:schemeClr val="accent1"/>
            </a:solidFill>
            <a:ln>
              <a:noFill/>
            </a:ln>
          </p:spPr>
        </p:sp>
        <p:sp>
          <p:nvSpPr>
            <p:cNvPr id="30" name="TextBox 30"/>
            <p:cNvSpPr txBox="1"/>
            <p:nvPr/>
          </p:nvSpPr>
          <p:spPr>
            <a:xfrm>
              <a:off x="8651748" y="2060258"/>
              <a:ext cx="521785"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04</a:t>
              </a:r>
            </a:p>
          </p:txBody>
        </p:sp>
        <p:sp>
          <p:nvSpPr>
            <p:cNvPr id="31" name="TextBox 31"/>
            <p:cNvSpPr txBox="1"/>
            <p:nvPr/>
          </p:nvSpPr>
          <p:spPr>
            <a:xfrm>
              <a:off x="8658606" y="2663190"/>
              <a:ext cx="20537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既往史与治疗反应</a:t>
              </a:r>
            </a:p>
          </p:txBody>
        </p:sp>
        <p:sp>
          <p:nvSpPr>
            <p:cNvPr id="32" name="TextBox 32"/>
            <p:cNvSpPr txBox="1"/>
            <p:nvPr/>
          </p:nvSpPr>
          <p:spPr>
            <a:xfrm>
              <a:off x="8660892" y="3092768"/>
              <a:ext cx="1411033"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反复喘息、先心病免疫缺陷、异物史抗感染 / 平喘反应</a:t>
              </a:r>
            </a:p>
          </p:txBody>
        </p:sp>
        <p:sp>
          <p:nvSpPr>
            <p:cNvPr id="33" name="Line 33"/>
            <p:cNvSpPr/>
            <p:nvPr/>
          </p:nvSpPr>
          <p:spPr>
            <a:xfrm>
              <a:off x="8667750" y="3905250"/>
              <a:ext cx="2381250" cy="9525"/>
            </a:xfrm>
            <a:custGeom>
              <a:avLst/>
              <a:gdLst/>
              <a:ahLst/>
              <a:cxnLst/>
              <a:rect l="l" t="t" r="r" b="b"/>
              <a:pathLst>
                <a:path w="2381250" h="9525">
                  <a:moveTo>
                    <a:pt x="0" y="0"/>
                  </a:moveTo>
                  <a:lnTo>
                    <a:pt x="2381250" y="0"/>
                  </a:lnTo>
                </a:path>
              </a:pathLst>
            </a:custGeom>
            <a:noFill/>
            <a:ln w="9525">
              <a:solidFill>
                <a:schemeClr val="dk1">
                  <a:alpha val="18000"/>
                </a:schemeClr>
              </a:solidFill>
            </a:ln>
          </p:spPr>
        </p:sp>
      </p:grpSp>
      <p:grpSp>
        <p:nvGrpSpPr>
          <p:cNvPr id="41" name="Group 41"/>
          <p:cNvGrpSpPr/>
          <p:nvPr/>
        </p:nvGrpSpPr>
        <p:grpSpPr>
          <a:xfrm>
            <a:off x="1495425" y="4286250"/>
            <a:ext cx="8372475" cy="2080451"/>
            <a:chOff x="1495425" y="4286250"/>
            <a:chExt cx="8372475" cy="2080451"/>
          </a:xfrm>
        </p:grpSpPr>
        <p:sp>
          <p:nvSpPr>
            <p:cNvPr id="35" name="Line 35"/>
            <p:cNvSpPr/>
            <p:nvPr/>
          </p:nvSpPr>
          <p:spPr>
            <a:xfrm>
              <a:off x="9858375" y="4286250"/>
              <a:ext cx="9525" cy="1619250"/>
            </a:xfrm>
            <a:custGeom>
              <a:avLst/>
              <a:gdLst/>
              <a:ahLst/>
              <a:cxnLst/>
              <a:rect l="l" t="t" r="r" b="b"/>
              <a:pathLst>
                <a:path w="9525" h="1619250">
                  <a:moveTo>
                    <a:pt x="0" y="0"/>
                  </a:moveTo>
                  <a:lnTo>
                    <a:pt x="0" y="1619250"/>
                  </a:lnTo>
                </a:path>
              </a:pathLst>
            </a:custGeom>
            <a:noFill/>
            <a:ln w="19050">
              <a:solidFill>
                <a:schemeClr val="accent3"/>
              </a:solidFill>
              <a:custDash>
                <a:ds d="300000" sp="300000"/>
              </a:custDash>
            </a:ln>
          </p:spPr>
        </p:sp>
        <p:sp>
          <p:nvSpPr>
            <p:cNvPr id="36" name="Line 36"/>
            <p:cNvSpPr/>
            <p:nvPr/>
          </p:nvSpPr>
          <p:spPr>
            <a:xfrm>
              <a:off x="1571625" y="5905500"/>
              <a:ext cx="8286750" cy="9525"/>
            </a:xfrm>
            <a:custGeom>
              <a:avLst/>
              <a:gdLst/>
              <a:ahLst/>
              <a:cxnLst/>
              <a:rect l="l" t="t" r="r" b="b"/>
              <a:pathLst>
                <a:path w="8286750" h="9525">
                  <a:moveTo>
                    <a:pt x="8286750" y="0"/>
                  </a:moveTo>
                  <a:lnTo>
                    <a:pt x="0" y="0"/>
                  </a:lnTo>
                </a:path>
              </a:pathLst>
            </a:custGeom>
            <a:noFill/>
            <a:ln w="19050">
              <a:solidFill>
                <a:schemeClr val="accent3"/>
              </a:solidFill>
              <a:custDash>
                <a:ds d="300000" sp="300000"/>
              </a:custDash>
            </a:ln>
          </p:spPr>
        </p:sp>
        <p:sp>
          <p:nvSpPr>
            <p:cNvPr id="37" name="Line 37"/>
            <p:cNvSpPr/>
            <p:nvPr/>
          </p:nvSpPr>
          <p:spPr>
            <a:xfrm>
              <a:off x="1571625" y="4686300"/>
              <a:ext cx="9525" cy="1219200"/>
            </a:xfrm>
            <a:custGeom>
              <a:avLst/>
              <a:gdLst/>
              <a:ahLst/>
              <a:cxnLst/>
              <a:rect l="l" t="t" r="r" b="b"/>
              <a:pathLst>
                <a:path w="9525" h="1219200">
                  <a:moveTo>
                    <a:pt x="0" y="1219200"/>
                  </a:moveTo>
                  <a:lnTo>
                    <a:pt x="0" y="0"/>
                  </a:lnTo>
                </a:path>
              </a:pathLst>
            </a:custGeom>
            <a:noFill/>
            <a:ln w="19050">
              <a:solidFill>
                <a:schemeClr val="accent3"/>
              </a:solidFill>
              <a:custDash>
                <a:ds d="300000" sp="300000"/>
              </a:custDash>
            </a:ln>
          </p:spPr>
        </p:sp>
        <p:sp>
          <p:nvSpPr>
            <p:cNvPr id="38" name="Polygon 38"/>
            <p:cNvSpPr/>
            <p:nvPr/>
          </p:nvSpPr>
          <p:spPr>
            <a:xfrm>
              <a:off x="1495425" y="4457700"/>
              <a:ext cx="152400" cy="228600"/>
            </a:xfrm>
            <a:custGeom>
              <a:avLst/>
              <a:gdLst/>
              <a:ahLst/>
              <a:cxnLst/>
              <a:rect l="l" t="t" r="r" b="b"/>
              <a:pathLst>
                <a:path w="152400" h="228600">
                  <a:moveTo>
                    <a:pt x="0" y="228600"/>
                  </a:moveTo>
                  <a:lnTo>
                    <a:pt x="76200" y="0"/>
                  </a:lnTo>
                  <a:lnTo>
                    <a:pt x="152400" y="228600"/>
                  </a:lnTo>
                  <a:close/>
                </a:path>
              </a:pathLst>
            </a:custGeom>
            <a:solidFill>
              <a:schemeClr val="accent3"/>
            </a:solidFill>
            <a:ln>
              <a:noFill/>
            </a:ln>
          </p:spPr>
        </p:sp>
        <p:sp>
          <p:nvSpPr>
            <p:cNvPr id="39" name="TextBox 39"/>
            <p:cNvSpPr txBox="1"/>
            <p:nvPr/>
          </p:nvSpPr>
          <p:spPr>
            <a:xfrm>
              <a:off x="1755267" y="5569268"/>
              <a:ext cx="74066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信息不足</a:t>
              </a:r>
            </a:p>
          </p:txBody>
        </p:sp>
        <p:sp>
          <p:nvSpPr>
            <p:cNvPr id="40" name="TextBox 40"/>
            <p:cNvSpPr txBox="1"/>
            <p:nvPr/>
          </p:nvSpPr>
          <p:spPr>
            <a:xfrm>
              <a:off x="3908298" y="6102668"/>
              <a:ext cx="4375404" cy="264033"/>
            </a:xfrm>
            <a:prstGeom prst="rect">
              <a:avLst/>
            </a:prstGeom>
            <a:noFill/>
            <a:ln>
              <a:noFill/>
            </a:ln>
          </p:spPr>
          <p:txBody>
            <a:bodyPr wrap="none" lIns="0" tIns="0" rIns="0" bIns="0" anchor="t" anchorCtr="0">
              <a:spAutoFit/>
            </a:bodyPr>
            <a:lstStyle/>
            <a:p>
              <a:pPr algn="ctr"/>
              <a:r>
                <a:rPr lang="zh-CN" sz="1350" dirty="0">
                  <a:solidFill>
                    <a:schemeClr val="dk1">
                      <a:alphaMod val="75000"/>
                    </a:schemeClr>
                  </a:solidFill>
                  <a:latin typeface="+mn-lt"/>
                  <a:ea typeface="+mn-ea"/>
                  <a:cs typeface="+mn-cs"/>
                </a:rPr>
                <a:t>四步不是一次完成：信息不足时回到床边，重复评估。</a:t>
              </a:r>
            </a:p>
          </p:txBody>
        </p:sp>
      </p:grpSp>
      <p:grpSp>
        <p:nvGrpSpPr>
          <p:cNvPr id="44" name="Group 44"/>
          <p:cNvGrpSpPr/>
          <p:nvPr/>
        </p:nvGrpSpPr>
        <p:grpSpPr>
          <a:xfrm>
            <a:off x="374142" y="6445568"/>
            <a:ext cx="11443716" cy="264033"/>
            <a:chOff x="374142" y="6445568"/>
            <a:chExt cx="11443716" cy="264033"/>
          </a:xfrm>
        </p:grpSpPr>
        <p:sp>
          <p:nvSpPr>
            <p:cNvPr id="42" name="TextBox 42"/>
            <p:cNvSpPr txBox="1"/>
            <p:nvPr/>
          </p:nvSpPr>
          <p:spPr>
            <a:xfrm>
              <a:off x="374142" y="6445568"/>
              <a:ext cx="1540307"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05 病因诊断四步法</a:t>
              </a:r>
            </a:p>
          </p:txBody>
        </p:sp>
        <p:sp>
          <p:nvSpPr>
            <p:cNvPr id="43" name="TextBox 43"/>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13 / 20</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7112165"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吸气性 vs 呼气性：看动作，也看体征</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21" name="Group 21"/>
          <p:cNvGrpSpPr/>
          <p:nvPr/>
        </p:nvGrpSpPr>
        <p:grpSpPr>
          <a:xfrm>
            <a:off x="374142" y="1524000"/>
            <a:ext cx="5340858" cy="3909251"/>
            <a:chOff x="374142" y="1524000"/>
            <a:chExt cx="5340858" cy="3909251"/>
          </a:xfrm>
        </p:grpSpPr>
        <p:sp>
          <p:nvSpPr>
            <p:cNvPr id="5" name="Rectangle 5"/>
            <p:cNvSpPr/>
            <p:nvPr/>
          </p:nvSpPr>
          <p:spPr>
            <a:xfrm>
              <a:off x="381000" y="1524000"/>
              <a:ext cx="57150" cy="533400"/>
            </a:xfrm>
            <a:prstGeom prst="rect">
              <a:avLst/>
            </a:prstGeom>
            <a:solidFill>
              <a:schemeClr val="accent1"/>
            </a:solidFill>
            <a:ln>
              <a:noFill/>
            </a:ln>
          </p:spPr>
        </p:sp>
        <p:sp>
          <p:nvSpPr>
            <p:cNvPr id="6" name="TextBox 6"/>
            <p:cNvSpPr txBox="1"/>
            <p:nvPr/>
          </p:nvSpPr>
          <p:spPr>
            <a:xfrm>
              <a:off x="575310" y="1581150"/>
              <a:ext cx="130263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吸气性</a:t>
              </a:r>
            </a:p>
          </p:txBody>
        </p:sp>
        <p:sp>
          <p:nvSpPr>
            <p:cNvPr id="7" name="TextBox 7"/>
            <p:cNvSpPr txBox="1"/>
            <p:nvPr/>
          </p:nvSpPr>
          <p:spPr>
            <a:xfrm>
              <a:off x="582930" y="2047875"/>
              <a:ext cx="2842260"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胸外大气道：喉、声门下、气管</a:t>
              </a:r>
            </a:p>
          </p:txBody>
        </p:sp>
        <p:sp>
          <p:nvSpPr>
            <p:cNvPr id="8" name="Rectangle 8"/>
            <p:cNvSpPr/>
            <p:nvPr/>
          </p:nvSpPr>
          <p:spPr>
            <a:xfrm>
              <a:off x="381000" y="2438400"/>
              <a:ext cx="5334000" cy="838200"/>
            </a:xfrm>
            <a:prstGeom prst="rect">
              <a:avLst/>
            </a:prstGeom>
            <a:solidFill>
              <a:schemeClr val="lt2"/>
            </a:solidFill>
            <a:ln>
              <a:noFill/>
            </a:ln>
          </p:spPr>
        </p:sp>
        <p:sp>
          <p:nvSpPr>
            <p:cNvPr id="9" name="TextBox 9"/>
            <p:cNvSpPr txBox="1"/>
            <p:nvPr/>
          </p:nvSpPr>
          <p:spPr>
            <a:xfrm>
              <a:off x="564642" y="2616518"/>
              <a:ext cx="2414016" cy="4926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狭窄位于胸外大气道吸气时表现最明显，呈吸气费力</a:t>
              </a:r>
            </a:p>
          </p:txBody>
        </p:sp>
        <p:sp>
          <p:nvSpPr>
            <p:cNvPr id="10" name="TextBox 10"/>
            <p:cNvSpPr txBox="1"/>
            <p:nvPr/>
          </p:nvSpPr>
          <p:spPr>
            <a:xfrm>
              <a:off x="374142" y="3530918"/>
              <a:ext cx="415557"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体征</a:t>
              </a:r>
            </a:p>
          </p:txBody>
        </p:sp>
        <p:sp>
          <p:nvSpPr>
            <p:cNvPr id="11" name="Rectangle 11"/>
            <p:cNvSpPr/>
            <p:nvPr/>
          </p:nvSpPr>
          <p:spPr>
            <a:xfrm>
              <a:off x="381000" y="3943350"/>
              <a:ext cx="47625" cy="47625"/>
            </a:xfrm>
            <a:prstGeom prst="rect">
              <a:avLst/>
            </a:prstGeom>
            <a:solidFill>
              <a:schemeClr val="accent1"/>
            </a:solidFill>
            <a:ln>
              <a:noFill/>
            </a:ln>
          </p:spPr>
        </p:sp>
        <p:sp>
          <p:nvSpPr>
            <p:cNvPr id="12" name="TextBox 12"/>
            <p:cNvSpPr txBox="1"/>
            <p:nvPr/>
          </p:nvSpPr>
          <p:spPr>
            <a:xfrm>
              <a:off x="545592" y="3873818"/>
              <a:ext cx="310324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三凹征：胸骨上窝、锁骨上窝、肋间隙</a:t>
              </a:r>
            </a:p>
          </p:txBody>
        </p:sp>
        <p:sp>
          <p:nvSpPr>
            <p:cNvPr id="13" name="Rectangle 13"/>
            <p:cNvSpPr/>
            <p:nvPr/>
          </p:nvSpPr>
          <p:spPr>
            <a:xfrm>
              <a:off x="381000" y="4267200"/>
              <a:ext cx="47625" cy="47625"/>
            </a:xfrm>
            <a:prstGeom prst="rect">
              <a:avLst/>
            </a:prstGeom>
            <a:solidFill>
              <a:schemeClr val="accent1"/>
            </a:solidFill>
            <a:ln>
              <a:noFill/>
            </a:ln>
          </p:spPr>
        </p:sp>
        <p:sp>
          <p:nvSpPr>
            <p:cNvPr id="14" name="TextBox 14"/>
            <p:cNvSpPr txBox="1"/>
            <p:nvPr/>
          </p:nvSpPr>
          <p:spPr>
            <a:xfrm>
              <a:off x="545592" y="4197668"/>
              <a:ext cx="273977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张口呼吸、鼻翼扇动、点头样呼吸</a:t>
              </a:r>
            </a:p>
          </p:txBody>
        </p:sp>
        <p:sp>
          <p:nvSpPr>
            <p:cNvPr id="15" name="Rectangle 15"/>
            <p:cNvSpPr/>
            <p:nvPr/>
          </p:nvSpPr>
          <p:spPr>
            <a:xfrm>
              <a:off x="381000" y="4591050"/>
              <a:ext cx="47625" cy="47625"/>
            </a:xfrm>
            <a:prstGeom prst="rect">
              <a:avLst/>
            </a:prstGeom>
            <a:solidFill>
              <a:schemeClr val="accent1"/>
            </a:solidFill>
            <a:ln>
              <a:noFill/>
            </a:ln>
          </p:spPr>
        </p:sp>
        <p:sp>
          <p:nvSpPr>
            <p:cNvPr id="16" name="TextBox 16"/>
            <p:cNvSpPr txBox="1"/>
            <p:nvPr/>
          </p:nvSpPr>
          <p:spPr>
            <a:xfrm>
              <a:off x="545592" y="4521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高调吸气性喉鸣</a:t>
              </a:r>
            </a:p>
          </p:txBody>
        </p:sp>
        <p:sp>
          <p:nvSpPr>
            <p:cNvPr id="17" name="Rectangle 17"/>
            <p:cNvSpPr/>
            <p:nvPr/>
          </p:nvSpPr>
          <p:spPr>
            <a:xfrm>
              <a:off x="381000" y="4914900"/>
              <a:ext cx="47625" cy="47625"/>
            </a:xfrm>
            <a:prstGeom prst="rect">
              <a:avLst/>
            </a:prstGeom>
            <a:solidFill>
              <a:schemeClr val="accent1"/>
            </a:solidFill>
            <a:ln>
              <a:noFill/>
            </a:ln>
          </p:spPr>
        </p:sp>
        <p:sp>
          <p:nvSpPr>
            <p:cNvPr id="18" name="TextBox 18"/>
            <p:cNvSpPr txBox="1"/>
            <p:nvPr/>
          </p:nvSpPr>
          <p:spPr>
            <a:xfrm>
              <a:off x="545592" y="48453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犬吠样咳嗽、声音嘶哑</a:t>
              </a:r>
            </a:p>
          </p:txBody>
        </p:sp>
        <p:sp>
          <p:nvSpPr>
            <p:cNvPr id="19" name="Rectangle 19"/>
            <p:cNvSpPr/>
            <p:nvPr/>
          </p:nvSpPr>
          <p:spPr>
            <a:xfrm>
              <a:off x="381000" y="5238750"/>
              <a:ext cx="47625" cy="47625"/>
            </a:xfrm>
            <a:prstGeom prst="rect">
              <a:avLst/>
            </a:prstGeom>
            <a:solidFill>
              <a:schemeClr val="accent1"/>
            </a:solidFill>
            <a:ln>
              <a:noFill/>
            </a:ln>
          </p:spPr>
        </p:sp>
        <p:sp>
          <p:nvSpPr>
            <p:cNvPr id="20" name="TextBox 20"/>
            <p:cNvSpPr txBox="1"/>
            <p:nvPr/>
          </p:nvSpPr>
          <p:spPr>
            <a:xfrm>
              <a:off x="545592" y="51692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严重时出现紫绀与烦躁</a:t>
              </a:r>
            </a:p>
          </p:txBody>
        </p:sp>
      </p:grpSp>
      <p:grpSp>
        <p:nvGrpSpPr>
          <p:cNvPr id="39" name="Group 39"/>
          <p:cNvGrpSpPr/>
          <p:nvPr/>
        </p:nvGrpSpPr>
        <p:grpSpPr>
          <a:xfrm>
            <a:off x="6096000" y="1524000"/>
            <a:ext cx="5524500" cy="4191000"/>
            <a:chOff x="6096000" y="1524000"/>
            <a:chExt cx="5524500" cy="4191000"/>
          </a:xfrm>
        </p:grpSpPr>
        <p:sp>
          <p:nvSpPr>
            <p:cNvPr id="22" name="Line 22"/>
            <p:cNvSpPr/>
            <p:nvPr/>
          </p:nvSpPr>
          <p:spPr>
            <a:xfrm>
              <a:off x="6096000" y="1524000"/>
              <a:ext cx="9525" cy="4191000"/>
            </a:xfrm>
            <a:custGeom>
              <a:avLst/>
              <a:gdLst/>
              <a:ahLst/>
              <a:cxnLst/>
              <a:rect l="l" t="t" r="r" b="b"/>
              <a:pathLst>
                <a:path w="9525" h="4191000">
                  <a:moveTo>
                    <a:pt x="0" y="0"/>
                  </a:moveTo>
                  <a:lnTo>
                    <a:pt x="0" y="4191000"/>
                  </a:lnTo>
                </a:path>
              </a:pathLst>
            </a:custGeom>
            <a:noFill/>
            <a:ln w="9525">
              <a:solidFill>
                <a:schemeClr val="dk1">
                  <a:alpha val="20000"/>
                </a:schemeClr>
              </a:solidFill>
            </a:ln>
          </p:spPr>
        </p:sp>
        <p:sp>
          <p:nvSpPr>
            <p:cNvPr id="23" name="Rectangle 23"/>
            <p:cNvSpPr/>
            <p:nvPr/>
          </p:nvSpPr>
          <p:spPr>
            <a:xfrm>
              <a:off x="6286500" y="1524000"/>
              <a:ext cx="57150" cy="533400"/>
            </a:xfrm>
            <a:prstGeom prst="rect">
              <a:avLst/>
            </a:prstGeom>
            <a:solidFill>
              <a:schemeClr val="accent3"/>
            </a:solidFill>
            <a:ln>
              <a:noFill/>
            </a:ln>
          </p:spPr>
        </p:sp>
        <p:sp>
          <p:nvSpPr>
            <p:cNvPr id="24" name="TextBox 24"/>
            <p:cNvSpPr txBox="1"/>
            <p:nvPr/>
          </p:nvSpPr>
          <p:spPr>
            <a:xfrm>
              <a:off x="6480810" y="1581150"/>
              <a:ext cx="130263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呼气性</a:t>
              </a:r>
            </a:p>
          </p:txBody>
        </p:sp>
        <p:sp>
          <p:nvSpPr>
            <p:cNvPr id="25" name="TextBox 25"/>
            <p:cNvSpPr txBox="1"/>
            <p:nvPr/>
          </p:nvSpPr>
          <p:spPr>
            <a:xfrm>
              <a:off x="6488430" y="2047875"/>
              <a:ext cx="2842260"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胸内小气道：支气管、细支气管</a:t>
              </a:r>
            </a:p>
          </p:txBody>
        </p:sp>
        <p:sp>
          <p:nvSpPr>
            <p:cNvPr id="26" name="Rectangle 26"/>
            <p:cNvSpPr/>
            <p:nvPr/>
          </p:nvSpPr>
          <p:spPr>
            <a:xfrm>
              <a:off x="6286500" y="2438400"/>
              <a:ext cx="5334000" cy="838200"/>
            </a:xfrm>
            <a:prstGeom prst="rect">
              <a:avLst/>
            </a:prstGeom>
            <a:solidFill>
              <a:schemeClr val="lt2"/>
            </a:solidFill>
            <a:ln>
              <a:noFill/>
            </a:ln>
          </p:spPr>
        </p:sp>
        <p:sp>
          <p:nvSpPr>
            <p:cNvPr id="27" name="TextBox 27"/>
            <p:cNvSpPr txBox="1"/>
            <p:nvPr/>
          </p:nvSpPr>
          <p:spPr>
            <a:xfrm>
              <a:off x="6470142" y="2616518"/>
              <a:ext cx="2414016" cy="4926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病变位于胸内小气道呼气时表现最明显，呈呼气延长</a:t>
              </a:r>
            </a:p>
          </p:txBody>
        </p:sp>
        <p:sp>
          <p:nvSpPr>
            <p:cNvPr id="28" name="TextBox 28"/>
            <p:cNvSpPr txBox="1"/>
            <p:nvPr/>
          </p:nvSpPr>
          <p:spPr>
            <a:xfrm>
              <a:off x="6279642" y="3530918"/>
              <a:ext cx="415557"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体征</a:t>
              </a:r>
            </a:p>
          </p:txBody>
        </p:sp>
        <p:sp>
          <p:nvSpPr>
            <p:cNvPr id="29" name="Rectangle 29"/>
            <p:cNvSpPr/>
            <p:nvPr/>
          </p:nvSpPr>
          <p:spPr>
            <a:xfrm>
              <a:off x="6286500" y="3943350"/>
              <a:ext cx="47625" cy="47625"/>
            </a:xfrm>
            <a:prstGeom prst="rect">
              <a:avLst/>
            </a:prstGeom>
            <a:solidFill>
              <a:schemeClr val="accent3"/>
            </a:solidFill>
            <a:ln>
              <a:noFill/>
            </a:ln>
          </p:spPr>
        </p:sp>
        <p:sp>
          <p:nvSpPr>
            <p:cNvPr id="30" name="TextBox 30"/>
            <p:cNvSpPr txBox="1"/>
            <p:nvPr/>
          </p:nvSpPr>
          <p:spPr>
            <a:xfrm>
              <a:off x="6451092" y="387381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呼气延长、呼气费力</a:t>
              </a:r>
            </a:p>
          </p:txBody>
        </p:sp>
        <p:sp>
          <p:nvSpPr>
            <p:cNvPr id="31" name="Rectangle 31"/>
            <p:cNvSpPr/>
            <p:nvPr/>
          </p:nvSpPr>
          <p:spPr>
            <a:xfrm>
              <a:off x="6286500" y="4267200"/>
              <a:ext cx="47625" cy="47625"/>
            </a:xfrm>
            <a:prstGeom prst="rect">
              <a:avLst/>
            </a:prstGeom>
            <a:solidFill>
              <a:schemeClr val="accent3"/>
            </a:solidFill>
            <a:ln>
              <a:noFill/>
            </a:ln>
          </p:spPr>
        </p:sp>
        <p:sp>
          <p:nvSpPr>
            <p:cNvPr id="32" name="TextBox 32"/>
            <p:cNvSpPr txBox="1"/>
            <p:nvPr/>
          </p:nvSpPr>
          <p:spPr>
            <a:xfrm>
              <a:off x="6451092" y="4197668"/>
              <a:ext cx="310324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呼气相哮鸣音，严重时吸气相亦可闻及</a:t>
              </a:r>
            </a:p>
          </p:txBody>
        </p:sp>
        <p:sp>
          <p:nvSpPr>
            <p:cNvPr id="33" name="Rectangle 33"/>
            <p:cNvSpPr/>
            <p:nvPr/>
          </p:nvSpPr>
          <p:spPr>
            <a:xfrm>
              <a:off x="6286500" y="4591050"/>
              <a:ext cx="47625" cy="47625"/>
            </a:xfrm>
            <a:prstGeom prst="rect">
              <a:avLst/>
            </a:prstGeom>
            <a:solidFill>
              <a:schemeClr val="accent3"/>
            </a:solidFill>
            <a:ln>
              <a:noFill/>
            </a:ln>
          </p:spPr>
        </p:sp>
        <p:sp>
          <p:nvSpPr>
            <p:cNvPr id="34" name="TextBox 34"/>
            <p:cNvSpPr txBox="1"/>
            <p:nvPr/>
          </p:nvSpPr>
          <p:spPr>
            <a:xfrm>
              <a:off x="6451092" y="452151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辅助呼吸肌参与、三凹征</a:t>
              </a:r>
            </a:p>
          </p:txBody>
        </p:sp>
        <p:sp>
          <p:nvSpPr>
            <p:cNvPr id="35" name="Rectangle 35"/>
            <p:cNvSpPr/>
            <p:nvPr/>
          </p:nvSpPr>
          <p:spPr>
            <a:xfrm>
              <a:off x="6286500" y="4914900"/>
              <a:ext cx="47625" cy="47625"/>
            </a:xfrm>
            <a:prstGeom prst="rect">
              <a:avLst/>
            </a:prstGeom>
            <a:solidFill>
              <a:schemeClr val="accent3"/>
            </a:solidFill>
            <a:ln>
              <a:noFill/>
            </a:ln>
          </p:spPr>
        </p:sp>
        <p:sp>
          <p:nvSpPr>
            <p:cNvPr id="36" name="TextBox 36"/>
            <p:cNvSpPr txBox="1"/>
            <p:nvPr/>
          </p:nvSpPr>
          <p:spPr>
            <a:xfrm>
              <a:off x="6451092" y="48453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肺过度充气、桶状胸</a:t>
              </a:r>
            </a:p>
          </p:txBody>
        </p:sp>
        <p:sp>
          <p:nvSpPr>
            <p:cNvPr id="37" name="Rectangle 37"/>
            <p:cNvSpPr/>
            <p:nvPr/>
          </p:nvSpPr>
          <p:spPr>
            <a:xfrm>
              <a:off x="6286500" y="5238750"/>
              <a:ext cx="47625" cy="47625"/>
            </a:xfrm>
            <a:prstGeom prst="rect">
              <a:avLst/>
            </a:prstGeom>
            <a:solidFill>
              <a:schemeClr val="accent3"/>
            </a:solidFill>
            <a:ln>
              <a:noFill/>
            </a:ln>
          </p:spPr>
        </p:sp>
        <p:sp>
          <p:nvSpPr>
            <p:cNvPr id="38" name="TextBox 38"/>
            <p:cNvSpPr txBox="1"/>
            <p:nvPr/>
          </p:nvSpPr>
          <p:spPr>
            <a:xfrm>
              <a:off x="6451092" y="516921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说话断续、活动耐受下降</a:t>
              </a:r>
            </a:p>
          </p:txBody>
        </p:sp>
      </p:grpSp>
      <p:grpSp>
        <p:nvGrpSpPr>
          <p:cNvPr id="42" name="Group 42"/>
          <p:cNvGrpSpPr/>
          <p:nvPr/>
        </p:nvGrpSpPr>
        <p:grpSpPr>
          <a:xfrm>
            <a:off x="374142" y="6445568"/>
            <a:ext cx="11443716" cy="264033"/>
            <a:chOff x="374142" y="6445568"/>
            <a:chExt cx="11443716" cy="264033"/>
          </a:xfrm>
        </p:grpSpPr>
        <p:sp>
          <p:nvSpPr>
            <p:cNvPr id="40" name="TextBox 40"/>
            <p:cNvSpPr txBox="1"/>
            <p:nvPr/>
          </p:nvSpPr>
          <p:spPr>
            <a:xfrm>
              <a:off x="374142" y="6445568"/>
              <a:ext cx="1540307"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05 病因诊断四步法</a:t>
              </a:r>
            </a:p>
          </p:txBody>
        </p:sp>
        <p:sp>
          <p:nvSpPr>
            <p:cNvPr id="41" name="TextBox 41"/>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14 / 20</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596722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两个高危特征：喘鸣与呼吸急促</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6" name="Group 16"/>
          <p:cNvGrpSpPr/>
          <p:nvPr/>
        </p:nvGrpSpPr>
        <p:grpSpPr>
          <a:xfrm>
            <a:off x="381000" y="1428750"/>
            <a:ext cx="5334000" cy="4381500"/>
            <a:chOff x="381000" y="1428750"/>
            <a:chExt cx="5334000" cy="4381500"/>
          </a:xfrm>
        </p:grpSpPr>
        <p:sp>
          <p:nvSpPr>
            <p:cNvPr id="5" name="Rectangle 5"/>
            <p:cNvSpPr/>
            <p:nvPr/>
          </p:nvSpPr>
          <p:spPr>
            <a:xfrm>
              <a:off x="381000" y="1428750"/>
              <a:ext cx="5334000" cy="4381500"/>
            </a:xfrm>
            <a:prstGeom prst="rect">
              <a:avLst/>
            </a:prstGeom>
            <a:solidFill>
              <a:schemeClr val="lt2"/>
            </a:solidFill>
            <a:ln>
              <a:noFill/>
            </a:ln>
          </p:spPr>
        </p:sp>
        <p:sp>
          <p:nvSpPr>
            <p:cNvPr id="6" name="TextBox 6"/>
            <p:cNvSpPr txBox="1"/>
            <p:nvPr/>
          </p:nvSpPr>
          <p:spPr>
            <a:xfrm>
              <a:off x="666750" y="1539240"/>
              <a:ext cx="1395070"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mn-lt"/>
                  <a:ea typeface="+mn-ea"/>
                  <a:cs typeface="+mn-cs"/>
                </a:rPr>
                <a:t>喘鸣</a:t>
              </a:r>
            </a:p>
          </p:txBody>
        </p:sp>
        <p:sp>
          <p:nvSpPr>
            <p:cNvPr id="7" name="Line 7"/>
            <p:cNvSpPr/>
            <p:nvPr/>
          </p:nvSpPr>
          <p:spPr>
            <a:xfrm>
              <a:off x="685800" y="2286000"/>
              <a:ext cx="4724400" cy="9525"/>
            </a:xfrm>
            <a:custGeom>
              <a:avLst/>
              <a:gdLst/>
              <a:ahLst/>
              <a:cxnLst/>
              <a:rect l="l" t="t" r="r" b="b"/>
              <a:pathLst>
                <a:path w="4724400" h="9525">
                  <a:moveTo>
                    <a:pt x="0" y="0"/>
                  </a:moveTo>
                  <a:lnTo>
                    <a:pt x="4724400" y="0"/>
                  </a:lnTo>
                </a:path>
              </a:pathLst>
            </a:custGeom>
            <a:noFill/>
            <a:ln w="19050">
              <a:solidFill>
                <a:schemeClr val="accent1"/>
              </a:solidFill>
            </a:ln>
          </p:spPr>
        </p:sp>
        <p:sp>
          <p:nvSpPr>
            <p:cNvPr id="8" name="TextBox 8"/>
            <p:cNvSpPr txBox="1"/>
            <p:nvPr/>
          </p:nvSpPr>
          <p:spPr>
            <a:xfrm>
              <a:off x="678942" y="2540318"/>
              <a:ext cx="2756916" cy="492633"/>
            </a:xfrm>
            <a:prstGeom prst="rect">
              <a:avLst/>
            </a:prstGeom>
            <a:noFill/>
            <a:ln>
              <a:noFill/>
            </a:ln>
          </p:spPr>
          <p:txBody>
            <a:bodyPr wrap="square" lIns="0" tIns="0" rIns="0" bIns="0" anchor="t" anchorCtr="0"/>
            <a:lstStyle/>
            <a:p>
              <a:pPr algn="l">
                <a:lnSpc>
                  <a:spcPts val="1800"/>
                </a:lnSpc>
              </a:pPr>
              <a:r>
                <a:rPr lang="zh-CN" sz="1350" dirty="0">
                  <a:solidFill>
                    <a:schemeClr val="dk1">
                      <a:alphaMod val="75000"/>
                    </a:schemeClr>
                  </a:solidFill>
                  <a:latin typeface="+mn-lt"/>
                  <a:ea typeface="+mn-ea"/>
                  <a:cs typeface="+mn-cs"/>
                </a:rPr>
                <a:t>气流通过狭窄气道产生的高调声音部位与相别，比声音大小更有信息量</a:t>
              </a:r>
            </a:p>
          </p:txBody>
        </p:sp>
        <p:sp>
          <p:nvSpPr>
            <p:cNvPr id="9" name="Rectangle 9"/>
            <p:cNvSpPr/>
            <p:nvPr/>
          </p:nvSpPr>
          <p:spPr>
            <a:xfrm>
              <a:off x="685800" y="3352800"/>
              <a:ext cx="47625" cy="47625"/>
            </a:xfrm>
            <a:prstGeom prst="rect">
              <a:avLst/>
            </a:prstGeom>
            <a:solidFill>
              <a:schemeClr val="accent2"/>
            </a:solidFill>
            <a:ln>
              <a:noFill/>
            </a:ln>
          </p:spPr>
        </p:sp>
        <p:sp>
          <p:nvSpPr>
            <p:cNvPr id="10" name="TextBox 10"/>
            <p:cNvSpPr txBox="1"/>
            <p:nvPr/>
          </p:nvSpPr>
          <p:spPr>
            <a:xfrm>
              <a:off x="849630" y="3267075"/>
              <a:ext cx="22667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吸气性喉鸣 → 上气道梗阻</a:t>
              </a:r>
            </a:p>
          </p:txBody>
        </p:sp>
        <p:sp>
          <p:nvSpPr>
            <p:cNvPr id="11" name="Rectangle 11"/>
            <p:cNvSpPr/>
            <p:nvPr/>
          </p:nvSpPr>
          <p:spPr>
            <a:xfrm>
              <a:off x="685800" y="3886200"/>
              <a:ext cx="47625" cy="47625"/>
            </a:xfrm>
            <a:prstGeom prst="rect">
              <a:avLst/>
            </a:prstGeom>
            <a:solidFill>
              <a:schemeClr val="accent2"/>
            </a:solidFill>
            <a:ln>
              <a:noFill/>
            </a:ln>
          </p:spPr>
        </p:sp>
        <p:sp>
          <p:nvSpPr>
            <p:cNvPr id="12" name="TextBox 12"/>
            <p:cNvSpPr txBox="1"/>
            <p:nvPr/>
          </p:nvSpPr>
          <p:spPr>
            <a:xfrm>
              <a:off x="849630" y="3800475"/>
              <a:ext cx="287255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呼气相哮鸣 → 下气道痉挛或水肿</a:t>
              </a:r>
            </a:p>
          </p:txBody>
        </p:sp>
        <p:sp>
          <p:nvSpPr>
            <p:cNvPr id="13" name="Rectangle 13"/>
            <p:cNvSpPr/>
            <p:nvPr/>
          </p:nvSpPr>
          <p:spPr>
            <a:xfrm>
              <a:off x="685800" y="4419600"/>
              <a:ext cx="47625" cy="47625"/>
            </a:xfrm>
            <a:prstGeom prst="rect">
              <a:avLst/>
            </a:prstGeom>
            <a:solidFill>
              <a:schemeClr val="accent2"/>
            </a:solidFill>
            <a:ln>
              <a:noFill/>
            </a:ln>
          </p:spPr>
        </p:sp>
        <p:sp>
          <p:nvSpPr>
            <p:cNvPr id="14" name="TextBox 14"/>
            <p:cNvSpPr txBox="1"/>
            <p:nvPr/>
          </p:nvSpPr>
          <p:spPr>
            <a:xfrm>
              <a:off x="849630" y="4333875"/>
              <a:ext cx="1920240" cy="541020"/>
            </a:xfrm>
            <a:prstGeom prst="rect">
              <a:avLst/>
            </a:prstGeom>
            <a:noFill/>
            <a:ln>
              <a:noFill/>
            </a:ln>
          </p:spPr>
          <p:txBody>
            <a:bodyPr wrap="square" lIns="0" tIns="0" rIns="0" bIns="0" anchor="t" anchorCtr="0"/>
            <a:lstStyle/>
            <a:p>
              <a:pPr algn="l">
                <a:lnSpc>
                  <a:spcPts val="1950"/>
                </a:lnSpc>
              </a:pPr>
              <a:r>
                <a:rPr lang="zh-CN" sz="1500" dirty="0">
                  <a:solidFill>
                    <a:schemeClr val="dk1"/>
                  </a:solidFill>
                  <a:latin typeface="+mn-lt"/>
                  <a:ea typeface="+mn-ea"/>
                  <a:cs typeface="+mn-cs"/>
                </a:rPr>
                <a:t>声音变弱不一定是好转气流可能更差</a:t>
              </a:r>
            </a:p>
          </p:txBody>
        </p:sp>
        <p:sp>
          <p:nvSpPr>
            <p:cNvPr id="15" name="TextBox 15"/>
            <p:cNvSpPr txBox="1"/>
            <p:nvPr/>
          </p:nvSpPr>
          <p:spPr>
            <a:xfrm>
              <a:off x="676656" y="5234940"/>
              <a:ext cx="28170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听到喘鸣，先找梗阻部位</a:t>
              </a:r>
            </a:p>
          </p:txBody>
        </p:sp>
      </p:grpSp>
      <p:grpSp>
        <p:nvGrpSpPr>
          <p:cNvPr id="28" name="Group 28"/>
          <p:cNvGrpSpPr/>
          <p:nvPr/>
        </p:nvGrpSpPr>
        <p:grpSpPr>
          <a:xfrm>
            <a:off x="6286500" y="1428750"/>
            <a:ext cx="5524500" cy="4381500"/>
            <a:chOff x="6286500" y="1428750"/>
            <a:chExt cx="5524500" cy="4381500"/>
          </a:xfrm>
        </p:grpSpPr>
        <p:sp>
          <p:nvSpPr>
            <p:cNvPr id="17" name="Rectangle 17"/>
            <p:cNvSpPr/>
            <p:nvPr/>
          </p:nvSpPr>
          <p:spPr>
            <a:xfrm>
              <a:off x="6286500" y="1428750"/>
              <a:ext cx="5524500" cy="4381500"/>
            </a:xfrm>
            <a:prstGeom prst="rect">
              <a:avLst/>
            </a:prstGeom>
            <a:solidFill>
              <a:schemeClr val="accent1"/>
            </a:solidFill>
            <a:ln>
              <a:noFill/>
            </a:ln>
          </p:spPr>
        </p:sp>
        <p:sp>
          <p:nvSpPr>
            <p:cNvPr id="18" name="TextBox 18"/>
            <p:cNvSpPr txBox="1"/>
            <p:nvPr/>
          </p:nvSpPr>
          <p:spPr>
            <a:xfrm>
              <a:off x="6572250" y="1539240"/>
              <a:ext cx="2752039"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mn-lt"/>
                  <a:ea typeface="+mn-ea"/>
                  <a:cs typeface="+mn-cs"/>
                </a:rPr>
                <a:t>呼吸急促</a:t>
              </a:r>
            </a:p>
          </p:txBody>
        </p:sp>
        <p:sp>
          <p:nvSpPr>
            <p:cNvPr id="19" name="Line 19"/>
            <p:cNvSpPr/>
            <p:nvPr/>
          </p:nvSpPr>
          <p:spPr>
            <a:xfrm>
              <a:off x="6591300" y="2286000"/>
              <a:ext cx="4914900" cy="9525"/>
            </a:xfrm>
            <a:custGeom>
              <a:avLst/>
              <a:gdLst/>
              <a:ahLst/>
              <a:cxnLst/>
              <a:rect l="l" t="t" r="r" b="b"/>
              <a:pathLst>
                <a:path w="4914900" h="9525">
                  <a:moveTo>
                    <a:pt x="0" y="0"/>
                  </a:moveTo>
                  <a:lnTo>
                    <a:pt x="4914900" y="0"/>
                  </a:lnTo>
                </a:path>
              </a:pathLst>
            </a:custGeom>
            <a:noFill/>
            <a:ln w="19050">
              <a:solidFill>
                <a:srgbClr val="FFFFFF">
                  <a:alpha val="60000"/>
                </a:srgbClr>
              </a:solidFill>
            </a:ln>
          </p:spPr>
        </p:sp>
        <p:sp>
          <p:nvSpPr>
            <p:cNvPr id="20" name="TextBox 20"/>
            <p:cNvSpPr txBox="1"/>
            <p:nvPr/>
          </p:nvSpPr>
          <p:spPr>
            <a:xfrm>
              <a:off x="6584442" y="2540318"/>
              <a:ext cx="2928366" cy="492633"/>
            </a:xfrm>
            <a:prstGeom prst="rect">
              <a:avLst/>
            </a:prstGeom>
            <a:noFill/>
            <a:ln>
              <a:noFill/>
            </a:ln>
          </p:spPr>
          <p:txBody>
            <a:bodyPr wrap="square" lIns="0" tIns="0" rIns="0" bIns="0" anchor="t" anchorCtr="0"/>
            <a:lstStyle/>
            <a:p>
              <a:pPr algn="l">
                <a:lnSpc>
                  <a:spcPts val="1800"/>
                </a:lnSpc>
              </a:pPr>
              <a:r>
                <a:rPr lang="zh-CN" sz="1350" dirty="0">
                  <a:solidFill>
                    <a:srgbClr val="FFFFFF">
                      <a:alphaMod val="80000"/>
                    </a:srgbClr>
                  </a:solidFill>
                  <a:latin typeface="+mn-lt"/>
                  <a:ea typeface="+mn-ea"/>
                  <a:cs typeface="+mn-cs"/>
                </a:rPr>
                <a:t>呼吸频率超过相应年龄的正常上限是最容易被家长和医生同时看到的信号</a:t>
              </a:r>
            </a:p>
          </p:txBody>
        </p:sp>
        <p:sp>
          <p:nvSpPr>
            <p:cNvPr id="21" name="Rectangle 21"/>
            <p:cNvSpPr/>
            <p:nvPr/>
          </p:nvSpPr>
          <p:spPr>
            <a:xfrm>
              <a:off x="6591300" y="3352800"/>
              <a:ext cx="47625" cy="47625"/>
            </a:xfrm>
            <a:prstGeom prst="rect">
              <a:avLst/>
            </a:prstGeom>
            <a:solidFill>
              <a:schemeClr val="accent2"/>
            </a:solidFill>
            <a:ln>
              <a:noFill/>
            </a:ln>
          </p:spPr>
        </p:sp>
        <p:sp>
          <p:nvSpPr>
            <p:cNvPr id="22" name="TextBox 22"/>
            <p:cNvSpPr txBox="1"/>
            <p:nvPr/>
          </p:nvSpPr>
          <p:spPr>
            <a:xfrm>
              <a:off x="6755130" y="3267075"/>
              <a:ext cx="243840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是代偿，也是衰竭前的信号</a:t>
              </a:r>
            </a:p>
          </p:txBody>
        </p:sp>
        <p:sp>
          <p:nvSpPr>
            <p:cNvPr id="23" name="Rectangle 23"/>
            <p:cNvSpPr/>
            <p:nvPr/>
          </p:nvSpPr>
          <p:spPr>
            <a:xfrm>
              <a:off x="6591300" y="3886200"/>
              <a:ext cx="47625" cy="47625"/>
            </a:xfrm>
            <a:prstGeom prst="rect">
              <a:avLst/>
            </a:prstGeom>
            <a:solidFill>
              <a:schemeClr val="accent2"/>
            </a:solidFill>
            <a:ln>
              <a:noFill/>
            </a:ln>
          </p:spPr>
        </p:sp>
        <p:sp>
          <p:nvSpPr>
            <p:cNvPr id="24" name="TextBox 24"/>
            <p:cNvSpPr txBox="1"/>
            <p:nvPr/>
          </p:nvSpPr>
          <p:spPr>
            <a:xfrm>
              <a:off x="6755130" y="3800475"/>
              <a:ext cx="264033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由快转慢、变浅，是危险转折</a:t>
              </a:r>
            </a:p>
          </p:txBody>
        </p:sp>
        <p:sp>
          <p:nvSpPr>
            <p:cNvPr id="25" name="Rectangle 25"/>
            <p:cNvSpPr/>
            <p:nvPr/>
          </p:nvSpPr>
          <p:spPr>
            <a:xfrm>
              <a:off x="6591300" y="4419600"/>
              <a:ext cx="47625" cy="47625"/>
            </a:xfrm>
            <a:prstGeom prst="rect">
              <a:avLst/>
            </a:prstGeom>
            <a:solidFill>
              <a:schemeClr val="accent2"/>
            </a:solidFill>
            <a:ln>
              <a:noFill/>
            </a:ln>
          </p:spPr>
        </p:sp>
        <p:sp>
          <p:nvSpPr>
            <p:cNvPr id="26" name="TextBox 26"/>
            <p:cNvSpPr txBox="1"/>
            <p:nvPr/>
          </p:nvSpPr>
          <p:spPr>
            <a:xfrm>
              <a:off x="6755130" y="4333875"/>
              <a:ext cx="304419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不能只数频率，还要看做功与节律</a:t>
              </a:r>
            </a:p>
          </p:txBody>
        </p:sp>
        <p:sp>
          <p:nvSpPr>
            <p:cNvPr id="27" name="TextBox 27"/>
            <p:cNvSpPr txBox="1"/>
            <p:nvPr/>
          </p:nvSpPr>
          <p:spPr>
            <a:xfrm>
              <a:off x="6582156" y="5234940"/>
              <a:ext cx="2308174"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数频率，更要看趋势</a:t>
              </a:r>
            </a:p>
          </p:txBody>
        </p:sp>
      </p:grpSp>
      <p:grpSp>
        <p:nvGrpSpPr>
          <p:cNvPr id="31" name="Group 31"/>
          <p:cNvGrpSpPr/>
          <p:nvPr/>
        </p:nvGrpSpPr>
        <p:grpSpPr>
          <a:xfrm>
            <a:off x="374142" y="6445568"/>
            <a:ext cx="11443716" cy="264033"/>
            <a:chOff x="374142" y="6445568"/>
            <a:chExt cx="11443716" cy="264033"/>
          </a:xfrm>
        </p:grpSpPr>
        <p:sp>
          <p:nvSpPr>
            <p:cNvPr id="29" name="TextBox 29"/>
            <p:cNvSpPr txBox="1"/>
            <p:nvPr/>
          </p:nvSpPr>
          <p:spPr>
            <a:xfrm>
              <a:off x="374142" y="6445568"/>
              <a:ext cx="1540307"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05 病因诊断四步法</a:t>
              </a:r>
            </a:p>
          </p:txBody>
        </p:sp>
        <p:sp>
          <p:nvSpPr>
            <p:cNvPr id="30" name="TextBox 30"/>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15 / 20</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6391275"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混合性：吸呼都费力，时相切不开</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1" name="Group 11"/>
          <p:cNvGrpSpPr/>
          <p:nvPr/>
        </p:nvGrpSpPr>
        <p:grpSpPr>
          <a:xfrm>
            <a:off x="381000" y="1428750"/>
            <a:ext cx="3429000" cy="2571750"/>
            <a:chOff x="381000" y="1428750"/>
            <a:chExt cx="3429000" cy="2571750"/>
          </a:xfrm>
        </p:grpSpPr>
        <p:sp>
          <p:nvSpPr>
            <p:cNvPr id="5" name="Rectangle 5"/>
            <p:cNvSpPr/>
            <p:nvPr/>
          </p:nvSpPr>
          <p:spPr>
            <a:xfrm>
              <a:off x="381000" y="1428750"/>
              <a:ext cx="3429000" cy="2571750"/>
            </a:xfrm>
            <a:prstGeom prst="rect">
              <a:avLst/>
            </a:prstGeom>
            <a:solidFill>
              <a:schemeClr val="lt2"/>
            </a:solidFill>
            <a:ln>
              <a:noFill/>
            </a:ln>
          </p:spPr>
        </p:sp>
        <p:sp>
          <p:nvSpPr>
            <p:cNvPr id="6" name="TextBox 6"/>
            <p:cNvSpPr txBox="1"/>
            <p:nvPr/>
          </p:nvSpPr>
          <p:spPr>
            <a:xfrm>
              <a:off x="600456" y="1634490"/>
              <a:ext cx="29816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01</a:t>
              </a:r>
            </a:p>
          </p:txBody>
        </p:sp>
        <p:sp>
          <p:nvSpPr>
            <p:cNvPr id="7" name="TextBox 7"/>
            <p:cNvSpPr txBox="1"/>
            <p:nvPr/>
          </p:nvSpPr>
          <p:spPr>
            <a:xfrm>
              <a:off x="598170" y="2043112"/>
              <a:ext cx="97697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肺实质</a:t>
              </a:r>
            </a:p>
          </p:txBody>
        </p:sp>
        <p:sp>
          <p:nvSpPr>
            <p:cNvPr id="8" name="TextBox 8"/>
            <p:cNvSpPr txBox="1"/>
            <p:nvPr/>
          </p:nvSpPr>
          <p:spPr>
            <a:xfrm>
              <a:off x="602742" y="2578418"/>
              <a:ext cx="1385316"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mn-lt"/>
                  <a:ea typeface="+mn-ea"/>
                  <a:cs typeface="+mn-cs"/>
                </a:rPr>
                <a:t>重症肺炎、肺水肿弥漫性肺间质疾病</a:t>
              </a:r>
            </a:p>
          </p:txBody>
        </p:sp>
        <p:sp>
          <p:nvSpPr>
            <p:cNvPr id="9" name="Line 9"/>
            <p:cNvSpPr/>
            <p:nvPr/>
          </p:nvSpPr>
          <p:spPr>
            <a:xfrm>
              <a:off x="609600" y="3352800"/>
              <a:ext cx="2971800" cy="9525"/>
            </a:xfrm>
            <a:custGeom>
              <a:avLst/>
              <a:gdLst/>
              <a:ahLst/>
              <a:cxnLst/>
              <a:rect l="l" t="t" r="r" b="b"/>
              <a:pathLst>
                <a:path w="2971800" h="9525">
                  <a:moveTo>
                    <a:pt x="0" y="0"/>
                  </a:moveTo>
                  <a:lnTo>
                    <a:pt x="2971800" y="0"/>
                  </a:lnTo>
                </a:path>
              </a:pathLst>
            </a:custGeom>
            <a:noFill/>
            <a:ln w="9525">
              <a:solidFill>
                <a:schemeClr val="dk1">
                  <a:alpha val="20000"/>
                </a:schemeClr>
              </a:solidFill>
            </a:ln>
          </p:spPr>
        </p:sp>
        <p:sp>
          <p:nvSpPr>
            <p:cNvPr id="10" name="TextBox 10"/>
            <p:cNvSpPr txBox="1"/>
            <p:nvPr/>
          </p:nvSpPr>
          <p:spPr>
            <a:xfrm>
              <a:off x="602742" y="3530918"/>
              <a:ext cx="2012823" cy="264033"/>
            </a:xfrm>
            <a:prstGeom prst="rect">
              <a:avLst/>
            </a:prstGeom>
            <a:noFill/>
            <a:ln>
              <a:noFill/>
            </a:ln>
          </p:spPr>
          <p:txBody>
            <a:bodyPr wrap="none" lIns="0" tIns="0" rIns="0" bIns="0" anchor="t" anchorCtr="0">
              <a:spAutoFit/>
            </a:bodyPr>
            <a:lstStyle/>
            <a:p>
              <a:pPr algn="l"/>
              <a:r>
                <a:rPr lang="zh-CN" sz="1350" dirty="0">
                  <a:solidFill>
                    <a:schemeClr val="dk1">
                      <a:alphaMod val="80000"/>
                    </a:schemeClr>
                  </a:solidFill>
                  <a:latin typeface="+mn-lt"/>
                  <a:ea typeface="+mn-ea"/>
                  <a:cs typeface="+mn-cs"/>
                </a:rPr>
                <a:t>换气面积下降、弥散障碍</a:t>
              </a:r>
            </a:p>
          </p:txBody>
        </p:sp>
      </p:grpSp>
      <p:grpSp>
        <p:nvGrpSpPr>
          <p:cNvPr id="18" name="Group 18"/>
          <p:cNvGrpSpPr/>
          <p:nvPr/>
        </p:nvGrpSpPr>
        <p:grpSpPr>
          <a:xfrm>
            <a:off x="4191000" y="1428750"/>
            <a:ext cx="3429000" cy="2571750"/>
            <a:chOff x="4191000" y="1428750"/>
            <a:chExt cx="3429000" cy="2571750"/>
          </a:xfrm>
        </p:grpSpPr>
        <p:sp>
          <p:nvSpPr>
            <p:cNvPr id="12" name="Rectangle 12"/>
            <p:cNvSpPr/>
            <p:nvPr/>
          </p:nvSpPr>
          <p:spPr>
            <a:xfrm>
              <a:off x="4191000" y="1428750"/>
              <a:ext cx="3429000" cy="2571750"/>
            </a:xfrm>
            <a:prstGeom prst="rect">
              <a:avLst/>
            </a:prstGeom>
            <a:solidFill>
              <a:schemeClr val="lt2"/>
            </a:solidFill>
            <a:ln>
              <a:noFill/>
            </a:ln>
          </p:spPr>
        </p:sp>
        <p:sp>
          <p:nvSpPr>
            <p:cNvPr id="13" name="TextBox 13"/>
            <p:cNvSpPr txBox="1"/>
            <p:nvPr/>
          </p:nvSpPr>
          <p:spPr>
            <a:xfrm>
              <a:off x="4410456" y="1634490"/>
              <a:ext cx="29816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02</a:t>
              </a:r>
            </a:p>
          </p:txBody>
        </p:sp>
        <p:sp>
          <p:nvSpPr>
            <p:cNvPr id="14" name="TextBox 14"/>
            <p:cNvSpPr txBox="1"/>
            <p:nvPr/>
          </p:nvSpPr>
          <p:spPr>
            <a:xfrm>
              <a:off x="4408170" y="2043112"/>
              <a:ext cx="6589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胸膜</a:t>
              </a:r>
            </a:p>
          </p:txBody>
        </p:sp>
        <p:sp>
          <p:nvSpPr>
            <p:cNvPr id="15" name="TextBox 15"/>
            <p:cNvSpPr txBox="1"/>
            <p:nvPr/>
          </p:nvSpPr>
          <p:spPr>
            <a:xfrm>
              <a:off x="4412742" y="2578418"/>
              <a:ext cx="1042416"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mn-lt"/>
                  <a:ea typeface="+mn-ea"/>
                  <a:cs typeface="+mn-cs"/>
                </a:rPr>
                <a:t>气胸大量胸腔积液</a:t>
              </a:r>
            </a:p>
          </p:txBody>
        </p:sp>
        <p:sp>
          <p:nvSpPr>
            <p:cNvPr id="16" name="Line 16"/>
            <p:cNvSpPr/>
            <p:nvPr/>
          </p:nvSpPr>
          <p:spPr>
            <a:xfrm>
              <a:off x="4419600" y="3352800"/>
              <a:ext cx="2971800" cy="9525"/>
            </a:xfrm>
            <a:custGeom>
              <a:avLst/>
              <a:gdLst/>
              <a:ahLst/>
              <a:cxnLst/>
              <a:rect l="l" t="t" r="r" b="b"/>
              <a:pathLst>
                <a:path w="2971800" h="9525">
                  <a:moveTo>
                    <a:pt x="0" y="0"/>
                  </a:moveTo>
                  <a:lnTo>
                    <a:pt x="2971800" y="0"/>
                  </a:lnTo>
                </a:path>
              </a:pathLst>
            </a:custGeom>
            <a:noFill/>
            <a:ln w="9525">
              <a:solidFill>
                <a:schemeClr val="dk1">
                  <a:alpha val="20000"/>
                </a:schemeClr>
              </a:solidFill>
            </a:ln>
          </p:spPr>
        </p:sp>
        <p:sp>
          <p:nvSpPr>
            <p:cNvPr id="17" name="TextBox 17"/>
            <p:cNvSpPr txBox="1"/>
            <p:nvPr/>
          </p:nvSpPr>
          <p:spPr>
            <a:xfrm>
              <a:off x="4412742" y="3530918"/>
              <a:ext cx="1831086" cy="264033"/>
            </a:xfrm>
            <a:prstGeom prst="rect">
              <a:avLst/>
            </a:prstGeom>
            <a:noFill/>
            <a:ln>
              <a:noFill/>
            </a:ln>
          </p:spPr>
          <p:txBody>
            <a:bodyPr wrap="none" lIns="0" tIns="0" rIns="0" bIns="0" anchor="t" anchorCtr="0">
              <a:spAutoFit/>
            </a:bodyPr>
            <a:lstStyle/>
            <a:p>
              <a:pPr algn="l"/>
              <a:r>
                <a:rPr lang="zh-CN" sz="1350" dirty="0">
                  <a:solidFill>
                    <a:schemeClr val="dk1">
                      <a:alphaMod val="80000"/>
                    </a:schemeClr>
                  </a:solidFill>
                  <a:latin typeface="+mn-lt"/>
                  <a:ea typeface="+mn-ea"/>
                  <a:cs typeface="+mn-cs"/>
                </a:rPr>
                <a:t>肺扩张受限、通气下降</a:t>
              </a:r>
            </a:p>
          </p:txBody>
        </p:sp>
      </p:grpSp>
      <p:grpSp>
        <p:nvGrpSpPr>
          <p:cNvPr id="25" name="Group 25"/>
          <p:cNvGrpSpPr/>
          <p:nvPr/>
        </p:nvGrpSpPr>
        <p:grpSpPr>
          <a:xfrm>
            <a:off x="8001000" y="1428750"/>
            <a:ext cx="3429000" cy="2571750"/>
            <a:chOff x="8001000" y="1428750"/>
            <a:chExt cx="3429000" cy="2571750"/>
          </a:xfrm>
        </p:grpSpPr>
        <p:sp>
          <p:nvSpPr>
            <p:cNvPr id="19" name="Rectangle 19"/>
            <p:cNvSpPr/>
            <p:nvPr/>
          </p:nvSpPr>
          <p:spPr>
            <a:xfrm>
              <a:off x="8001000" y="1428750"/>
              <a:ext cx="3429000" cy="2571750"/>
            </a:xfrm>
            <a:prstGeom prst="rect">
              <a:avLst/>
            </a:prstGeom>
            <a:solidFill>
              <a:schemeClr val="lt2"/>
            </a:solidFill>
            <a:ln>
              <a:noFill/>
            </a:ln>
          </p:spPr>
        </p:sp>
        <p:sp>
          <p:nvSpPr>
            <p:cNvPr id="20" name="TextBox 20"/>
            <p:cNvSpPr txBox="1"/>
            <p:nvPr/>
          </p:nvSpPr>
          <p:spPr>
            <a:xfrm>
              <a:off x="8220456" y="1634490"/>
              <a:ext cx="29816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03</a:t>
              </a:r>
            </a:p>
          </p:txBody>
        </p:sp>
        <p:sp>
          <p:nvSpPr>
            <p:cNvPr id="21" name="TextBox 21"/>
            <p:cNvSpPr txBox="1"/>
            <p:nvPr/>
          </p:nvSpPr>
          <p:spPr>
            <a:xfrm>
              <a:off x="8218170" y="2043112"/>
              <a:ext cx="97697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心源性</a:t>
              </a:r>
            </a:p>
          </p:txBody>
        </p:sp>
        <p:sp>
          <p:nvSpPr>
            <p:cNvPr id="22" name="TextBox 22"/>
            <p:cNvSpPr txBox="1"/>
            <p:nvPr/>
          </p:nvSpPr>
          <p:spPr>
            <a:xfrm>
              <a:off x="8222742" y="2578418"/>
              <a:ext cx="1385316"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mn-lt"/>
                  <a:ea typeface="+mn-ea"/>
                  <a:cs typeface="+mn-cs"/>
                </a:rPr>
                <a:t>左心功能不全肺淤血、间质水肿</a:t>
              </a:r>
            </a:p>
          </p:txBody>
        </p:sp>
        <p:sp>
          <p:nvSpPr>
            <p:cNvPr id="23" name="Line 23"/>
            <p:cNvSpPr/>
            <p:nvPr/>
          </p:nvSpPr>
          <p:spPr>
            <a:xfrm>
              <a:off x="8229600" y="3352800"/>
              <a:ext cx="2971800" cy="9525"/>
            </a:xfrm>
            <a:custGeom>
              <a:avLst/>
              <a:gdLst/>
              <a:ahLst/>
              <a:cxnLst/>
              <a:rect l="l" t="t" r="r" b="b"/>
              <a:pathLst>
                <a:path w="2971800" h="9525">
                  <a:moveTo>
                    <a:pt x="0" y="0"/>
                  </a:moveTo>
                  <a:lnTo>
                    <a:pt x="2971800" y="0"/>
                  </a:lnTo>
                </a:path>
              </a:pathLst>
            </a:custGeom>
            <a:noFill/>
            <a:ln w="9525">
              <a:solidFill>
                <a:schemeClr val="dk1">
                  <a:alpha val="20000"/>
                </a:schemeClr>
              </a:solidFill>
            </a:ln>
          </p:spPr>
        </p:sp>
        <p:sp>
          <p:nvSpPr>
            <p:cNvPr id="24" name="TextBox 24"/>
            <p:cNvSpPr txBox="1"/>
            <p:nvPr/>
          </p:nvSpPr>
          <p:spPr>
            <a:xfrm>
              <a:off x="8222742" y="3530918"/>
              <a:ext cx="2012823" cy="264033"/>
            </a:xfrm>
            <a:prstGeom prst="rect">
              <a:avLst/>
            </a:prstGeom>
            <a:noFill/>
            <a:ln>
              <a:noFill/>
            </a:ln>
          </p:spPr>
          <p:txBody>
            <a:bodyPr wrap="none" lIns="0" tIns="0" rIns="0" bIns="0" anchor="t" anchorCtr="0">
              <a:spAutoFit/>
            </a:bodyPr>
            <a:lstStyle/>
            <a:p>
              <a:pPr algn="l"/>
              <a:r>
                <a:rPr lang="zh-CN" sz="1350" dirty="0">
                  <a:solidFill>
                    <a:schemeClr val="dk1">
                      <a:alphaMod val="80000"/>
                    </a:schemeClr>
                  </a:solidFill>
                  <a:latin typeface="+mn-lt"/>
                  <a:ea typeface="+mn-ea"/>
                  <a:cs typeface="+mn-cs"/>
                </a:rPr>
                <a:t>弥散下降、肺顺应性降低</a:t>
              </a:r>
            </a:p>
          </p:txBody>
        </p:sp>
      </p:grpSp>
      <p:grpSp>
        <p:nvGrpSpPr>
          <p:cNvPr id="29" name="Group 29"/>
          <p:cNvGrpSpPr/>
          <p:nvPr/>
        </p:nvGrpSpPr>
        <p:grpSpPr>
          <a:xfrm>
            <a:off x="373380" y="4476750"/>
            <a:ext cx="11437620" cy="1655445"/>
            <a:chOff x="373380" y="4476750"/>
            <a:chExt cx="11437620" cy="1655445"/>
          </a:xfrm>
        </p:grpSpPr>
        <p:sp>
          <p:nvSpPr>
            <p:cNvPr id="26" name="Rectangle 26"/>
            <p:cNvSpPr/>
            <p:nvPr/>
          </p:nvSpPr>
          <p:spPr>
            <a:xfrm>
              <a:off x="381000" y="4476750"/>
              <a:ext cx="11430000" cy="1047750"/>
            </a:xfrm>
            <a:prstGeom prst="rect">
              <a:avLst/>
            </a:prstGeom>
            <a:solidFill>
              <a:schemeClr val="accent1"/>
            </a:solidFill>
            <a:ln>
              <a:noFill/>
            </a:ln>
          </p:spPr>
        </p:sp>
        <p:sp>
          <p:nvSpPr>
            <p:cNvPr id="27" name="TextBox 27"/>
            <p:cNvSpPr txBox="1"/>
            <p:nvPr/>
          </p:nvSpPr>
          <p:spPr>
            <a:xfrm>
              <a:off x="746760" y="4781550"/>
              <a:ext cx="4695063" cy="586740"/>
            </a:xfrm>
            <a:prstGeom prst="rect">
              <a:avLst/>
            </a:prstGeom>
            <a:noFill/>
            <a:ln>
              <a:noFill/>
            </a:ln>
          </p:spPr>
          <p:txBody>
            <a:bodyPr wrap="none" lIns="0" tIns="0" rIns="0" bIns="0" anchor="t" anchorCtr="0">
              <a:spAutoFit/>
            </a:bodyPr>
            <a:lstStyle/>
            <a:p>
              <a:pPr algn="l"/>
              <a:r>
                <a:rPr lang="zh-CN" sz="3000" b="1" dirty="0">
                  <a:solidFill>
                    <a:srgbClr val="FFFFFF"/>
                  </a:solidFill>
                  <a:latin typeface="+mn-lt"/>
                  <a:ea typeface="+mn-ea"/>
                  <a:cs typeface="+mn-cs"/>
                </a:rPr>
                <a:t>吸呼都费力，时相切不开</a:t>
              </a:r>
            </a:p>
          </p:txBody>
        </p:sp>
        <p:sp>
          <p:nvSpPr>
            <p:cNvPr id="28" name="TextBox 28"/>
            <p:cNvSpPr txBox="1"/>
            <p:nvPr/>
          </p:nvSpPr>
          <p:spPr>
            <a:xfrm>
              <a:off x="373380" y="5838825"/>
              <a:ext cx="5871210" cy="293370"/>
            </a:xfrm>
            <a:prstGeom prst="rect">
              <a:avLst/>
            </a:prstGeom>
            <a:noFill/>
            <a:ln>
              <a:noFill/>
            </a:ln>
          </p:spPr>
          <p:txBody>
            <a:bodyPr wrap="none" lIns="0" tIns="0" rIns="0" bIns="0" anchor="t" anchorCtr="0">
              <a:spAutoFit/>
            </a:bodyPr>
            <a:lstStyle/>
            <a:p>
              <a:pPr algn="l"/>
              <a:r>
                <a:rPr lang="zh-CN" sz="1500" dirty="0">
                  <a:solidFill>
                    <a:schemeClr val="dk1">
                      <a:alphaMod val="75000"/>
                    </a:schemeClr>
                  </a:solidFill>
                  <a:latin typeface="+mn-lt"/>
                  <a:ea typeface="+mn-ea"/>
                  <a:cs typeface="+mn-cs"/>
                </a:rPr>
                <a:t>这时要靠病史、体征与床旁检查定病因，而不是继续按时相细分。</a:t>
              </a:r>
            </a:p>
          </p:txBody>
        </p:sp>
      </p:grpSp>
      <p:grpSp>
        <p:nvGrpSpPr>
          <p:cNvPr id="32" name="Group 32"/>
          <p:cNvGrpSpPr/>
          <p:nvPr/>
        </p:nvGrpSpPr>
        <p:grpSpPr>
          <a:xfrm>
            <a:off x="374142" y="6445568"/>
            <a:ext cx="11443716" cy="264033"/>
            <a:chOff x="374142" y="6445568"/>
            <a:chExt cx="11443716" cy="264033"/>
          </a:xfrm>
        </p:grpSpPr>
        <p:sp>
          <p:nvSpPr>
            <p:cNvPr id="30" name="TextBox 30"/>
            <p:cNvSpPr txBox="1"/>
            <p:nvPr/>
          </p:nvSpPr>
          <p:spPr>
            <a:xfrm>
              <a:off x="374142" y="6445568"/>
              <a:ext cx="1540307"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05 病因诊断四步法</a:t>
              </a:r>
            </a:p>
          </p:txBody>
        </p:sp>
        <p:sp>
          <p:nvSpPr>
            <p:cNvPr id="31" name="TextBox 31"/>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16 / 20</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596722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最危险的，可能是不喘的那一个</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9" name="Group 9"/>
          <p:cNvGrpSpPr/>
          <p:nvPr/>
        </p:nvGrpSpPr>
        <p:grpSpPr>
          <a:xfrm>
            <a:off x="365760" y="1721168"/>
            <a:ext cx="3630930" cy="3540633"/>
            <a:chOff x="365760" y="1721168"/>
            <a:chExt cx="3630930" cy="3540633"/>
          </a:xfrm>
        </p:grpSpPr>
        <p:sp>
          <p:nvSpPr>
            <p:cNvPr id="5" name="TextBox 5"/>
            <p:cNvSpPr txBox="1"/>
            <p:nvPr/>
          </p:nvSpPr>
          <p:spPr>
            <a:xfrm>
              <a:off x="374142" y="1721168"/>
              <a:ext cx="1892675"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最容易被漏掉的一型</a:t>
              </a:r>
            </a:p>
          </p:txBody>
        </p:sp>
        <p:sp>
          <p:nvSpPr>
            <p:cNvPr id="6" name="TextBox 6"/>
            <p:cNvSpPr txBox="1"/>
            <p:nvPr/>
          </p:nvSpPr>
          <p:spPr>
            <a:xfrm>
              <a:off x="365760" y="2209800"/>
              <a:ext cx="2430780" cy="1082040"/>
            </a:xfrm>
            <a:prstGeom prst="rect">
              <a:avLst/>
            </a:prstGeom>
            <a:noFill/>
            <a:ln>
              <a:noFill/>
            </a:ln>
          </p:spPr>
          <p:txBody>
            <a:bodyPr wrap="square" lIns="0" tIns="0" rIns="0" bIns="0" anchor="t" anchorCtr="0"/>
            <a:lstStyle/>
            <a:p>
              <a:pPr algn="l">
                <a:lnSpc>
                  <a:spcPts val="3900"/>
                </a:lnSpc>
              </a:pPr>
              <a:r>
                <a:rPr lang="zh-CN" sz="3000" b="1" dirty="0">
                  <a:solidFill>
                    <a:schemeClr val="accent1"/>
                  </a:solidFill>
                  <a:latin typeface="+mn-lt"/>
                  <a:ea typeface="+mn-ea"/>
                  <a:cs typeface="+mn-cs"/>
                </a:rPr>
                <a:t>呼吸不快，不代表不危险</a:t>
              </a:r>
            </a:p>
          </p:txBody>
        </p:sp>
        <p:sp>
          <p:nvSpPr>
            <p:cNvPr id="7" name="TextBox 7"/>
            <p:cNvSpPr txBox="1"/>
            <p:nvPr/>
          </p:nvSpPr>
          <p:spPr>
            <a:xfrm>
              <a:off x="365760" y="3390900"/>
              <a:ext cx="3630930" cy="1177290"/>
            </a:xfrm>
            <a:prstGeom prst="rect">
              <a:avLst/>
            </a:prstGeom>
            <a:noFill/>
            <a:ln>
              <a:noFill/>
            </a:ln>
          </p:spPr>
          <p:txBody>
            <a:bodyPr wrap="square" lIns="0" tIns="0" rIns="0" bIns="0" anchor="t" anchorCtr="0"/>
            <a:lstStyle/>
            <a:p>
              <a:pPr algn="l">
                <a:lnSpc>
                  <a:spcPts val="4650"/>
                </a:lnSpc>
              </a:pPr>
              <a:r>
                <a:rPr lang="zh-CN" sz="3000" b="1" dirty="0">
                  <a:solidFill>
                    <a:schemeClr val="accent2"/>
                  </a:solidFill>
                  <a:latin typeface="+mn-lt"/>
                  <a:ea typeface="+mn-ea"/>
                  <a:cs typeface="+mn-cs"/>
                </a:rPr>
                <a:t>嗜睡、反应差、发绀可能已是衰竭前夜</a:t>
              </a:r>
            </a:p>
          </p:txBody>
        </p:sp>
        <p:sp>
          <p:nvSpPr>
            <p:cNvPr id="8" name="TextBox 8"/>
            <p:cNvSpPr txBox="1"/>
            <p:nvPr/>
          </p:nvSpPr>
          <p:spPr>
            <a:xfrm>
              <a:off x="374142" y="4769168"/>
              <a:ext cx="2756916" cy="492633"/>
            </a:xfrm>
            <a:prstGeom prst="rect">
              <a:avLst/>
            </a:prstGeom>
            <a:noFill/>
            <a:ln>
              <a:noFill/>
            </a:ln>
          </p:spPr>
          <p:txBody>
            <a:bodyPr wrap="square" lIns="0" tIns="0" rIns="0" bIns="0" anchor="t" anchorCtr="0"/>
            <a:lstStyle/>
            <a:p>
              <a:pPr algn="l">
                <a:lnSpc>
                  <a:spcPts val="1800"/>
                </a:lnSpc>
              </a:pPr>
              <a:r>
                <a:rPr lang="zh-CN" sz="1350" dirty="0">
                  <a:solidFill>
                    <a:schemeClr val="dk1">
                      <a:alphaMod val="78000"/>
                    </a:schemeClr>
                  </a:solidFill>
                  <a:latin typeface="+mn-lt"/>
                  <a:ea typeface="+mn-ea"/>
                  <a:cs typeface="+mn-cs"/>
                </a:rPr>
                <a:t>呼吸变浅、变慢，节律不规则或暂停可伴二氧化碳潴留与低氧血症</a:t>
              </a:r>
            </a:p>
          </p:txBody>
        </p:sp>
      </p:grpSp>
      <p:grpSp>
        <p:nvGrpSpPr>
          <p:cNvPr id="31" name="Group 31"/>
          <p:cNvGrpSpPr/>
          <p:nvPr/>
        </p:nvGrpSpPr>
        <p:grpSpPr>
          <a:xfrm>
            <a:off x="7232142" y="1797368"/>
            <a:ext cx="4578858" cy="3508438"/>
            <a:chOff x="7232142" y="1797368"/>
            <a:chExt cx="4578858" cy="3508438"/>
          </a:xfrm>
        </p:grpSpPr>
        <p:sp>
          <p:nvSpPr>
            <p:cNvPr id="10" name="TextBox 10"/>
            <p:cNvSpPr txBox="1"/>
            <p:nvPr/>
          </p:nvSpPr>
          <p:spPr>
            <a:xfrm>
              <a:off x="7232142" y="1797368"/>
              <a:ext cx="39536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对照</a:t>
              </a:r>
            </a:p>
          </p:txBody>
        </p:sp>
        <p:sp>
          <p:nvSpPr>
            <p:cNvPr id="11" name="TextBox 11"/>
            <p:cNvSpPr txBox="1"/>
            <p:nvPr/>
          </p:nvSpPr>
          <p:spPr>
            <a:xfrm>
              <a:off x="8946642" y="1797368"/>
              <a:ext cx="39536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快型</a:t>
              </a:r>
            </a:p>
          </p:txBody>
        </p:sp>
        <p:sp>
          <p:nvSpPr>
            <p:cNvPr id="12" name="TextBox 12"/>
            <p:cNvSpPr txBox="1"/>
            <p:nvPr/>
          </p:nvSpPr>
          <p:spPr>
            <a:xfrm>
              <a:off x="10470642" y="1797368"/>
              <a:ext cx="39536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慢型</a:t>
              </a:r>
            </a:p>
          </p:txBody>
        </p:sp>
        <p:sp>
          <p:nvSpPr>
            <p:cNvPr id="13" name="Line 13"/>
            <p:cNvSpPr/>
            <p:nvPr/>
          </p:nvSpPr>
          <p:spPr>
            <a:xfrm>
              <a:off x="7239000" y="2076450"/>
              <a:ext cx="4572000" cy="9525"/>
            </a:xfrm>
            <a:custGeom>
              <a:avLst/>
              <a:gdLst/>
              <a:ahLst/>
              <a:cxnLst/>
              <a:rect l="l" t="t" r="r" b="b"/>
              <a:pathLst>
                <a:path w="4572000" h="9525">
                  <a:moveTo>
                    <a:pt x="0" y="0"/>
                  </a:moveTo>
                  <a:lnTo>
                    <a:pt x="4572000" y="0"/>
                  </a:lnTo>
                </a:path>
              </a:pathLst>
            </a:custGeom>
            <a:noFill/>
            <a:ln w="19050">
              <a:solidFill>
                <a:schemeClr val="accent1"/>
              </a:solidFill>
            </a:ln>
          </p:spPr>
        </p:sp>
        <p:sp>
          <p:nvSpPr>
            <p:cNvPr id="14" name="TextBox 14"/>
            <p:cNvSpPr txBox="1"/>
            <p:nvPr/>
          </p:nvSpPr>
          <p:spPr>
            <a:xfrm>
              <a:off x="7232142" y="236886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呼吸频率</a:t>
              </a:r>
            </a:p>
          </p:txBody>
        </p:sp>
        <p:sp>
          <p:nvSpPr>
            <p:cNvPr id="15" name="TextBox 15"/>
            <p:cNvSpPr txBox="1"/>
            <p:nvPr/>
          </p:nvSpPr>
          <p:spPr>
            <a:xfrm>
              <a:off x="8946642" y="236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明显增快</a:t>
              </a:r>
            </a:p>
          </p:txBody>
        </p:sp>
        <p:sp>
          <p:nvSpPr>
            <p:cNvPr id="16" name="TextBox 16"/>
            <p:cNvSpPr txBox="1"/>
            <p:nvPr/>
          </p:nvSpPr>
          <p:spPr>
            <a:xfrm>
              <a:off x="10470642" y="23688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正常或减慢</a:t>
              </a:r>
            </a:p>
          </p:txBody>
        </p:sp>
        <p:sp>
          <p:nvSpPr>
            <p:cNvPr id="17" name="Line 17"/>
            <p:cNvSpPr/>
            <p:nvPr/>
          </p:nvSpPr>
          <p:spPr>
            <a:xfrm>
              <a:off x="7239000" y="2743200"/>
              <a:ext cx="4572000" cy="9525"/>
            </a:xfrm>
            <a:custGeom>
              <a:avLst/>
              <a:gdLst/>
              <a:ahLst/>
              <a:cxnLst/>
              <a:rect l="l" t="t" r="r" b="b"/>
              <a:pathLst>
                <a:path w="4572000" h="9525">
                  <a:moveTo>
                    <a:pt x="0" y="0"/>
                  </a:moveTo>
                  <a:lnTo>
                    <a:pt x="4572000" y="0"/>
                  </a:lnTo>
                </a:path>
              </a:pathLst>
            </a:custGeom>
            <a:noFill/>
            <a:ln w="9525">
              <a:solidFill>
                <a:schemeClr val="dk1">
                  <a:alpha val="12000"/>
                </a:schemeClr>
              </a:solidFill>
            </a:ln>
          </p:spPr>
        </p:sp>
        <p:sp>
          <p:nvSpPr>
            <p:cNvPr id="18" name="TextBox 18"/>
            <p:cNvSpPr txBox="1"/>
            <p:nvPr/>
          </p:nvSpPr>
          <p:spPr>
            <a:xfrm>
              <a:off x="7232142" y="303561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呼吸做功</a:t>
              </a:r>
            </a:p>
          </p:txBody>
        </p:sp>
        <p:sp>
          <p:nvSpPr>
            <p:cNvPr id="19" name="TextBox 19"/>
            <p:cNvSpPr txBox="1"/>
            <p:nvPr/>
          </p:nvSpPr>
          <p:spPr>
            <a:xfrm>
              <a:off x="8946642" y="30356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明显增加</a:t>
              </a:r>
            </a:p>
          </p:txBody>
        </p:sp>
        <p:sp>
          <p:nvSpPr>
            <p:cNvPr id="20" name="TextBox 20"/>
            <p:cNvSpPr txBox="1"/>
            <p:nvPr/>
          </p:nvSpPr>
          <p:spPr>
            <a:xfrm>
              <a:off x="10470642" y="3035618"/>
              <a:ext cx="55892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可减弱</a:t>
              </a:r>
            </a:p>
          </p:txBody>
        </p:sp>
        <p:sp>
          <p:nvSpPr>
            <p:cNvPr id="21" name="Line 21"/>
            <p:cNvSpPr/>
            <p:nvPr/>
          </p:nvSpPr>
          <p:spPr>
            <a:xfrm>
              <a:off x="7239000" y="3409950"/>
              <a:ext cx="4572000" cy="9525"/>
            </a:xfrm>
            <a:custGeom>
              <a:avLst/>
              <a:gdLst/>
              <a:ahLst/>
              <a:cxnLst/>
              <a:rect l="l" t="t" r="r" b="b"/>
              <a:pathLst>
                <a:path w="4572000" h="9525">
                  <a:moveTo>
                    <a:pt x="0" y="0"/>
                  </a:moveTo>
                  <a:lnTo>
                    <a:pt x="4572000" y="0"/>
                  </a:lnTo>
                </a:path>
              </a:pathLst>
            </a:custGeom>
            <a:noFill/>
            <a:ln w="9525">
              <a:solidFill>
                <a:schemeClr val="dk1">
                  <a:alpha val="12000"/>
                </a:schemeClr>
              </a:solidFill>
            </a:ln>
          </p:spPr>
        </p:sp>
        <p:sp>
          <p:nvSpPr>
            <p:cNvPr id="22" name="TextBox 22"/>
            <p:cNvSpPr txBox="1"/>
            <p:nvPr/>
          </p:nvSpPr>
          <p:spPr>
            <a:xfrm>
              <a:off x="7232142" y="3702368"/>
              <a:ext cx="3953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节律</a:t>
              </a:r>
            </a:p>
          </p:txBody>
        </p:sp>
        <p:sp>
          <p:nvSpPr>
            <p:cNvPr id="23" name="TextBox 23"/>
            <p:cNvSpPr txBox="1"/>
            <p:nvPr/>
          </p:nvSpPr>
          <p:spPr>
            <a:xfrm>
              <a:off x="8946642" y="3702368"/>
              <a:ext cx="55892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多规则</a:t>
              </a:r>
            </a:p>
          </p:txBody>
        </p:sp>
        <p:sp>
          <p:nvSpPr>
            <p:cNvPr id="24" name="TextBox 24"/>
            <p:cNvSpPr txBox="1"/>
            <p:nvPr/>
          </p:nvSpPr>
          <p:spPr>
            <a:xfrm>
              <a:off x="10470642" y="37023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不规则、暂停</a:t>
              </a:r>
            </a:p>
          </p:txBody>
        </p:sp>
        <p:sp>
          <p:nvSpPr>
            <p:cNvPr id="25" name="Line 25"/>
            <p:cNvSpPr/>
            <p:nvPr/>
          </p:nvSpPr>
          <p:spPr>
            <a:xfrm>
              <a:off x="7239000" y="4076700"/>
              <a:ext cx="4572000" cy="9525"/>
            </a:xfrm>
            <a:custGeom>
              <a:avLst/>
              <a:gdLst/>
              <a:ahLst/>
              <a:cxnLst/>
              <a:rect l="l" t="t" r="r" b="b"/>
              <a:pathLst>
                <a:path w="4572000" h="9525">
                  <a:moveTo>
                    <a:pt x="0" y="0"/>
                  </a:moveTo>
                  <a:lnTo>
                    <a:pt x="4572000" y="0"/>
                  </a:lnTo>
                </a:path>
              </a:pathLst>
            </a:custGeom>
            <a:noFill/>
            <a:ln w="9525">
              <a:solidFill>
                <a:schemeClr val="dk1">
                  <a:alpha val="12000"/>
                </a:schemeClr>
              </a:solidFill>
            </a:ln>
          </p:spPr>
        </p:sp>
        <p:sp>
          <p:nvSpPr>
            <p:cNvPr id="26" name="TextBox 26"/>
            <p:cNvSpPr txBox="1"/>
            <p:nvPr/>
          </p:nvSpPr>
          <p:spPr>
            <a:xfrm>
              <a:off x="7232142" y="4369118"/>
              <a:ext cx="3953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意识</a:t>
              </a:r>
            </a:p>
          </p:txBody>
        </p:sp>
        <p:sp>
          <p:nvSpPr>
            <p:cNvPr id="27" name="TextBox 27"/>
            <p:cNvSpPr txBox="1"/>
            <p:nvPr/>
          </p:nvSpPr>
          <p:spPr>
            <a:xfrm>
              <a:off x="8946642" y="4369118"/>
              <a:ext cx="55892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多烦躁</a:t>
              </a:r>
            </a:p>
          </p:txBody>
        </p:sp>
        <p:sp>
          <p:nvSpPr>
            <p:cNvPr id="28" name="TextBox 28"/>
            <p:cNvSpPr txBox="1"/>
            <p:nvPr/>
          </p:nvSpPr>
          <p:spPr>
            <a:xfrm>
              <a:off x="10470642" y="43691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嗜睡、反应差</a:t>
              </a:r>
            </a:p>
          </p:txBody>
        </p:sp>
        <p:sp>
          <p:nvSpPr>
            <p:cNvPr id="29" name="Line 29"/>
            <p:cNvSpPr/>
            <p:nvPr/>
          </p:nvSpPr>
          <p:spPr>
            <a:xfrm>
              <a:off x="7239000" y="4743450"/>
              <a:ext cx="4572000" cy="9525"/>
            </a:xfrm>
            <a:custGeom>
              <a:avLst/>
              <a:gdLst/>
              <a:ahLst/>
              <a:cxnLst/>
              <a:rect l="l" t="t" r="r" b="b"/>
              <a:pathLst>
                <a:path w="4572000" h="9525">
                  <a:moveTo>
                    <a:pt x="0" y="0"/>
                  </a:moveTo>
                  <a:lnTo>
                    <a:pt x="4572000" y="0"/>
                  </a:lnTo>
                </a:path>
              </a:pathLst>
            </a:custGeom>
            <a:noFill/>
            <a:ln w="9525">
              <a:solidFill>
                <a:schemeClr val="dk1">
                  <a:alpha val="12000"/>
                </a:schemeClr>
              </a:solidFill>
            </a:ln>
          </p:spPr>
        </p:sp>
        <p:sp>
          <p:nvSpPr>
            <p:cNvPr id="30" name="TextBox 30"/>
            <p:cNvSpPr txBox="1"/>
            <p:nvPr/>
          </p:nvSpPr>
          <p:spPr>
            <a:xfrm>
              <a:off x="7232904" y="5071110"/>
              <a:ext cx="291998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慢型常以意识改变为首发，而非呼吸增快</a:t>
              </a:r>
            </a:p>
          </p:txBody>
        </p:sp>
      </p:grpSp>
      <p:grpSp>
        <p:nvGrpSpPr>
          <p:cNvPr id="34" name="Group 34"/>
          <p:cNvGrpSpPr/>
          <p:nvPr/>
        </p:nvGrpSpPr>
        <p:grpSpPr>
          <a:xfrm>
            <a:off x="374142" y="6445568"/>
            <a:ext cx="11443716" cy="264033"/>
            <a:chOff x="374142" y="6445568"/>
            <a:chExt cx="11443716" cy="264033"/>
          </a:xfrm>
        </p:grpSpPr>
        <p:sp>
          <p:nvSpPr>
            <p:cNvPr id="32" name="TextBox 32"/>
            <p:cNvSpPr txBox="1"/>
            <p:nvPr/>
          </p:nvSpPr>
          <p:spPr>
            <a:xfrm>
              <a:off x="374142" y="6445568"/>
              <a:ext cx="1540307"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05 病因诊断四步法</a:t>
              </a:r>
            </a:p>
          </p:txBody>
        </p:sp>
        <p:sp>
          <p:nvSpPr>
            <p:cNvPr id="33" name="TextBox 33"/>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17 / 20</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554316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急救六步：先稳住，再找原因</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1" name="Group 11"/>
          <p:cNvGrpSpPr/>
          <p:nvPr/>
        </p:nvGrpSpPr>
        <p:grpSpPr>
          <a:xfrm>
            <a:off x="381000" y="1714500"/>
            <a:ext cx="1714500" cy="3619500"/>
            <a:chOff x="381000" y="1714500"/>
            <a:chExt cx="1714500" cy="3619500"/>
          </a:xfrm>
        </p:grpSpPr>
        <p:sp>
          <p:nvSpPr>
            <p:cNvPr id="5" name="Rectangle 5"/>
            <p:cNvSpPr/>
            <p:nvPr/>
          </p:nvSpPr>
          <p:spPr>
            <a:xfrm>
              <a:off x="381000" y="1714500"/>
              <a:ext cx="1714500" cy="3619500"/>
            </a:xfrm>
            <a:prstGeom prst="rect">
              <a:avLst/>
            </a:prstGeom>
            <a:solidFill>
              <a:schemeClr val="lt2"/>
            </a:solidFill>
            <a:ln>
              <a:noFill/>
            </a:ln>
          </p:spPr>
        </p:sp>
        <p:sp>
          <p:nvSpPr>
            <p:cNvPr id="6" name="Rectangle 6"/>
            <p:cNvSpPr/>
            <p:nvPr/>
          </p:nvSpPr>
          <p:spPr>
            <a:xfrm>
              <a:off x="381000" y="1714500"/>
              <a:ext cx="1714500" cy="57150"/>
            </a:xfrm>
            <a:prstGeom prst="rect">
              <a:avLst/>
            </a:prstGeom>
            <a:solidFill>
              <a:schemeClr val="accent2"/>
            </a:solidFill>
            <a:ln>
              <a:noFill/>
            </a:ln>
          </p:spPr>
        </p:sp>
        <p:sp>
          <p:nvSpPr>
            <p:cNvPr id="7" name="TextBox 7"/>
            <p:cNvSpPr txBox="1"/>
            <p:nvPr/>
          </p:nvSpPr>
          <p:spPr>
            <a:xfrm>
              <a:off x="536448" y="2022158"/>
              <a:ext cx="521785"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01</a:t>
              </a:r>
            </a:p>
          </p:txBody>
        </p:sp>
        <p:sp>
          <p:nvSpPr>
            <p:cNvPr id="8" name="TextBox 8"/>
            <p:cNvSpPr txBox="1"/>
            <p:nvPr/>
          </p:nvSpPr>
          <p:spPr>
            <a:xfrm>
              <a:off x="544068" y="2660332"/>
              <a:ext cx="949681"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开放气道</a:t>
              </a:r>
            </a:p>
          </p:txBody>
        </p:sp>
        <p:sp>
          <p:nvSpPr>
            <p:cNvPr id="9" name="Line 9"/>
            <p:cNvSpPr/>
            <p:nvPr/>
          </p:nvSpPr>
          <p:spPr>
            <a:xfrm>
              <a:off x="552450" y="3028950"/>
              <a:ext cx="1371600" cy="9525"/>
            </a:xfrm>
            <a:custGeom>
              <a:avLst/>
              <a:gdLst/>
              <a:ahLst/>
              <a:cxnLst/>
              <a:rect l="l" t="t" r="r" b="b"/>
              <a:pathLst>
                <a:path w="1371600" h="9525">
                  <a:moveTo>
                    <a:pt x="0" y="0"/>
                  </a:moveTo>
                  <a:lnTo>
                    <a:pt x="1371600" y="0"/>
                  </a:lnTo>
                </a:path>
              </a:pathLst>
            </a:custGeom>
            <a:noFill/>
            <a:ln w="9525">
              <a:solidFill>
                <a:schemeClr val="accent1"/>
              </a:solidFill>
            </a:ln>
          </p:spPr>
        </p:sp>
        <p:sp>
          <p:nvSpPr>
            <p:cNvPr id="10" name="TextBox 10"/>
            <p:cNvSpPr txBox="1"/>
            <p:nvPr/>
          </p:nvSpPr>
          <p:spPr>
            <a:xfrm>
              <a:off x="546354" y="3223260"/>
              <a:ext cx="774192" cy="920496"/>
            </a:xfrm>
            <a:prstGeom prst="rect">
              <a:avLst/>
            </a:prstGeom>
            <a:noFill/>
            <a:ln>
              <a:noFill/>
            </a:ln>
          </p:spPr>
          <p:txBody>
            <a:bodyPr wrap="square" lIns="0" tIns="0" rIns="0" bIns="0" anchor="t" anchorCtr="0"/>
            <a:lstStyle/>
            <a:p>
              <a:pPr algn="l">
                <a:lnSpc>
                  <a:spcPts val="1800"/>
                </a:lnSpc>
              </a:pPr>
              <a:r>
                <a:rPr lang="zh-CN" sz="1200" dirty="0">
                  <a:solidFill>
                    <a:schemeClr val="dk1"/>
                  </a:solidFill>
                  <a:latin typeface="+mn-lt"/>
                  <a:ea typeface="+mn-ea"/>
                  <a:cs typeface="+mn-cs"/>
                </a:rPr>
                <a:t>清除分泌物与异物必要时球囊面罩通气</a:t>
              </a:r>
            </a:p>
          </p:txBody>
        </p:sp>
      </p:grpSp>
      <p:grpSp>
        <p:nvGrpSpPr>
          <p:cNvPr id="18" name="Group 18"/>
          <p:cNvGrpSpPr/>
          <p:nvPr/>
        </p:nvGrpSpPr>
        <p:grpSpPr>
          <a:xfrm>
            <a:off x="2286000" y="1714500"/>
            <a:ext cx="1714500" cy="3619500"/>
            <a:chOff x="2286000" y="1714500"/>
            <a:chExt cx="1714500" cy="3619500"/>
          </a:xfrm>
        </p:grpSpPr>
        <p:sp>
          <p:nvSpPr>
            <p:cNvPr id="12" name="Rectangle 12"/>
            <p:cNvSpPr/>
            <p:nvPr/>
          </p:nvSpPr>
          <p:spPr>
            <a:xfrm>
              <a:off x="2286000" y="1714500"/>
              <a:ext cx="1714500" cy="3619500"/>
            </a:xfrm>
            <a:prstGeom prst="rect">
              <a:avLst/>
            </a:prstGeom>
            <a:solidFill>
              <a:schemeClr val="lt2"/>
            </a:solidFill>
            <a:ln>
              <a:noFill/>
            </a:ln>
          </p:spPr>
        </p:sp>
        <p:sp>
          <p:nvSpPr>
            <p:cNvPr id="13" name="Rectangle 13"/>
            <p:cNvSpPr/>
            <p:nvPr/>
          </p:nvSpPr>
          <p:spPr>
            <a:xfrm>
              <a:off x="2286000" y="1714500"/>
              <a:ext cx="1714500" cy="57150"/>
            </a:xfrm>
            <a:prstGeom prst="rect">
              <a:avLst/>
            </a:prstGeom>
            <a:solidFill>
              <a:schemeClr val="accent1"/>
            </a:solidFill>
            <a:ln>
              <a:noFill/>
            </a:ln>
          </p:spPr>
        </p:sp>
        <p:sp>
          <p:nvSpPr>
            <p:cNvPr id="14" name="TextBox 14"/>
            <p:cNvSpPr txBox="1"/>
            <p:nvPr/>
          </p:nvSpPr>
          <p:spPr>
            <a:xfrm>
              <a:off x="2441448" y="2022158"/>
              <a:ext cx="521785"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02</a:t>
              </a:r>
            </a:p>
          </p:txBody>
        </p:sp>
        <p:sp>
          <p:nvSpPr>
            <p:cNvPr id="15" name="TextBox 15"/>
            <p:cNvSpPr txBox="1"/>
            <p:nvPr/>
          </p:nvSpPr>
          <p:spPr>
            <a:xfrm>
              <a:off x="2449068" y="2660332"/>
              <a:ext cx="1182910"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氧疗与通气</a:t>
              </a:r>
            </a:p>
          </p:txBody>
        </p:sp>
        <p:sp>
          <p:nvSpPr>
            <p:cNvPr id="16" name="Line 16"/>
            <p:cNvSpPr/>
            <p:nvPr/>
          </p:nvSpPr>
          <p:spPr>
            <a:xfrm>
              <a:off x="2457450" y="3028950"/>
              <a:ext cx="1371600" cy="9525"/>
            </a:xfrm>
            <a:custGeom>
              <a:avLst/>
              <a:gdLst/>
              <a:ahLst/>
              <a:cxnLst/>
              <a:rect l="l" t="t" r="r" b="b"/>
              <a:pathLst>
                <a:path w="1371600" h="9525">
                  <a:moveTo>
                    <a:pt x="0" y="0"/>
                  </a:moveTo>
                  <a:lnTo>
                    <a:pt x="1371600" y="0"/>
                  </a:lnTo>
                </a:path>
              </a:pathLst>
            </a:custGeom>
            <a:noFill/>
            <a:ln w="9525">
              <a:solidFill>
                <a:schemeClr val="accent1"/>
              </a:solidFill>
            </a:ln>
          </p:spPr>
        </p:sp>
        <p:sp>
          <p:nvSpPr>
            <p:cNvPr id="17" name="TextBox 17"/>
            <p:cNvSpPr txBox="1"/>
            <p:nvPr/>
          </p:nvSpPr>
          <p:spPr>
            <a:xfrm>
              <a:off x="2451354" y="3223260"/>
              <a:ext cx="949452" cy="691896"/>
            </a:xfrm>
            <a:prstGeom prst="rect">
              <a:avLst/>
            </a:prstGeom>
            <a:noFill/>
            <a:ln>
              <a:noFill/>
            </a:ln>
          </p:spPr>
          <p:txBody>
            <a:bodyPr wrap="square" lIns="0" tIns="0" rIns="0" bIns="0" anchor="t" anchorCtr="0"/>
            <a:lstStyle/>
            <a:p>
              <a:pPr algn="l">
                <a:lnSpc>
                  <a:spcPts val="1800"/>
                </a:lnSpc>
              </a:pPr>
              <a:r>
                <a:rPr lang="zh-CN" sz="1200" dirty="0">
                  <a:solidFill>
                    <a:schemeClr val="dk1"/>
                  </a:solidFill>
                  <a:latin typeface="+mn-lt"/>
                  <a:ea typeface="+mn-ea"/>
                  <a:cs typeface="+mn-cs"/>
                </a:rPr>
                <a:t>鼻导管 / 面罩无效时无创或有创通气</a:t>
              </a:r>
            </a:p>
          </p:txBody>
        </p:sp>
      </p:grpSp>
      <p:grpSp>
        <p:nvGrpSpPr>
          <p:cNvPr id="25" name="Group 25"/>
          <p:cNvGrpSpPr/>
          <p:nvPr/>
        </p:nvGrpSpPr>
        <p:grpSpPr>
          <a:xfrm>
            <a:off x="4191000" y="1714500"/>
            <a:ext cx="1714500" cy="3619500"/>
            <a:chOff x="4191000" y="1714500"/>
            <a:chExt cx="1714500" cy="3619500"/>
          </a:xfrm>
        </p:grpSpPr>
        <p:sp>
          <p:nvSpPr>
            <p:cNvPr id="19" name="Rectangle 19"/>
            <p:cNvSpPr/>
            <p:nvPr/>
          </p:nvSpPr>
          <p:spPr>
            <a:xfrm>
              <a:off x="4191000" y="1714500"/>
              <a:ext cx="1714500" cy="3619500"/>
            </a:xfrm>
            <a:prstGeom prst="rect">
              <a:avLst/>
            </a:prstGeom>
            <a:solidFill>
              <a:schemeClr val="lt2"/>
            </a:solidFill>
            <a:ln>
              <a:noFill/>
            </a:ln>
          </p:spPr>
        </p:sp>
        <p:sp>
          <p:nvSpPr>
            <p:cNvPr id="20" name="Rectangle 20"/>
            <p:cNvSpPr/>
            <p:nvPr/>
          </p:nvSpPr>
          <p:spPr>
            <a:xfrm>
              <a:off x="4191000" y="1714500"/>
              <a:ext cx="1714500" cy="57150"/>
            </a:xfrm>
            <a:prstGeom prst="rect">
              <a:avLst/>
            </a:prstGeom>
            <a:solidFill>
              <a:schemeClr val="accent1"/>
            </a:solidFill>
            <a:ln>
              <a:noFill/>
            </a:ln>
          </p:spPr>
        </p:sp>
        <p:sp>
          <p:nvSpPr>
            <p:cNvPr id="21" name="TextBox 21"/>
            <p:cNvSpPr txBox="1"/>
            <p:nvPr/>
          </p:nvSpPr>
          <p:spPr>
            <a:xfrm>
              <a:off x="4346448" y="2022158"/>
              <a:ext cx="521785"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03</a:t>
              </a:r>
            </a:p>
          </p:txBody>
        </p:sp>
        <p:sp>
          <p:nvSpPr>
            <p:cNvPr id="22" name="TextBox 22"/>
            <p:cNvSpPr txBox="1"/>
            <p:nvPr/>
          </p:nvSpPr>
          <p:spPr>
            <a:xfrm>
              <a:off x="4354068" y="2660332"/>
              <a:ext cx="1182910"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监护与通路</a:t>
              </a:r>
            </a:p>
          </p:txBody>
        </p:sp>
        <p:sp>
          <p:nvSpPr>
            <p:cNvPr id="23" name="Line 23"/>
            <p:cNvSpPr/>
            <p:nvPr/>
          </p:nvSpPr>
          <p:spPr>
            <a:xfrm>
              <a:off x="4362450" y="3028950"/>
              <a:ext cx="1371600" cy="9525"/>
            </a:xfrm>
            <a:custGeom>
              <a:avLst/>
              <a:gdLst/>
              <a:ahLst/>
              <a:cxnLst/>
              <a:rect l="l" t="t" r="r" b="b"/>
              <a:pathLst>
                <a:path w="1371600" h="9525">
                  <a:moveTo>
                    <a:pt x="0" y="0"/>
                  </a:moveTo>
                  <a:lnTo>
                    <a:pt x="1371600" y="0"/>
                  </a:lnTo>
                </a:path>
              </a:pathLst>
            </a:custGeom>
            <a:noFill/>
            <a:ln w="9525">
              <a:solidFill>
                <a:schemeClr val="accent1"/>
              </a:solidFill>
            </a:ln>
          </p:spPr>
        </p:sp>
        <p:sp>
          <p:nvSpPr>
            <p:cNvPr id="24" name="TextBox 24"/>
            <p:cNvSpPr txBox="1"/>
            <p:nvPr/>
          </p:nvSpPr>
          <p:spPr>
            <a:xfrm>
              <a:off x="4356354" y="3223260"/>
              <a:ext cx="835152" cy="920496"/>
            </a:xfrm>
            <a:prstGeom prst="rect">
              <a:avLst/>
            </a:prstGeom>
            <a:noFill/>
            <a:ln>
              <a:noFill/>
            </a:ln>
          </p:spPr>
          <p:txBody>
            <a:bodyPr wrap="square" lIns="0" tIns="0" rIns="0" bIns="0" anchor="t" anchorCtr="0"/>
            <a:lstStyle/>
            <a:p>
              <a:pPr algn="l">
                <a:lnSpc>
                  <a:spcPts val="1800"/>
                </a:lnSpc>
              </a:pPr>
              <a:r>
                <a:rPr lang="zh-CN" sz="1200" dirty="0">
                  <a:solidFill>
                    <a:schemeClr val="dk1"/>
                  </a:solidFill>
                  <a:latin typeface="+mn-lt"/>
                  <a:ea typeface="+mn-ea"/>
                  <a:cs typeface="+mn-cs"/>
                </a:rPr>
                <a:t>SpO₂、心电血压监测建立静脉通路</a:t>
              </a:r>
            </a:p>
          </p:txBody>
        </p:sp>
      </p:grpSp>
      <p:grpSp>
        <p:nvGrpSpPr>
          <p:cNvPr id="32" name="Group 32"/>
          <p:cNvGrpSpPr/>
          <p:nvPr/>
        </p:nvGrpSpPr>
        <p:grpSpPr>
          <a:xfrm>
            <a:off x="6096000" y="1714500"/>
            <a:ext cx="1714500" cy="3619500"/>
            <a:chOff x="6096000" y="1714500"/>
            <a:chExt cx="1714500" cy="3619500"/>
          </a:xfrm>
        </p:grpSpPr>
        <p:sp>
          <p:nvSpPr>
            <p:cNvPr id="26" name="Rectangle 26"/>
            <p:cNvSpPr/>
            <p:nvPr/>
          </p:nvSpPr>
          <p:spPr>
            <a:xfrm>
              <a:off x="6096000" y="1714500"/>
              <a:ext cx="1714500" cy="3619500"/>
            </a:xfrm>
            <a:prstGeom prst="rect">
              <a:avLst/>
            </a:prstGeom>
            <a:solidFill>
              <a:schemeClr val="lt2"/>
            </a:solidFill>
            <a:ln>
              <a:noFill/>
            </a:ln>
          </p:spPr>
        </p:sp>
        <p:sp>
          <p:nvSpPr>
            <p:cNvPr id="27" name="Rectangle 27"/>
            <p:cNvSpPr/>
            <p:nvPr/>
          </p:nvSpPr>
          <p:spPr>
            <a:xfrm>
              <a:off x="6096000" y="1714500"/>
              <a:ext cx="1714500" cy="57150"/>
            </a:xfrm>
            <a:prstGeom prst="rect">
              <a:avLst/>
            </a:prstGeom>
            <a:solidFill>
              <a:schemeClr val="accent1"/>
            </a:solidFill>
            <a:ln>
              <a:noFill/>
            </a:ln>
          </p:spPr>
        </p:sp>
        <p:sp>
          <p:nvSpPr>
            <p:cNvPr id="28" name="TextBox 28"/>
            <p:cNvSpPr txBox="1"/>
            <p:nvPr/>
          </p:nvSpPr>
          <p:spPr>
            <a:xfrm>
              <a:off x="6251448" y="2022158"/>
              <a:ext cx="521785"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04</a:t>
              </a:r>
            </a:p>
          </p:txBody>
        </p:sp>
        <p:sp>
          <p:nvSpPr>
            <p:cNvPr id="29" name="TextBox 29"/>
            <p:cNvSpPr txBox="1"/>
            <p:nvPr/>
          </p:nvSpPr>
          <p:spPr>
            <a:xfrm>
              <a:off x="6259068" y="2660332"/>
              <a:ext cx="949681"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对因处理</a:t>
              </a:r>
            </a:p>
          </p:txBody>
        </p:sp>
        <p:sp>
          <p:nvSpPr>
            <p:cNvPr id="30" name="Line 30"/>
            <p:cNvSpPr/>
            <p:nvPr/>
          </p:nvSpPr>
          <p:spPr>
            <a:xfrm>
              <a:off x="6267450" y="3028950"/>
              <a:ext cx="1371600" cy="9525"/>
            </a:xfrm>
            <a:custGeom>
              <a:avLst/>
              <a:gdLst/>
              <a:ahLst/>
              <a:cxnLst/>
              <a:rect l="l" t="t" r="r" b="b"/>
              <a:pathLst>
                <a:path w="1371600" h="9525">
                  <a:moveTo>
                    <a:pt x="0" y="0"/>
                  </a:moveTo>
                  <a:lnTo>
                    <a:pt x="1371600" y="0"/>
                  </a:lnTo>
                </a:path>
              </a:pathLst>
            </a:custGeom>
            <a:noFill/>
            <a:ln w="9525">
              <a:solidFill>
                <a:schemeClr val="accent1"/>
              </a:solidFill>
            </a:ln>
          </p:spPr>
        </p:sp>
        <p:sp>
          <p:nvSpPr>
            <p:cNvPr id="31" name="TextBox 31"/>
            <p:cNvSpPr txBox="1"/>
            <p:nvPr/>
          </p:nvSpPr>
          <p:spPr>
            <a:xfrm>
              <a:off x="6261354" y="3223260"/>
              <a:ext cx="926592" cy="920496"/>
            </a:xfrm>
            <a:prstGeom prst="rect">
              <a:avLst/>
            </a:prstGeom>
            <a:noFill/>
            <a:ln>
              <a:noFill/>
            </a:ln>
          </p:spPr>
          <p:txBody>
            <a:bodyPr wrap="square" lIns="0" tIns="0" rIns="0" bIns="0" anchor="t" anchorCtr="0"/>
            <a:lstStyle/>
            <a:p>
              <a:pPr algn="l">
                <a:lnSpc>
                  <a:spcPts val="1800"/>
                </a:lnSpc>
              </a:pPr>
              <a:r>
                <a:rPr lang="zh-CN" sz="1200" dirty="0">
                  <a:solidFill>
                    <a:schemeClr val="dk1"/>
                  </a:solidFill>
                  <a:latin typeface="+mn-lt"/>
                  <a:ea typeface="+mn-ea"/>
                  <a:cs typeface="+mn-cs"/>
                </a:rPr>
                <a:t>支气管舒张剂糖皮质激素抗感染利尿</a:t>
              </a:r>
            </a:p>
          </p:txBody>
        </p:sp>
      </p:grpSp>
      <p:grpSp>
        <p:nvGrpSpPr>
          <p:cNvPr id="39" name="Group 39"/>
          <p:cNvGrpSpPr/>
          <p:nvPr/>
        </p:nvGrpSpPr>
        <p:grpSpPr>
          <a:xfrm>
            <a:off x="8001000" y="1714500"/>
            <a:ext cx="1714500" cy="3619500"/>
            <a:chOff x="8001000" y="1714500"/>
            <a:chExt cx="1714500" cy="3619500"/>
          </a:xfrm>
        </p:grpSpPr>
        <p:sp>
          <p:nvSpPr>
            <p:cNvPr id="33" name="Rectangle 33"/>
            <p:cNvSpPr/>
            <p:nvPr/>
          </p:nvSpPr>
          <p:spPr>
            <a:xfrm>
              <a:off x="8001000" y="1714500"/>
              <a:ext cx="1714500" cy="3619500"/>
            </a:xfrm>
            <a:prstGeom prst="rect">
              <a:avLst/>
            </a:prstGeom>
            <a:solidFill>
              <a:schemeClr val="lt2"/>
            </a:solidFill>
            <a:ln>
              <a:noFill/>
            </a:ln>
          </p:spPr>
        </p:sp>
        <p:sp>
          <p:nvSpPr>
            <p:cNvPr id="34" name="Rectangle 34"/>
            <p:cNvSpPr/>
            <p:nvPr/>
          </p:nvSpPr>
          <p:spPr>
            <a:xfrm>
              <a:off x="8001000" y="1714500"/>
              <a:ext cx="1714500" cy="57150"/>
            </a:xfrm>
            <a:prstGeom prst="rect">
              <a:avLst/>
            </a:prstGeom>
            <a:solidFill>
              <a:schemeClr val="accent1"/>
            </a:solidFill>
            <a:ln>
              <a:noFill/>
            </a:ln>
          </p:spPr>
        </p:sp>
        <p:sp>
          <p:nvSpPr>
            <p:cNvPr id="35" name="TextBox 35"/>
            <p:cNvSpPr txBox="1"/>
            <p:nvPr/>
          </p:nvSpPr>
          <p:spPr>
            <a:xfrm>
              <a:off x="8156448" y="2022158"/>
              <a:ext cx="521785"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05</a:t>
              </a:r>
            </a:p>
          </p:txBody>
        </p:sp>
        <p:sp>
          <p:nvSpPr>
            <p:cNvPr id="36" name="TextBox 36"/>
            <p:cNvSpPr txBox="1"/>
            <p:nvPr/>
          </p:nvSpPr>
          <p:spPr>
            <a:xfrm>
              <a:off x="8164068" y="2660332"/>
              <a:ext cx="949681"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循环支持</a:t>
              </a:r>
            </a:p>
          </p:txBody>
        </p:sp>
        <p:sp>
          <p:nvSpPr>
            <p:cNvPr id="37" name="Line 37"/>
            <p:cNvSpPr/>
            <p:nvPr/>
          </p:nvSpPr>
          <p:spPr>
            <a:xfrm>
              <a:off x="8172450" y="3028950"/>
              <a:ext cx="1371600" cy="9525"/>
            </a:xfrm>
            <a:custGeom>
              <a:avLst/>
              <a:gdLst/>
              <a:ahLst/>
              <a:cxnLst/>
              <a:rect l="l" t="t" r="r" b="b"/>
              <a:pathLst>
                <a:path w="1371600" h="9525">
                  <a:moveTo>
                    <a:pt x="0" y="0"/>
                  </a:moveTo>
                  <a:lnTo>
                    <a:pt x="1371600" y="0"/>
                  </a:lnTo>
                </a:path>
              </a:pathLst>
            </a:custGeom>
            <a:noFill/>
            <a:ln w="9525">
              <a:solidFill>
                <a:schemeClr val="accent1"/>
              </a:solidFill>
            </a:ln>
          </p:spPr>
        </p:sp>
        <p:sp>
          <p:nvSpPr>
            <p:cNvPr id="38" name="TextBox 38"/>
            <p:cNvSpPr txBox="1"/>
            <p:nvPr/>
          </p:nvSpPr>
          <p:spPr>
            <a:xfrm>
              <a:off x="8166354" y="3223260"/>
              <a:ext cx="621792" cy="691896"/>
            </a:xfrm>
            <a:prstGeom prst="rect">
              <a:avLst/>
            </a:prstGeom>
            <a:noFill/>
            <a:ln>
              <a:noFill/>
            </a:ln>
          </p:spPr>
          <p:txBody>
            <a:bodyPr wrap="square" lIns="0" tIns="0" rIns="0" bIns="0" anchor="t" anchorCtr="0"/>
            <a:lstStyle/>
            <a:p>
              <a:pPr algn="l">
                <a:lnSpc>
                  <a:spcPts val="1800"/>
                </a:lnSpc>
              </a:pPr>
              <a:r>
                <a:rPr lang="zh-CN" sz="1200" dirty="0">
                  <a:solidFill>
                    <a:schemeClr val="dk1"/>
                  </a:solidFill>
                  <a:latin typeface="+mn-lt"/>
                  <a:ea typeface="+mn-ea"/>
                  <a:cs typeface="+mn-cs"/>
                </a:rPr>
                <a:t>液体复苏血管活性药物</a:t>
              </a:r>
            </a:p>
          </p:txBody>
        </p:sp>
      </p:grpSp>
      <p:grpSp>
        <p:nvGrpSpPr>
          <p:cNvPr id="46" name="Group 46"/>
          <p:cNvGrpSpPr/>
          <p:nvPr/>
        </p:nvGrpSpPr>
        <p:grpSpPr>
          <a:xfrm>
            <a:off x="9906000" y="1714500"/>
            <a:ext cx="1714500" cy="3619500"/>
            <a:chOff x="9906000" y="1714500"/>
            <a:chExt cx="1714500" cy="3619500"/>
          </a:xfrm>
        </p:grpSpPr>
        <p:sp>
          <p:nvSpPr>
            <p:cNvPr id="40" name="Rectangle 40"/>
            <p:cNvSpPr/>
            <p:nvPr/>
          </p:nvSpPr>
          <p:spPr>
            <a:xfrm>
              <a:off x="9906000" y="1714500"/>
              <a:ext cx="1714500" cy="3619500"/>
            </a:xfrm>
            <a:prstGeom prst="rect">
              <a:avLst/>
            </a:prstGeom>
            <a:solidFill>
              <a:schemeClr val="lt2"/>
            </a:solidFill>
            <a:ln>
              <a:noFill/>
            </a:ln>
          </p:spPr>
        </p:sp>
        <p:sp>
          <p:nvSpPr>
            <p:cNvPr id="41" name="Rectangle 41"/>
            <p:cNvSpPr/>
            <p:nvPr/>
          </p:nvSpPr>
          <p:spPr>
            <a:xfrm>
              <a:off x="9906000" y="1714500"/>
              <a:ext cx="1714500" cy="57150"/>
            </a:xfrm>
            <a:prstGeom prst="rect">
              <a:avLst/>
            </a:prstGeom>
            <a:solidFill>
              <a:schemeClr val="accent1"/>
            </a:solidFill>
            <a:ln>
              <a:noFill/>
            </a:ln>
          </p:spPr>
        </p:sp>
        <p:sp>
          <p:nvSpPr>
            <p:cNvPr id="42" name="TextBox 42"/>
            <p:cNvSpPr txBox="1"/>
            <p:nvPr/>
          </p:nvSpPr>
          <p:spPr>
            <a:xfrm>
              <a:off x="10061448" y="2022158"/>
              <a:ext cx="521785"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06</a:t>
              </a:r>
            </a:p>
          </p:txBody>
        </p:sp>
        <p:sp>
          <p:nvSpPr>
            <p:cNvPr id="43" name="TextBox 43"/>
            <p:cNvSpPr txBox="1"/>
            <p:nvPr/>
          </p:nvSpPr>
          <p:spPr>
            <a:xfrm>
              <a:off x="10069068" y="2660332"/>
              <a:ext cx="1182910"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转运与复评</a:t>
              </a:r>
            </a:p>
          </p:txBody>
        </p:sp>
        <p:sp>
          <p:nvSpPr>
            <p:cNvPr id="44" name="Line 44"/>
            <p:cNvSpPr/>
            <p:nvPr/>
          </p:nvSpPr>
          <p:spPr>
            <a:xfrm>
              <a:off x="10077450" y="3028950"/>
              <a:ext cx="1371600" cy="9525"/>
            </a:xfrm>
            <a:custGeom>
              <a:avLst/>
              <a:gdLst/>
              <a:ahLst/>
              <a:cxnLst/>
              <a:rect l="l" t="t" r="r" b="b"/>
              <a:pathLst>
                <a:path w="1371600" h="9525">
                  <a:moveTo>
                    <a:pt x="0" y="0"/>
                  </a:moveTo>
                  <a:lnTo>
                    <a:pt x="1371600" y="0"/>
                  </a:lnTo>
                </a:path>
              </a:pathLst>
            </a:custGeom>
            <a:noFill/>
            <a:ln w="9525">
              <a:solidFill>
                <a:schemeClr val="accent1"/>
              </a:solidFill>
            </a:ln>
          </p:spPr>
        </p:sp>
        <p:sp>
          <p:nvSpPr>
            <p:cNvPr id="45" name="TextBox 45"/>
            <p:cNvSpPr txBox="1"/>
            <p:nvPr/>
          </p:nvSpPr>
          <p:spPr>
            <a:xfrm>
              <a:off x="10071354" y="3223260"/>
              <a:ext cx="880872" cy="920496"/>
            </a:xfrm>
            <a:prstGeom prst="rect">
              <a:avLst/>
            </a:prstGeom>
            <a:noFill/>
            <a:ln>
              <a:noFill/>
            </a:ln>
          </p:spPr>
          <p:txBody>
            <a:bodyPr wrap="square" lIns="0" tIns="0" rIns="0" bIns="0" anchor="t" anchorCtr="0"/>
            <a:lstStyle/>
            <a:p>
              <a:pPr algn="l">
                <a:lnSpc>
                  <a:spcPts val="1800"/>
                </a:lnSpc>
              </a:pPr>
              <a:r>
                <a:rPr lang="zh-CN" sz="1200" dirty="0">
                  <a:solidFill>
                    <a:schemeClr val="dk1"/>
                  </a:solidFill>
                  <a:latin typeface="+mn-lt"/>
                  <a:ea typeface="+mn-ea"/>
                  <a:cs typeface="+mn-cs"/>
                </a:rPr>
                <a:t>稳定后转 ICU途中持续监测动态再评估</a:t>
              </a:r>
            </a:p>
          </p:txBody>
        </p:sp>
      </p:grpSp>
      <p:grpSp>
        <p:nvGrpSpPr>
          <p:cNvPr id="49" name="Group 49"/>
          <p:cNvGrpSpPr/>
          <p:nvPr/>
        </p:nvGrpSpPr>
        <p:grpSpPr>
          <a:xfrm>
            <a:off x="381000" y="5600700"/>
            <a:ext cx="11430000" cy="609600"/>
            <a:chOff x="381000" y="5600700"/>
            <a:chExt cx="11430000" cy="609600"/>
          </a:xfrm>
        </p:grpSpPr>
        <p:sp>
          <p:nvSpPr>
            <p:cNvPr id="47" name="Rectangle 47"/>
            <p:cNvSpPr/>
            <p:nvPr/>
          </p:nvSpPr>
          <p:spPr>
            <a:xfrm>
              <a:off x="381000" y="5600700"/>
              <a:ext cx="11430000" cy="609600"/>
            </a:xfrm>
            <a:prstGeom prst="rect">
              <a:avLst/>
            </a:prstGeom>
            <a:solidFill>
              <a:schemeClr val="accent1"/>
            </a:solidFill>
            <a:ln>
              <a:noFill/>
            </a:ln>
          </p:spPr>
        </p:sp>
        <p:sp>
          <p:nvSpPr>
            <p:cNvPr id="48" name="TextBox 48"/>
            <p:cNvSpPr txBox="1"/>
            <p:nvPr/>
          </p:nvSpPr>
          <p:spPr>
            <a:xfrm>
              <a:off x="676656" y="5787390"/>
              <a:ext cx="5615788"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顺序不是死的：气道与呼吸永远优先于病因诊断。</a:t>
              </a:r>
            </a:p>
          </p:txBody>
        </p:sp>
      </p:grpSp>
      <p:grpSp>
        <p:nvGrpSpPr>
          <p:cNvPr id="52" name="Group 52"/>
          <p:cNvGrpSpPr/>
          <p:nvPr/>
        </p:nvGrpSpPr>
        <p:grpSpPr>
          <a:xfrm>
            <a:off x="374142" y="6445568"/>
            <a:ext cx="11443716" cy="264033"/>
            <a:chOff x="374142" y="6445568"/>
            <a:chExt cx="11443716" cy="264033"/>
          </a:xfrm>
        </p:grpSpPr>
        <p:sp>
          <p:nvSpPr>
            <p:cNvPr id="50" name="TextBox 50"/>
            <p:cNvSpPr txBox="1"/>
            <p:nvPr/>
          </p:nvSpPr>
          <p:spPr>
            <a:xfrm>
              <a:off x="374142" y="6445568"/>
              <a:ext cx="1176833"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06 治疗与收束</a:t>
              </a:r>
            </a:p>
          </p:txBody>
        </p:sp>
        <p:sp>
          <p:nvSpPr>
            <p:cNvPr id="51" name="TextBox 51"/>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18 / 20</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365760" y="495300"/>
            <a:ext cx="11445240" cy="586740"/>
            <a:chOff x="365760" y="495300"/>
            <a:chExt cx="11445240" cy="586740"/>
          </a:xfrm>
        </p:grpSpPr>
        <p:sp>
          <p:nvSpPr>
            <p:cNvPr id="2" name="TextBox 2"/>
            <p:cNvSpPr txBox="1"/>
            <p:nvPr/>
          </p:nvSpPr>
          <p:spPr>
            <a:xfrm>
              <a:off x="365760" y="495300"/>
              <a:ext cx="4695063"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不同病因，处理重点不同</a:t>
              </a:r>
            </a:p>
          </p:txBody>
        </p:sp>
        <p:sp>
          <p:nvSpPr>
            <p:cNvPr id="3" name="Line 3"/>
            <p:cNvSpPr/>
            <p:nvPr/>
          </p:nvSpPr>
          <p:spPr>
            <a:xfrm>
              <a:off x="381000" y="102870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11" name="Group 11"/>
          <p:cNvGrpSpPr/>
          <p:nvPr/>
        </p:nvGrpSpPr>
        <p:grpSpPr>
          <a:xfrm>
            <a:off x="371856" y="1428750"/>
            <a:ext cx="11439144" cy="1057275"/>
            <a:chOff x="371856" y="1428750"/>
            <a:chExt cx="11439144" cy="1057275"/>
          </a:xfrm>
        </p:grpSpPr>
        <p:sp>
          <p:nvSpPr>
            <p:cNvPr id="5" name="Line 5"/>
            <p:cNvSpPr/>
            <p:nvPr/>
          </p:nvSpPr>
          <p:spPr>
            <a:xfrm>
              <a:off x="381000" y="1428750"/>
              <a:ext cx="11430000" cy="9525"/>
            </a:xfrm>
            <a:custGeom>
              <a:avLst/>
              <a:gdLst/>
              <a:ahLst/>
              <a:cxnLst/>
              <a:rect l="l" t="t" r="r" b="b"/>
              <a:pathLst>
                <a:path w="11430000" h="9525">
                  <a:moveTo>
                    <a:pt x="0" y="0"/>
                  </a:moveTo>
                  <a:lnTo>
                    <a:pt x="11430000" y="0"/>
                  </a:lnTo>
                </a:path>
              </a:pathLst>
            </a:custGeom>
            <a:noFill/>
            <a:ln w="19050">
              <a:solidFill>
                <a:schemeClr val="accent1"/>
              </a:solidFill>
            </a:ln>
          </p:spPr>
        </p:sp>
        <p:sp>
          <p:nvSpPr>
            <p:cNvPr id="6" name="TextBox 6"/>
            <p:cNvSpPr txBox="1"/>
            <p:nvPr/>
          </p:nvSpPr>
          <p:spPr>
            <a:xfrm>
              <a:off x="371856" y="167259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气道梗阻</a:t>
              </a:r>
            </a:p>
          </p:txBody>
        </p:sp>
        <p:sp>
          <p:nvSpPr>
            <p:cNvPr id="7" name="TextBox 7"/>
            <p:cNvSpPr txBox="1"/>
            <p:nvPr/>
          </p:nvSpPr>
          <p:spPr>
            <a:xfrm>
              <a:off x="374904" y="1985010"/>
              <a:ext cx="1789176" cy="234696"/>
            </a:xfrm>
            <a:prstGeom prst="rect">
              <a:avLst/>
            </a:prstGeom>
            <a:noFill/>
            <a:ln>
              <a:noFill/>
            </a:ln>
          </p:spPr>
          <p:txBody>
            <a:bodyPr wrap="none" lIns="0" tIns="0" rIns="0" bIns="0" anchor="t" anchorCtr="0">
              <a:spAutoFit/>
            </a:bodyPr>
            <a:lstStyle/>
            <a:p>
              <a:pPr algn="l"/>
              <a:r>
                <a:rPr lang="zh-CN" sz="1200" dirty="0">
                  <a:solidFill>
                    <a:schemeClr val="dk1">
                      <a:alphaMod val="65000"/>
                    </a:schemeClr>
                  </a:solidFill>
                  <a:latin typeface="+mn-lt"/>
                  <a:ea typeface="+mn-ea"/>
                  <a:cs typeface="+mn-cs"/>
                </a:rPr>
                <a:t>喉炎、喉软化、气道异物</a:t>
              </a:r>
            </a:p>
          </p:txBody>
        </p:sp>
        <p:sp>
          <p:nvSpPr>
            <p:cNvPr id="8" name="TextBox 8"/>
            <p:cNvSpPr txBox="1"/>
            <p:nvPr/>
          </p:nvSpPr>
          <p:spPr>
            <a:xfrm>
              <a:off x="3993642" y="1721168"/>
              <a:ext cx="2414016"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mn-lt"/>
                  <a:ea typeface="+mn-ea"/>
                  <a:cs typeface="+mn-cs"/>
                </a:rPr>
                <a:t>开放气道、清除分泌物与异物必要时建立高级气道，保证通气</a:t>
              </a:r>
            </a:p>
          </p:txBody>
        </p:sp>
        <p:sp>
          <p:nvSpPr>
            <p:cNvPr id="9" name="TextBox 9"/>
            <p:cNvSpPr txBox="1"/>
            <p:nvPr/>
          </p:nvSpPr>
          <p:spPr>
            <a:xfrm>
              <a:off x="8755380" y="1743075"/>
              <a:ext cx="863346" cy="293370"/>
            </a:xfrm>
            <a:prstGeom prst="rect">
              <a:avLst/>
            </a:prstGeom>
            <a:noFill/>
            <a:ln>
              <a:noFill/>
            </a:ln>
          </p:spPr>
          <p:txBody>
            <a:bodyPr wrap="none" lIns="0" tIns="0" rIns="0" bIns="0" anchor="t" anchorCtr="0">
              <a:spAutoFit/>
            </a:bodyPr>
            <a:lstStyle/>
            <a:p>
              <a:pPr algn="l"/>
              <a:r>
                <a:rPr lang="zh-CN" sz="1500" b="1" dirty="0">
                  <a:solidFill>
                    <a:schemeClr val="accent2"/>
                  </a:solidFill>
                  <a:latin typeface="+mn-lt"/>
                  <a:ea typeface="+mn-ea"/>
                  <a:cs typeface="+mn-cs"/>
                </a:rPr>
                <a:t>先保通畅</a:t>
              </a:r>
            </a:p>
          </p:txBody>
        </p:sp>
        <p:sp>
          <p:nvSpPr>
            <p:cNvPr id="10" name="Line 10"/>
            <p:cNvSpPr/>
            <p:nvPr/>
          </p:nvSpPr>
          <p:spPr>
            <a:xfrm>
              <a:off x="381000" y="247650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grpSp>
      <p:grpSp>
        <p:nvGrpSpPr>
          <p:cNvPr id="17" name="Group 17"/>
          <p:cNvGrpSpPr/>
          <p:nvPr/>
        </p:nvGrpSpPr>
        <p:grpSpPr>
          <a:xfrm>
            <a:off x="371856" y="2720340"/>
            <a:ext cx="11439144" cy="813435"/>
            <a:chOff x="371856" y="2720340"/>
            <a:chExt cx="11439144" cy="813435"/>
          </a:xfrm>
        </p:grpSpPr>
        <p:sp>
          <p:nvSpPr>
            <p:cNvPr id="12" name="TextBox 12"/>
            <p:cNvSpPr txBox="1"/>
            <p:nvPr/>
          </p:nvSpPr>
          <p:spPr>
            <a:xfrm>
              <a:off x="371856" y="27203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下气道痉挛</a:t>
              </a:r>
            </a:p>
          </p:txBody>
        </p:sp>
        <p:sp>
          <p:nvSpPr>
            <p:cNvPr id="13" name="TextBox 13"/>
            <p:cNvSpPr txBox="1"/>
            <p:nvPr/>
          </p:nvSpPr>
          <p:spPr>
            <a:xfrm>
              <a:off x="374904" y="3032760"/>
              <a:ext cx="1466088" cy="234696"/>
            </a:xfrm>
            <a:prstGeom prst="rect">
              <a:avLst/>
            </a:prstGeom>
            <a:noFill/>
            <a:ln>
              <a:noFill/>
            </a:ln>
          </p:spPr>
          <p:txBody>
            <a:bodyPr wrap="none" lIns="0" tIns="0" rIns="0" bIns="0" anchor="t" anchorCtr="0">
              <a:spAutoFit/>
            </a:bodyPr>
            <a:lstStyle/>
            <a:p>
              <a:pPr algn="l"/>
              <a:r>
                <a:rPr lang="zh-CN" sz="1200" dirty="0">
                  <a:solidFill>
                    <a:schemeClr val="dk1">
                      <a:alphaMod val="65000"/>
                    </a:schemeClr>
                  </a:solidFill>
                  <a:latin typeface="+mn-lt"/>
                  <a:ea typeface="+mn-ea"/>
                  <a:cs typeface="+mn-cs"/>
                </a:rPr>
                <a:t>哮喘、毛细支气管炎</a:t>
              </a:r>
            </a:p>
          </p:txBody>
        </p:sp>
        <p:sp>
          <p:nvSpPr>
            <p:cNvPr id="14" name="TextBox 14"/>
            <p:cNvSpPr txBox="1"/>
            <p:nvPr/>
          </p:nvSpPr>
          <p:spPr>
            <a:xfrm>
              <a:off x="3993642" y="2768918"/>
              <a:ext cx="2071116"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mn-lt"/>
                  <a:ea typeface="+mn-ea"/>
                  <a:cs typeface="+mn-cs"/>
                </a:rPr>
                <a:t>支气管舒张剂、糖皮质激素氧疗，评估通气支持指征</a:t>
              </a:r>
            </a:p>
          </p:txBody>
        </p:sp>
        <p:sp>
          <p:nvSpPr>
            <p:cNvPr id="15" name="TextBox 15"/>
            <p:cNvSpPr txBox="1"/>
            <p:nvPr/>
          </p:nvSpPr>
          <p:spPr>
            <a:xfrm>
              <a:off x="8755380" y="2790825"/>
              <a:ext cx="1107176" cy="293370"/>
            </a:xfrm>
            <a:prstGeom prst="rect">
              <a:avLst/>
            </a:prstGeom>
            <a:noFill/>
            <a:ln>
              <a:noFill/>
            </a:ln>
          </p:spPr>
          <p:txBody>
            <a:bodyPr wrap="none" lIns="0" tIns="0" rIns="0" bIns="0" anchor="t" anchorCtr="0">
              <a:spAutoFit/>
            </a:bodyPr>
            <a:lstStyle/>
            <a:p>
              <a:pPr algn="l"/>
              <a:r>
                <a:rPr lang="zh-CN" sz="1500" b="1" dirty="0">
                  <a:solidFill>
                    <a:schemeClr val="accent2"/>
                  </a:solidFill>
                  <a:latin typeface="+mn-lt"/>
                  <a:ea typeface="+mn-ea"/>
                  <a:cs typeface="+mn-cs"/>
                </a:rPr>
                <a:t>解痉 + 抗炎</a:t>
              </a:r>
            </a:p>
          </p:txBody>
        </p:sp>
        <p:sp>
          <p:nvSpPr>
            <p:cNvPr id="16" name="Line 16"/>
            <p:cNvSpPr/>
            <p:nvPr/>
          </p:nvSpPr>
          <p:spPr>
            <a:xfrm>
              <a:off x="381000" y="352425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grpSp>
      <p:grpSp>
        <p:nvGrpSpPr>
          <p:cNvPr id="23" name="Group 23"/>
          <p:cNvGrpSpPr/>
          <p:nvPr/>
        </p:nvGrpSpPr>
        <p:grpSpPr>
          <a:xfrm>
            <a:off x="371856" y="3768090"/>
            <a:ext cx="11439144" cy="813435"/>
            <a:chOff x="371856" y="3768090"/>
            <a:chExt cx="11439144" cy="813435"/>
          </a:xfrm>
        </p:grpSpPr>
        <p:sp>
          <p:nvSpPr>
            <p:cNvPr id="18" name="TextBox 18"/>
            <p:cNvSpPr txBox="1"/>
            <p:nvPr/>
          </p:nvSpPr>
          <p:spPr>
            <a:xfrm>
              <a:off x="371856" y="37680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肺实质病变</a:t>
              </a:r>
            </a:p>
          </p:txBody>
        </p:sp>
        <p:sp>
          <p:nvSpPr>
            <p:cNvPr id="19" name="TextBox 19"/>
            <p:cNvSpPr txBox="1"/>
            <p:nvPr/>
          </p:nvSpPr>
          <p:spPr>
            <a:xfrm>
              <a:off x="374904" y="4080510"/>
              <a:ext cx="1582522" cy="234696"/>
            </a:xfrm>
            <a:prstGeom prst="rect">
              <a:avLst/>
            </a:prstGeom>
            <a:noFill/>
            <a:ln>
              <a:noFill/>
            </a:ln>
          </p:spPr>
          <p:txBody>
            <a:bodyPr wrap="none" lIns="0" tIns="0" rIns="0" bIns="0" anchor="t" anchorCtr="0">
              <a:spAutoFit/>
            </a:bodyPr>
            <a:lstStyle/>
            <a:p>
              <a:pPr algn="l"/>
              <a:r>
                <a:rPr lang="zh-CN" sz="1200" dirty="0">
                  <a:solidFill>
                    <a:schemeClr val="dk1">
                      <a:alphaMod val="65000"/>
                    </a:schemeClr>
                  </a:solidFill>
                  <a:latin typeface="+mn-lt"/>
                  <a:ea typeface="+mn-ea"/>
                  <a:cs typeface="+mn-cs"/>
                </a:rPr>
                <a:t>肺炎、肺水肿、ARDS</a:t>
              </a:r>
            </a:p>
          </p:txBody>
        </p:sp>
        <p:sp>
          <p:nvSpPr>
            <p:cNvPr id="20" name="TextBox 20"/>
            <p:cNvSpPr txBox="1"/>
            <p:nvPr/>
          </p:nvSpPr>
          <p:spPr>
            <a:xfrm>
              <a:off x="3993642" y="3816668"/>
              <a:ext cx="2071116"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mn-lt"/>
                  <a:ea typeface="+mn-ea"/>
                  <a:cs typeface="+mn-cs"/>
                </a:rPr>
                <a:t>抗感染、利尿，处理肺水肿氧疗与通气支持，纠正低氧</a:t>
              </a:r>
            </a:p>
          </p:txBody>
        </p:sp>
        <p:sp>
          <p:nvSpPr>
            <p:cNvPr id="21" name="TextBox 21"/>
            <p:cNvSpPr txBox="1"/>
            <p:nvPr/>
          </p:nvSpPr>
          <p:spPr>
            <a:xfrm>
              <a:off x="8755380" y="3838575"/>
              <a:ext cx="1075372" cy="293370"/>
            </a:xfrm>
            <a:prstGeom prst="rect">
              <a:avLst/>
            </a:prstGeom>
            <a:noFill/>
            <a:ln>
              <a:noFill/>
            </a:ln>
          </p:spPr>
          <p:txBody>
            <a:bodyPr wrap="none" lIns="0" tIns="0" rIns="0" bIns="0" anchor="t" anchorCtr="0">
              <a:spAutoFit/>
            </a:bodyPr>
            <a:lstStyle/>
            <a:p>
              <a:pPr algn="l"/>
              <a:r>
                <a:rPr lang="zh-CN" sz="1500" b="1" dirty="0">
                  <a:solidFill>
                    <a:schemeClr val="accent2"/>
                  </a:solidFill>
                  <a:latin typeface="+mn-lt"/>
                  <a:ea typeface="+mn-ea"/>
                  <a:cs typeface="+mn-cs"/>
                </a:rPr>
                <a:t>处理肺本身</a:t>
              </a:r>
            </a:p>
          </p:txBody>
        </p:sp>
        <p:sp>
          <p:nvSpPr>
            <p:cNvPr id="22" name="Line 22"/>
            <p:cNvSpPr/>
            <p:nvPr/>
          </p:nvSpPr>
          <p:spPr>
            <a:xfrm>
              <a:off x="381000" y="4572000"/>
              <a:ext cx="11430000" cy="9525"/>
            </a:xfrm>
            <a:custGeom>
              <a:avLst/>
              <a:gdLst/>
              <a:ahLst/>
              <a:cxnLst/>
              <a:rect l="l" t="t" r="r" b="b"/>
              <a:pathLst>
                <a:path w="11430000" h="9525">
                  <a:moveTo>
                    <a:pt x="0" y="0"/>
                  </a:moveTo>
                  <a:lnTo>
                    <a:pt x="11430000" y="0"/>
                  </a:lnTo>
                </a:path>
              </a:pathLst>
            </a:custGeom>
            <a:noFill/>
            <a:ln w="9525">
              <a:solidFill>
                <a:schemeClr val="dk1">
                  <a:alpha val="15000"/>
                </a:schemeClr>
              </a:solidFill>
            </a:ln>
          </p:spPr>
        </p:sp>
      </p:grpSp>
      <p:grpSp>
        <p:nvGrpSpPr>
          <p:cNvPr id="29" name="Group 29"/>
          <p:cNvGrpSpPr/>
          <p:nvPr/>
        </p:nvGrpSpPr>
        <p:grpSpPr>
          <a:xfrm>
            <a:off x="371856" y="4815840"/>
            <a:ext cx="11439144" cy="813435"/>
            <a:chOff x="371856" y="4815840"/>
            <a:chExt cx="11439144" cy="813435"/>
          </a:xfrm>
        </p:grpSpPr>
        <p:sp>
          <p:nvSpPr>
            <p:cNvPr id="24" name="TextBox 24"/>
            <p:cNvSpPr txBox="1"/>
            <p:nvPr/>
          </p:nvSpPr>
          <p:spPr>
            <a:xfrm>
              <a:off x="371856" y="48158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肺外原因</a:t>
              </a:r>
            </a:p>
          </p:txBody>
        </p:sp>
        <p:sp>
          <p:nvSpPr>
            <p:cNvPr id="25" name="TextBox 25"/>
            <p:cNvSpPr txBox="1"/>
            <p:nvPr/>
          </p:nvSpPr>
          <p:spPr>
            <a:xfrm>
              <a:off x="374904" y="5128260"/>
              <a:ext cx="1789176" cy="234696"/>
            </a:xfrm>
            <a:prstGeom prst="rect">
              <a:avLst/>
            </a:prstGeom>
            <a:noFill/>
            <a:ln>
              <a:noFill/>
            </a:ln>
          </p:spPr>
          <p:txBody>
            <a:bodyPr wrap="none" lIns="0" tIns="0" rIns="0" bIns="0" anchor="t" anchorCtr="0">
              <a:spAutoFit/>
            </a:bodyPr>
            <a:lstStyle/>
            <a:p>
              <a:pPr algn="l"/>
              <a:r>
                <a:rPr lang="zh-CN" sz="1200" dirty="0">
                  <a:solidFill>
                    <a:schemeClr val="dk1">
                      <a:alphaMod val="65000"/>
                    </a:schemeClr>
                  </a:solidFill>
                  <a:latin typeface="+mn-lt"/>
                  <a:ea typeface="+mn-ea"/>
                  <a:cs typeface="+mn-cs"/>
                </a:rPr>
                <a:t>心、中毒、血、神经精神</a:t>
              </a:r>
            </a:p>
          </p:txBody>
        </p:sp>
        <p:sp>
          <p:nvSpPr>
            <p:cNvPr id="26" name="TextBox 26"/>
            <p:cNvSpPr txBox="1"/>
            <p:nvPr/>
          </p:nvSpPr>
          <p:spPr>
            <a:xfrm>
              <a:off x="3993642" y="4864418"/>
              <a:ext cx="2585466"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mn-lt"/>
                  <a:ea typeface="+mn-ea"/>
                  <a:cs typeface="+mn-cs"/>
                </a:rPr>
                <a:t>强心利尿、纠正酸中毒、解毒纠正贫血、降颅压、控制精神症状</a:t>
              </a:r>
            </a:p>
          </p:txBody>
        </p:sp>
        <p:sp>
          <p:nvSpPr>
            <p:cNvPr id="27" name="TextBox 27"/>
            <p:cNvSpPr txBox="1"/>
            <p:nvPr/>
          </p:nvSpPr>
          <p:spPr>
            <a:xfrm>
              <a:off x="8755380" y="4886325"/>
              <a:ext cx="1711452" cy="293370"/>
            </a:xfrm>
            <a:prstGeom prst="rect">
              <a:avLst/>
            </a:prstGeom>
            <a:noFill/>
            <a:ln>
              <a:noFill/>
            </a:ln>
          </p:spPr>
          <p:txBody>
            <a:bodyPr wrap="none" lIns="0" tIns="0" rIns="0" bIns="0" anchor="t" anchorCtr="0">
              <a:spAutoFit/>
            </a:bodyPr>
            <a:lstStyle/>
            <a:p>
              <a:pPr algn="l"/>
              <a:r>
                <a:rPr lang="zh-CN" sz="1500" b="1" dirty="0">
                  <a:solidFill>
                    <a:schemeClr val="accent2"/>
                  </a:solidFill>
                  <a:latin typeface="+mn-lt"/>
                  <a:ea typeface="+mn-ea"/>
                  <a:cs typeface="+mn-cs"/>
                </a:rPr>
                <a:t>治肺外，呼吸自缓</a:t>
              </a:r>
            </a:p>
          </p:txBody>
        </p:sp>
        <p:sp>
          <p:nvSpPr>
            <p:cNvPr id="28" name="Line 28"/>
            <p:cNvSpPr/>
            <p:nvPr/>
          </p:nvSpPr>
          <p:spPr>
            <a:xfrm>
              <a:off x="381000" y="5619750"/>
              <a:ext cx="11430000" cy="9525"/>
            </a:xfrm>
            <a:custGeom>
              <a:avLst/>
              <a:gdLst/>
              <a:ahLst/>
              <a:cxnLst/>
              <a:rect l="l" t="t" r="r" b="b"/>
              <a:pathLst>
                <a:path w="11430000" h="9525">
                  <a:moveTo>
                    <a:pt x="0" y="0"/>
                  </a:moveTo>
                  <a:lnTo>
                    <a:pt x="11430000" y="0"/>
                  </a:lnTo>
                </a:path>
              </a:pathLst>
            </a:custGeom>
            <a:noFill/>
            <a:ln w="19050">
              <a:solidFill>
                <a:schemeClr val="accent1"/>
              </a:solidFill>
            </a:ln>
          </p:spPr>
        </p:sp>
      </p:grpSp>
      <p:grpSp>
        <p:nvGrpSpPr>
          <p:cNvPr id="32" name="Group 32"/>
          <p:cNvGrpSpPr/>
          <p:nvPr/>
        </p:nvGrpSpPr>
        <p:grpSpPr>
          <a:xfrm>
            <a:off x="381000" y="5810250"/>
            <a:ext cx="5467731" cy="327851"/>
            <a:chOff x="381000" y="5810250"/>
            <a:chExt cx="5467731" cy="327851"/>
          </a:xfrm>
        </p:grpSpPr>
        <p:sp>
          <p:nvSpPr>
            <p:cNvPr id="30" name="Rectangle 30"/>
            <p:cNvSpPr/>
            <p:nvPr/>
          </p:nvSpPr>
          <p:spPr>
            <a:xfrm>
              <a:off x="381000" y="5810250"/>
              <a:ext cx="38100" cy="247650"/>
            </a:xfrm>
            <a:prstGeom prst="rect">
              <a:avLst/>
            </a:prstGeom>
            <a:solidFill>
              <a:schemeClr val="accent2"/>
            </a:solidFill>
            <a:ln>
              <a:noFill/>
            </a:ln>
          </p:spPr>
        </p:sp>
        <p:sp>
          <p:nvSpPr>
            <p:cNvPr id="31" name="TextBox 31"/>
            <p:cNvSpPr txBox="1"/>
            <p:nvPr/>
          </p:nvSpPr>
          <p:spPr>
            <a:xfrm>
              <a:off x="564642" y="5874068"/>
              <a:ext cx="5284089" cy="264033"/>
            </a:xfrm>
            <a:prstGeom prst="rect">
              <a:avLst/>
            </a:prstGeom>
            <a:noFill/>
            <a:ln>
              <a:noFill/>
            </a:ln>
          </p:spPr>
          <p:txBody>
            <a:bodyPr wrap="none" lIns="0" tIns="0" rIns="0" bIns="0" anchor="t" anchorCtr="0">
              <a:spAutoFit/>
            </a:bodyPr>
            <a:lstStyle/>
            <a:p>
              <a:pPr algn="l"/>
              <a:r>
                <a:rPr lang="zh-CN" sz="1350" dirty="0">
                  <a:solidFill>
                    <a:schemeClr val="dk1">
                      <a:alphaMod val="80000"/>
                    </a:schemeClr>
                  </a:solidFill>
                  <a:latin typeface="+mn-lt"/>
                  <a:ea typeface="+mn-ea"/>
                  <a:cs typeface="+mn-cs"/>
                </a:rPr>
                <a:t>病因处理与支持治疗并行：不要等病因明确，才开始氧疗与通气。</a:t>
              </a:r>
            </a:p>
          </p:txBody>
        </p:sp>
      </p:grpSp>
      <p:grpSp>
        <p:nvGrpSpPr>
          <p:cNvPr id="35" name="Group 35"/>
          <p:cNvGrpSpPr/>
          <p:nvPr/>
        </p:nvGrpSpPr>
        <p:grpSpPr>
          <a:xfrm>
            <a:off x="374142" y="6445568"/>
            <a:ext cx="11443716" cy="264033"/>
            <a:chOff x="374142" y="6445568"/>
            <a:chExt cx="11443716" cy="264033"/>
          </a:xfrm>
        </p:grpSpPr>
        <p:sp>
          <p:nvSpPr>
            <p:cNvPr id="33" name="TextBox 33"/>
            <p:cNvSpPr txBox="1"/>
            <p:nvPr/>
          </p:nvSpPr>
          <p:spPr>
            <a:xfrm>
              <a:off x="374142" y="6445568"/>
              <a:ext cx="1176833" cy="264033"/>
            </a:xfrm>
            <a:prstGeom prst="rect">
              <a:avLst/>
            </a:prstGeom>
            <a:noFill/>
            <a:ln>
              <a:noFill/>
            </a:ln>
          </p:spPr>
          <p:txBody>
            <a:bodyPr wrap="none" lIns="0" tIns="0" rIns="0" bIns="0" anchor="t" anchorCtr="0">
              <a:spAutoFit/>
            </a:bodyPr>
            <a:lstStyle/>
            <a:p>
              <a:pPr algn="l"/>
              <a:r>
                <a:rPr lang="zh-CN" sz="1350" dirty="0">
                  <a:solidFill>
                    <a:schemeClr val="dk1">
                      <a:alphaMod val="55000"/>
                    </a:schemeClr>
                  </a:solidFill>
                  <a:latin typeface="+mn-lt"/>
                  <a:ea typeface="+mn-ea"/>
                  <a:cs typeface="+mn-cs"/>
                </a:rPr>
                <a:t>06 治疗与收束</a:t>
              </a:r>
            </a:p>
          </p:txBody>
        </p:sp>
        <p:sp>
          <p:nvSpPr>
            <p:cNvPr id="34" name="TextBox 34"/>
            <p:cNvSpPr txBox="1"/>
            <p:nvPr/>
          </p:nvSpPr>
          <p:spPr>
            <a:xfrm>
              <a:off x="11195323" y="6445568"/>
              <a:ext cx="622535" cy="264033"/>
            </a:xfrm>
            <a:prstGeom prst="rect">
              <a:avLst/>
            </a:prstGeom>
            <a:noFill/>
            <a:ln>
              <a:noFill/>
            </a:ln>
          </p:spPr>
          <p:txBody>
            <a:bodyPr wrap="none" lIns="0" tIns="0" rIns="0" bIns="0" anchor="t" anchorCtr="0">
              <a:spAutoFit/>
            </a:bodyPr>
            <a:lstStyle/>
            <a:p>
              <a:pPr algn="r"/>
              <a:r>
                <a:rPr lang="en-US" sz="1350" dirty="0">
                  <a:solidFill>
                    <a:schemeClr val="dk1">
                      <a:alphaMod val="55000"/>
                    </a:schemeClr>
                  </a:solidFill>
                  <a:latin typeface="+mn-lt"/>
                  <a:ea typeface="+mn-ea"/>
                  <a:cs typeface="+mn-cs"/>
                </a:rPr>
                <a:t>19 / 20</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8572500" cy="6858000"/>
          </a:xfrm>
          <a:prstGeom prst="rect">
            <a:avLst/>
          </a:prstGeom>
          <a:solidFill>
            <a:schemeClr val="accent1"/>
          </a:solidFill>
          <a:ln>
            <a:noFill/>
          </a:ln>
        </p:spPr>
      </p:sp>
      <p:grpSp>
        <p:nvGrpSpPr>
          <p:cNvPr id="13" name="Group 13"/>
          <p:cNvGrpSpPr/>
          <p:nvPr/>
        </p:nvGrpSpPr>
        <p:grpSpPr>
          <a:xfrm>
            <a:off x="562356" y="1242060"/>
            <a:ext cx="3434334" cy="4128135"/>
            <a:chOff x="562356" y="1242060"/>
            <a:chExt cx="3434334" cy="4128135"/>
          </a:xfrm>
        </p:grpSpPr>
        <p:sp>
          <p:nvSpPr>
            <p:cNvPr id="3" name="TextBox 3"/>
            <p:cNvSpPr txBox="1"/>
            <p:nvPr/>
          </p:nvSpPr>
          <p:spPr>
            <a:xfrm>
              <a:off x="565404" y="1242060"/>
              <a:ext cx="1182258"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TAKE HOME</a:t>
              </a:r>
            </a:p>
          </p:txBody>
        </p:sp>
        <p:sp>
          <p:nvSpPr>
            <p:cNvPr id="4" name="TextBox 4"/>
            <p:cNvSpPr txBox="1"/>
            <p:nvPr/>
          </p:nvSpPr>
          <p:spPr>
            <a:xfrm>
              <a:off x="562356" y="2034540"/>
              <a:ext cx="29816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01</a:t>
              </a:r>
            </a:p>
          </p:txBody>
        </p:sp>
        <p:sp>
          <p:nvSpPr>
            <p:cNvPr id="5" name="TextBox 5"/>
            <p:cNvSpPr txBox="1"/>
            <p:nvPr/>
          </p:nvSpPr>
          <p:spPr>
            <a:xfrm>
              <a:off x="1146048" y="1888808"/>
              <a:ext cx="1367771"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先救命</a:t>
              </a:r>
            </a:p>
          </p:txBody>
        </p:sp>
        <p:sp>
          <p:nvSpPr>
            <p:cNvPr id="6" name="TextBox 6"/>
            <p:cNvSpPr txBox="1"/>
            <p:nvPr/>
          </p:nvSpPr>
          <p:spPr>
            <a:xfrm>
              <a:off x="1154430" y="2409825"/>
              <a:ext cx="2564892" cy="293370"/>
            </a:xfrm>
            <a:prstGeom prst="rect">
              <a:avLst/>
            </a:prstGeom>
            <a:noFill/>
            <a:ln>
              <a:noFill/>
            </a:ln>
          </p:spPr>
          <p:txBody>
            <a:bodyPr wrap="none" lIns="0" tIns="0" rIns="0" bIns="0" anchor="t" anchorCtr="0">
              <a:spAutoFit/>
            </a:bodyPr>
            <a:lstStyle/>
            <a:p>
              <a:pPr algn="l"/>
              <a:r>
                <a:rPr lang="zh-CN" sz="1500" dirty="0">
                  <a:solidFill>
                    <a:srgbClr val="FFFFFF">
                      <a:alphaMod val="78000"/>
                    </a:srgbClr>
                  </a:solidFill>
                  <a:latin typeface="+mn-lt"/>
                  <a:ea typeface="+mn-ea"/>
                  <a:cs typeface="+mn-cs"/>
                </a:rPr>
                <a:t>A、B、C 先稳住，再谈病因</a:t>
              </a:r>
            </a:p>
          </p:txBody>
        </p:sp>
        <p:sp>
          <p:nvSpPr>
            <p:cNvPr id="7" name="TextBox 7"/>
            <p:cNvSpPr txBox="1"/>
            <p:nvPr/>
          </p:nvSpPr>
          <p:spPr>
            <a:xfrm>
              <a:off x="562356" y="3368040"/>
              <a:ext cx="29816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02</a:t>
              </a:r>
            </a:p>
          </p:txBody>
        </p:sp>
        <p:sp>
          <p:nvSpPr>
            <p:cNvPr id="8" name="TextBox 8"/>
            <p:cNvSpPr txBox="1"/>
            <p:nvPr/>
          </p:nvSpPr>
          <p:spPr>
            <a:xfrm>
              <a:off x="1146048" y="3222308"/>
              <a:ext cx="1367771"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再定位</a:t>
              </a:r>
            </a:p>
          </p:txBody>
        </p:sp>
        <p:sp>
          <p:nvSpPr>
            <p:cNvPr id="9" name="TextBox 9"/>
            <p:cNvSpPr txBox="1"/>
            <p:nvPr/>
          </p:nvSpPr>
          <p:spPr>
            <a:xfrm>
              <a:off x="1154430" y="3743325"/>
              <a:ext cx="2640330" cy="293370"/>
            </a:xfrm>
            <a:prstGeom prst="rect">
              <a:avLst/>
            </a:prstGeom>
            <a:noFill/>
            <a:ln>
              <a:noFill/>
            </a:ln>
          </p:spPr>
          <p:txBody>
            <a:bodyPr wrap="none" lIns="0" tIns="0" rIns="0" bIns="0" anchor="t" anchorCtr="0">
              <a:spAutoFit/>
            </a:bodyPr>
            <a:lstStyle/>
            <a:p>
              <a:pPr algn="l"/>
              <a:r>
                <a:rPr lang="zh-CN" sz="1500" dirty="0">
                  <a:solidFill>
                    <a:srgbClr val="FFFFFF">
                      <a:alphaMod val="78000"/>
                    </a:srgbClr>
                  </a:solidFill>
                  <a:latin typeface="+mn-lt"/>
                  <a:ea typeface="+mn-ea"/>
                  <a:cs typeface="+mn-cs"/>
                </a:rPr>
                <a:t>时相、病因、严重度三线并行</a:t>
              </a:r>
            </a:p>
          </p:txBody>
        </p:sp>
        <p:sp>
          <p:nvSpPr>
            <p:cNvPr id="10" name="TextBox 10"/>
            <p:cNvSpPr txBox="1"/>
            <p:nvPr/>
          </p:nvSpPr>
          <p:spPr>
            <a:xfrm>
              <a:off x="562356" y="4701540"/>
              <a:ext cx="298163"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03</a:t>
              </a:r>
            </a:p>
          </p:txBody>
        </p:sp>
        <p:sp>
          <p:nvSpPr>
            <p:cNvPr id="11" name="TextBox 11"/>
            <p:cNvSpPr txBox="1"/>
            <p:nvPr/>
          </p:nvSpPr>
          <p:spPr>
            <a:xfrm>
              <a:off x="1146048" y="4555808"/>
              <a:ext cx="1813027"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n-lt"/>
                  <a:ea typeface="+mn-ea"/>
                  <a:cs typeface="+mn-cs"/>
                </a:rPr>
                <a:t>别漏慢型</a:t>
              </a:r>
            </a:p>
          </p:txBody>
        </p:sp>
        <p:sp>
          <p:nvSpPr>
            <p:cNvPr id="12" name="TextBox 12"/>
            <p:cNvSpPr txBox="1"/>
            <p:nvPr/>
          </p:nvSpPr>
          <p:spPr>
            <a:xfrm>
              <a:off x="1154430" y="5076825"/>
              <a:ext cx="2842260" cy="293370"/>
            </a:xfrm>
            <a:prstGeom prst="rect">
              <a:avLst/>
            </a:prstGeom>
            <a:noFill/>
            <a:ln>
              <a:noFill/>
            </a:ln>
          </p:spPr>
          <p:txBody>
            <a:bodyPr wrap="none" lIns="0" tIns="0" rIns="0" bIns="0" anchor="t" anchorCtr="0">
              <a:spAutoFit/>
            </a:bodyPr>
            <a:lstStyle/>
            <a:p>
              <a:pPr algn="l"/>
              <a:r>
                <a:rPr lang="zh-CN" sz="1500" dirty="0">
                  <a:solidFill>
                    <a:srgbClr val="FFFFFF">
                      <a:alphaMod val="78000"/>
                    </a:srgbClr>
                  </a:solidFill>
                  <a:latin typeface="+mn-lt"/>
                  <a:ea typeface="+mn-ea"/>
                  <a:cs typeface="+mn-cs"/>
                </a:rPr>
                <a:t>呼吸不快、意识改变，同样危重</a:t>
              </a:r>
            </a:p>
          </p:txBody>
        </p:sp>
      </p:grpSp>
      <p:grpSp>
        <p:nvGrpSpPr>
          <p:cNvPr id="19" name="Group 19"/>
          <p:cNvGrpSpPr/>
          <p:nvPr/>
        </p:nvGrpSpPr>
        <p:grpSpPr>
          <a:xfrm>
            <a:off x="8946642" y="1089660"/>
            <a:ext cx="2864358" cy="2971991"/>
            <a:chOff x="8946642" y="1089660"/>
            <a:chExt cx="2864358" cy="2971991"/>
          </a:xfrm>
        </p:grpSpPr>
        <p:sp>
          <p:nvSpPr>
            <p:cNvPr id="14" name="TextBox 14"/>
            <p:cNvSpPr txBox="1"/>
            <p:nvPr/>
          </p:nvSpPr>
          <p:spPr>
            <a:xfrm>
              <a:off x="8947404" y="1089660"/>
              <a:ext cx="751256" cy="234696"/>
            </a:xfrm>
            <a:prstGeom prst="rect">
              <a:avLst/>
            </a:prstGeom>
            <a:noFill/>
            <a:ln>
              <a:noFill/>
            </a:ln>
          </p:spPr>
          <p:txBody>
            <a:bodyPr wrap="none" lIns="0" tIns="0" rIns="0" bIns="0" anchor="t" anchorCtr="0">
              <a:spAutoFit/>
            </a:bodyPr>
            <a:lstStyle/>
            <a:p>
              <a:pPr algn="l"/>
              <a:r>
                <a:rPr lang="zh-CN" sz="1200" b="1" spc="150" dirty="0">
                  <a:solidFill>
                    <a:schemeClr val="accent2"/>
                  </a:solidFill>
                  <a:latin typeface="+mn-lt"/>
                  <a:ea typeface="+mn-ea"/>
                  <a:cs typeface="+mn-cs"/>
                </a:rPr>
                <a:t>文献来源</a:t>
              </a:r>
            </a:p>
          </p:txBody>
        </p:sp>
        <p:sp>
          <p:nvSpPr>
            <p:cNvPr id="15" name="TextBox 15"/>
            <p:cNvSpPr txBox="1"/>
            <p:nvPr/>
          </p:nvSpPr>
          <p:spPr>
            <a:xfrm>
              <a:off x="8947404" y="1432560"/>
              <a:ext cx="2077212" cy="920496"/>
            </a:xfrm>
            <a:prstGeom prst="rect">
              <a:avLst/>
            </a:prstGeom>
            <a:noFill/>
            <a:ln>
              <a:noFill/>
            </a:ln>
          </p:spPr>
          <p:txBody>
            <a:bodyPr wrap="square" lIns="0" tIns="0" rIns="0" bIns="0" anchor="t" anchorCtr="0"/>
            <a:lstStyle/>
            <a:p>
              <a:pPr algn="l">
                <a:lnSpc>
                  <a:spcPts val="1800"/>
                </a:lnSpc>
              </a:pPr>
              <a:r>
                <a:rPr lang="zh-CN" sz="1200" dirty="0">
                  <a:solidFill>
                    <a:schemeClr val="dk1">
                      <a:alphaMod val="78000"/>
                    </a:schemeClr>
                  </a:solidFill>
                  <a:latin typeface="+mn-lt"/>
                  <a:ea typeface="+mn-ea"/>
                  <a:cs typeface="+mn-cs"/>
                </a:rPr>
                <a:t>朱昱瑶，付红敏.儿童急性呼吸困难的诊疗思路.中国实用儿科杂志.</a:t>
              </a:r>
              <a:r>
                <a:rPr lang="en-US" sz="1200" dirty="0">
                  <a:solidFill>
                    <a:schemeClr val="dk1">
                      <a:alphaMod val="78000"/>
                    </a:schemeClr>
                  </a:solidFill>
                  <a:latin typeface="+mn-lt"/>
                  <a:ea typeface="+mn-ea"/>
                  <a:cs typeface="+mn-cs"/>
                </a:rPr>
                <a:t xml:space="preserve"> 2026;41(9):729-732.</a:t>
              </a:r>
            </a:p>
          </p:txBody>
        </p:sp>
        <p:sp>
          <p:nvSpPr>
            <p:cNvPr id="16" name="TextBox 16"/>
            <p:cNvSpPr txBox="1"/>
            <p:nvPr/>
          </p:nvSpPr>
          <p:spPr>
            <a:xfrm>
              <a:off x="8947404" y="2880360"/>
              <a:ext cx="2387651" cy="234696"/>
            </a:xfrm>
            <a:prstGeom prst="rect">
              <a:avLst/>
            </a:prstGeom>
            <a:noFill/>
            <a:ln>
              <a:noFill/>
            </a:ln>
          </p:spPr>
          <p:txBody>
            <a:bodyPr wrap="none" lIns="0" tIns="0" rIns="0" bIns="0" anchor="t" anchorCtr="0">
              <a:spAutoFit/>
            </a:bodyPr>
            <a:lstStyle/>
            <a:p>
              <a:pPr algn="l"/>
              <a:r>
                <a:rPr lang="en-US" sz="1200" dirty="0">
                  <a:solidFill>
                    <a:schemeClr val="dk1">
                      <a:alphaMod val="60000"/>
                    </a:schemeClr>
                  </a:solidFill>
                  <a:latin typeface="+mn-lt"/>
                  <a:ea typeface="+mn-ea"/>
                  <a:cs typeface="+mn-cs"/>
                </a:rPr>
                <a:t>DOI 10.19538/j.ek2026090604</a:t>
              </a:r>
            </a:p>
          </p:txBody>
        </p:sp>
        <p:sp>
          <p:nvSpPr>
            <p:cNvPr id="17" name="Line 17"/>
            <p:cNvSpPr/>
            <p:nvPr/>
          </p:nvSpPr>
          <p:spPr>
            <a:xfrm>
              <a:off x="8953500" y="3314700"/>
              <a:ext cx="2857500" cy="9525"/>
            </a:xfrm>
            <a:custGeom>
              <a:avLst/>
              <a:gdLst/>
              <a:ahLst/>
              <a:cxnLst/>
              <a:rect l="l" t="t" r="r" b="b"/>
              <a:pathLst>
                <a:path w="2857500" h="9525">
                  <a:moveTo>
                    <a:pt x="0" y="0"/>
                  </a:moveTo>
                  <a:lnTo>
                    <a:pt x="2857500" y="0"/>
                  </a:lnTo>
                </a:path>
              </a:pathLst>
            </a:custGeom>
            <a:noFill/>
            <a:ln w="9525">
              <a:solidFill>
                <a:schemeClr val="accent1"/>
              </a:solidFill>
            </a:ln>
          </p:spPr>
        </p:sp>
        <p:sp>
          <p:nvSpPr>
            <p:cNvPr id="18" name="TextBox 18"/>
            <p:cNvSpPr txBox="1"/>
            <p:nvPr/>
          </p:nvSpPr>
          <p:spPr>
            <a:xfrm>
              <a:off x="8946642" y="3549968"/>
              <a:ext cx="2071116" cy="511683"/>
            </a:xfrm>
            <a:prstGeom prst="rect">
              <a:avLst/>
            </a:prstGeom>
            <a:noFill/>
            <a:ln>
              <a:noFill/>
            </a:ln>
          </p:spPr>
          <p:txBody>
            <a:bodyPr wrap="square" lIns="0" tIns="0" rIns="0" bIns="0" anchor="t" anchorCtr="0"/>
            <a:lstStyle/>
            <a:p>
              <a:pPr algn="l">
                <a:lnSpc>
                  <a:spcPts val="1950"/>
                </a:lnSpc>
              </a:pPr>
              <a:r>
                <a:rPr lang="zh-CN" sz="1350" dirty="0">
                  <a:solidFill>
                    <a:schemeClr val="accent1"/>
                  </a:solidFill>
                  <a:latin typeface="+mn-lt"/>
                  <a:ea typeface="+mn-ea"/>
                  <a:cs typeface="+mn-cs"/>
                </a:rPr>
                <a:t>昆明医科大学附属儿童医院呼吸与危重症医学科</a:t>
              </a:r>
            </a:p>
          </p:txBody>
        </p:sp>
      </p:grpSp>
      <p:grpSp>
        <p:nvGrpSpPr>
          <p:cNvPr id="23" name="Group 23"/>
          <p:cNvGrpSpPr/>
          <p:nvPr/>
        </p:nvGrpSpPr>
        <p:grpSpPr>
          <a:xfrm>
            <a:off x="8938260" y="5829300"/>
            <a:ext cx="2878836" cy="733806"/>
            <a:chOff x="8938260" y="5829300"/>
            <a:chExt cx="2878836" cy="733806"/>
          </a:xfrm>
        </p:grpSpPr>
        <p:sp>
          <p:nvSpPr>
            <p:cNvPr id="20" name="TextBox 20"/>
            <p:cNvSpPr txBox="1"/>
            <p:nvPr/>
          </p:nvSpPr>
          <p:spPr>
            <a:xfrm>
              <a:off x="8938260" y="5829300"/>
              <a:ext cx="878586"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谢谢</a:t>
              </a:r>
            </a:p>
          </p:txBody>
        </p:sp>
        <p:sp>
          <p:nvSpPr>
            <p:cNvPr id="21" name="TextBox 21"/>
            <p:cNvSpPr txBox="1"/>
            <p:nvPr/>
          </p:nvSpPr>
          <p:spPr>
            <a:xfrm>
              <a:off x="8947404" y="6328410"/>
              <a:ext cx="1522628" cy="234696"/>
            </a:xfrm>
            <a:prstGeom prst="rect">
              <a:avLst/>
            </a:prstGeom>
            <a:noFill/>
            <a:ln>
              <a:noFill/>
            </a:ln>
          </p:spPr>
          <p:txBody>
            <a:bodyPr wrap="none" lIns="0" tIns="0" rIns="0" bIns="0" anchor="t" anchorCtr="0">
              <a:spAutoFit/>
            </a:bodyPr>
            <a:lstStyle/>
            <a:p>
              <a:pPr algn="l"/>
              <a:r>
                <a:rPr lang="zh-CN" sz="1200" dirty="0">
                  <a:solidFill>
                    <a:schemeClr val="dk1">
                      <a:alphaMod val="55000"/>
                    </a:schemeClr>
                  </a:solidFill>
                  <a:latin typeface="+mn-lt"/>
                  <a:ea typeface="+mn-ea"/>
                  <a:cs typeface="+mn-cs"/>
                </a:rPr>
                <a:t>2026 · 科室业务学习</a:t>
              </a:r>
            </a:p>
          </p:txBody>
        </p:sp>
        <p:sp>
          <p:nvSpPr>
            <p:cNvPr id="22" name="TextBox 22"/>
            <p:cNvSpPr txBox="1"/>
            <p:nvPr/>
          </p:nvSpPr>
          <p:spPr>
            <a:xfrm>
              <a:off x="11263732" y="6328410"/>
              <a:ext cx="553364" cy="234696"/>
            </a:xfrm>
            <a:prstGeom prst="rect">
              <a:avLst/>
            </a:prstGeom>
            <a:noFill/>
            <a:ln>
              <a:noFill/>
            </a:ln>
          </p:spPr>
          <p:txBody>
            <a:bodyPr wrap="none" lIns="0" tIns="0" rIns="0" bIns="0" anchor="t" anchorCtr="0">
              <a:spAutoFit/>
            </a:bodyPr>
            <a:lstStyle/>
            <a:p>
              <a:pPr algn="r"/>
              <a:r>
                <a:rPr lang="en-US" sz="1200" dirty="0">
                  <a:solidFill>
                    <a:schemeClr val="dk1">
                      <a:alphaMod val="55000"/>
                    </a:schemeClr>
                  </a:solidFill>
                  <a:latin typeface="+mn-lt"/>
                  <a:ea typeface="+mn-ea"/>
                  <a:cs typeface="+mn-cs"/>
                </a:rPr>
                <a:t>20 / 20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169_pediatric_dyspnea">
  <a:themeElements>
    <a:clrScheme name="ppt169_pediatric_dyspnea">
      <a:dk1>
        <a:srgbClr val="1F2933"/>
      </a:dk1>
      <a:lt1>
        <a:srgbClr val="FFFFFF"/>
      </a:lt1>
      <a:dk2>
        <a:srgbClr val="1F497D"/>
      </a:dk2>
      <a:lt2>
        <a:srgbClr val="F1F5F9"/>
      </a:lt2>
      <a:accent1>
        <a:srgbClr val="0F3D5C"/>
      </a:accent1>
      <a:accent2>
        <a:srgbClr val="D97706"/>
      </a:accent2>
      <a:accent3>
        <a:srgbClr val="2A7F9E"/>
      </a:accent3>
      <a:accent4>
        <a:srgbClr val="0F3D5C"/>
      </a:accent4>
      <a:accent5>
        <a:srgbClr val="4BACC6"/>
      </a:accent5>
      <a:accent6>
        <a:srgbClr val="F79646"/>
      </a:accent6>
      <a:hlink>
        <a:srgbClr val="D97706"/>
      </a:hlink>
      <a:folHlink>
        <a:srgbClr val="2A7F9E"/>
      </a:folHlink>
    </a:clrScheme>
    <a:fontScheme name="ppt169_pediatric_dyspnea">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pediatric_dyspne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pediatric_dyspnea">
  <a:themeElements>
    <a:clrScheme name="ppt169_pediatric_dyspnea">
      <a:dk1>
        <a:srgbClr val="1F2933"/>
      </a:dk1>
      <a:lt1>
        <a:srgbClr val="FFFFFF"/>
      </a:lt1>
      <a:dk2>
        <a:srgbClr val="1F497D"/>
      </a:dk2>
      <a:lt2>
        <a:srgbClr val="F1F5F9"/>
      </a:lt2>
      <a:accent1>
        <a:srgbClr val="0F3D5C"/>
      </a:accent1>
      <a:accent2>
        <a:srgbClr val="D97706"/>
      </a:accent2>
      <a:accent3>
        <a:srgbClr val="2A7F9E"/>
      </a:accent3>
      <a:accent4>
        <a:srgbClr val="0F3D5C"/>
      </a:accent4>
      <a:accent5>
        <a:srgbClr val="4BACC6"/>
      </a:accent5>
      <a:accent6>
        <a:srgbClr val="F79646"/>
      </a:accent6>
      <a:hlink>
        <a:srgbClr val="D97706"/>
      </a:hlink>
      <a:folHlink>
        <a:srgbClr val="2A7F9E"/>
      </a:folHlink>
    </a:clrScheme>
    <a:fontScheme name="ppt169_pediatric_dyspnea">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pediatric_dyspne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2026-10-19T08:32:11Z</dcterms:created>
  <dcterms:modified xsi:type="dcterms:W3CDTF">2026-10-19T08:32:11Z</dcterms:modified>
  <cp:category/>
  <cp:contentStatus/>
</cp:coreProperties>
</file>